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1928" r:id="rId2"/>
    <p:sldId id="1932" r:id="rId3"/>
    <p:sldId id="1927" r:id="rId4"/>
    <p:sldId id="1933" r:id="rId5"/>
    <p:sldId id="1934" r:id="rId6"/>
    <p:sldId id="1931" r:id="rId7"/>
    <p:sldId id="1935" r:id="rId8"/>
    <p:sldId id="1936" r:id="rId9"/>
    <p:sldId id="1937" r:id="rId10"/>
    <p:sldId id="1938" r:id="rId11"/>
    <p:sldId id="1930" r:id="rId12"/>
    <p:sldId id="1940" r:id="rId13"/>
    <p:sldId id="1941" r:id="rId14"/>
    <p:sldId id="1942" r:id="rId15"/>
    <p:sldId id="1926" r:id="rId16"/>
    <p:sldId id="1944" r:id="rId17"/>
    <p:sldId id="1946" r:id="rId18"/>
    <p:sldId id="1945" r:id="rId19"/>
    <p:sldId id="1947" r:id="rId20"/>
    <p:sldId id="1948" r:id="rId21"/>
    <p:sldId id="1949" r:id="rId22"/>
    <p:sldId id="1950" r:id="rId23"/>
    <p:sldId id="1951" r:id="rId24"/>
    <p:sldId id="1939" r:id="rId25"/>
    <p:sldId id="1943" r:id="rId26"/>
    <p:sldId id="1916" r:id="rId27"/>
    <p:sldId id="1925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5679"/>
    <a:srgbClr val="72A9D0"/>
    <a:srgbClr val="CC898C"/>
    <a:srgbClr val="FFFFFF"/>
    <a:srgbClr val="A62126"/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35" autoAdjust="0"/>
    <p:restoredTop sz="87894" autoAdjust="0"/>
  </p:normalViewPr>
  <p:slideViewPr>
    <p:cSldViewPr snapToGrid="0">
      <p:cViewPr varScale="1">
        <p:scale>
          <a:sx n="95" d="100"/>
          <a:sy n="95" d="100"/>
        </p:scale>
        <p:origin x="100" y="40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51C53-9190-CA4E-8F70-26EA34E3B0D8}" type="datetimeFigureOut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D5BA4-09E7-C74D-BF15-9C40541D82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本页保留原稿的作者身份、照片和学术主页截图。截图用于介绍作者信息，统计数字是原稿的历史快照，不代表实时数据。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D5BA4-09E7-C74D-BF15-9C40541D828E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7688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先看正常输入与扰动输入的对照：同一多步推理过程可能出现不同的输出波动。这一页提出的问题是扰动如何沿推理步骤传播；示意图用于建立直觉，不是新增实验结果。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已有提示词优化工作主要从输入提示词出发改善推理表现，包括提示词设计、TextGrad 和 OPRO。本报告进一步关注输入扰动进入多步推理后如何传播，以及哪些模型参数影响这种传播；不将已有工作简单归为无效。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这里的输入与输出指嵌入向量。用原始输入和扰动输入得到的两条状态序列进行比较，第 k 步的差异记为 ε_k；后面的递推分析研究这些差异如何随步数变化。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先给出双变量映射的 Lipschitz 条件：γ 控制隐藏状态差异的传播，C 控制输入变化的直接影响。定理1把输出波动的上界分成初始差异项和输入扰动累积项；A 表示初始输出差异相对输入扰动的系数。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将系数写成 B_K 后，可以看清极限和单调方向不是一回事。在 0&lt;γ&lt;1 时，上界系数收敛到 C/(1−γ)；只有进一步比较 A 与该极限值，才能判断它随 K 增加而上升、下降或不变。因此不能无条件声称多推理几步就会降低上界。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从允许的输出误差 R 出发，定理1给出输入扰动的充分保证范围。收缩条件满足且 K 趋于无穷时，可得到右下方的极限形式。这里讨论的是理论能够保证的范围，不能直接解释成模型真实的最大容忍扰动。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LSA 指线性自注意力。E 由隐藏状态和输入组成，本文取 ρ=1；在原稿的训练条件下，最优组合参数具有所示块矩阵结构。Γ 的定义依赖训练数据协方差矩阵 Λ，矩阵元素和幂次均按原稿保留。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把训练条件下的最优参数代入 LSA，并引入 η∈(0,1) 的残差系数，可将映射写成残差项与线性自注意力项之和。下方是原稿提供的机制图；它用于对应公式结构，不引入低秩近似或 SVD 的额外解释。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引理1先限定输入和隐藏状态的范数范围，再分别给出 C 与 γ 的上界。C 衡量固定隐藏状态时对输入变化的敏感度，γ 衡量固定输入时隐藏状态差异的传播。相关矩阵通过逆矩阵范数与 α 进入这些界。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这一页按条件、有限步保证和极限情形阅读。有限步公式需要原稿定理2的范数条件、初值条件和 0&lt;γ&lt;1；取极限后，含 γ^K 的项消失。两种保证不能省略前提后混用。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表格归纳五类参数在理论界中的作用，而不是声称已经分别建立了真实大模型上的因果关系。训练数据相关矩阵 Γ 通过 α、s 等量进入推导，残差系数 η 同时影响传播系数和保证式。原稿实证重点为 R、R_x、R_h，Γ 与 η 的实证影响仍待研究。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原稿使用 MATH、MMLU-Pro、GPQA 三个任务和四个模型，通过多个提示词生成多个答案。EM 越高表示答案正确率越高，OF 越低表示输出波动越低。原稿未给出 OF 的完整计算定义、扰动生成细节和重复次数，因此本页不补造这些设置。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表中完整保留四个模型在三个任务上的均值、误差和 OF。所展示模型间，较高 EM 通常伴随较低 OF；这是表内的比较观察，不能仅凭此表证明训练数据一致性或推理长度导致了模型间差异。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在原稿图示范围内，输入扰动增大时 OF 总体增加，图中后段变化趋于平缓。约0.2附近的变化仅描述此图采样区间，不作为普适阈值；本页保留原始图像，不从像素反推或补造数据。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红线表示 OF，蓝线表示 EM。两幅图的 OF 在最初几步都存在上升，后段也有局部起伏，因而只能说总体下降而不是逐步单调下降。有限步实验不能单独证明无穷步极限，左右图的模型与任务设置未标明，不补写归属。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两图展示输入嵌入范数、隐藏状态范数与 OF 的关系。输入嵌入范数对应的总体趋势更明显，并存在局部跃升；隐藏状态范数对应的变化幅度较小。图示相关关系不能单独确立普适阈值或因果机制。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理论界为提示词选择提供启发，原稿在其条件下考虑具有较大 A 的倒数的提示词。左右两表保留两个模型的全部30个任务得分；这些结果度量任务表现，并未直接测量输入鲁棒性，因此不将得分提升等同于鲁棒性提升。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本报告围绕输入扰动如何影响多步 CoT 推理展开，通过递推与 LSA 分析给出带条件的理论保证，并用四个模型、三个任务检查相关趋势。理论还为提示词选择提供启发。实验趋势不能单独建立因果机制，Γ 与 η 的影响仍需进一步验证。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研究启发依次是用 LSA 简化分析对象、用 Lipschitz 系数刻画传播，以及用理论界启发提示词选择。这里的 LSA 是线性自注意力，不能解释成 SVD 或低秩近似。后续问题是训练数据相关矩阵 Γ 与残差系数 η 如何影响真实大模型的输入鲁棒性。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356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35679"/>
              </a:solidFill>
            </a:endParaRPr>
          </a:p>
        </p:txBody>
      </p:sp>
      <p:sp>
        <p:nvSpPr>
          <p:cNvPr id="9" name="矩形: 圆角 8"/>
          <p:cNvSpPr/>
          <p:nvPr userDrawn="1"/>
        </p:nvSpPr>
        <p:spPr>
          <a:xfrm>
            <a:off x="1004099" y="1047755"/>
            <a:ext cx="10175966" cy="4859383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idx="11" hasCustomPrompt="1"/>
          </p:nvPr>
        </p:nvSpPr>
        <p:spPr>
          <a:xfrm>
            <a:off x="3056255" y="2449195"/>
            <a:ext cx="5770245" cy="558165"/>
          </a:xfrm>
        </p:spPr>
        <p:txBody>
          <a:bodyPr/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altLang="zh-CN" sz="3200" b="1" i="0" u="none" strike="noStrike" kern="1200" cap="none" spc="0" normalizeH="0" baseline="0" noProof="1" dirty="0">
                <a:solidFill>
                  <a:srgbClr val="035679"/>
                </a:solidFill>
                <a:latin typeface="Sitka Heading" panose="02000505000000020004" pitchFamily="2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/>
              <a:t>【</a:t>
            </a:r>
            <a:r>
              <a:rPr lang="en-US" altLang="zh-CN"/>
              <a:t>Title in English</a:t>
            </a:r>
            <a:r>
              <a:rPr lang="zh-CN" altLang="en-US"/>
              <a:t>】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idx="13" hasCustomPrompt="1"/>
          </p:nvPr>
        </p:nvSpPr>
        <p:spPr>
          <a:xfrm>
            <a:off x="3056255" y="3208020"/>
            <a:ext cx="5770245" cy="558165"/>
          </a:xfrm>
        </p:spPr>
        <p:txBody>
          <a:bodyPr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altLang="zh-CN" sz="3600" b="1" i="0" u="none" strike="noStrike" kern="1200" cap="none" spc="0" normalizeH="0" baseline="0" noProof="1" dirty="0">
                <a:solidFill>
                  <a:srgbClr val="035679"/>
                </a:solidFill>
                <a:latin typeface="Kata Bold" charset="0"/>
                <a:ea typeface="Kata Bold" charset="0"/>
                <a:cs typeface="Times New Roman" panose="02020603050405020304" pitchFamily="18" charset="0"/>
              </a:defRPr>
            </a:lvl1pPr>
          </a:lstStyle>
          <a:p>
            <a:pPr indent="0" algn="ctr" fontAlgn="auto">
              <a:lnSpc>
                <a:spcPct val="115000"/>
              </a:lnSpc>
            </a:pPr>
            <a:r>
              <a:rPr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【</a:t>
            </a:r>
            <a:r>
              <a:rPr lang="zh-CN" altLang="en-US"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中文题目</a:t>
            </a:r>
            <a:r>
              <a:rPr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】</a:t>
            </a:r>
            <a:endParaRPr lang="zh-CN" altLang="en-US">
              <a:latin typeface="Microsoft YaHei Bold" panose="020B0703020204020201" charset="-122"/>
              <a:ea typeface="Microsoft YaHei Bold" panose="020B0703020204020201" charset="-122"/>
              <a:sym typeface="+mn-ea"/>
            </a:endParaRPr>
          </a:p>
        </p:txBody>
      </p:sp>
      <p:sp>
        <p:nvSpPr>
          <p:cNvPr id="16" name="内容占位符 15"/>
          <p:cNvSpPr>
            <a:spLocks noGrp="1"/>
          </p:cNvSpPr>
          <p:nvPr>
            <p:ph idx="14" hasCustomPrompt="1"/>
          </p:nvPr>
        </p:nvSpPr>
        <p:spPr>
          <a:xfrm>
            <a:off x="3056255" y="4955540"/>
            <a:ext cx="5770245" cy="558165"/>
          </a:xfrm>
        </p:spPr>
        <p:txBody>
          <a:bodyPr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Oxford Regular" panose="02010600010101010101" charset="-122"/>
                <a:ea typeface="Oxford Regular" panose="02010600010101010101" charset="-122"/>
                <a:cs typeface="+mn-cs"/>
              </a:defRPr>
            </a:lvl1pPr>
          </a:lstStyle>
          <a:p>
            <a:pPr indent="0" algn="ctr" fontAlgn="auto">
              <a:lnSpc>
                <a:spcPct val="115000"/>
              </a:lnSpc>
            </a:pPr>
            <a:r>
              <a:rPr>
                <a:sym typeface="+mn-ea"/>
              </a:rPr>
              <a:t>讲解人：</a:t>
            </a:r>
            <a:r>
              <a:rPr lang="en-US" altLang="zh-CN">
                <a:sym typeface="+mn-ea"/>
              </a:rPr>
              <a:t>【</a:t>
            </a:r>
            <a:r>
              <a:rPr>
                <a:sym typeface="+mn-ea"/>
              </a:rPr>
              <a:t>姓名</a:t>
            </a:r>
            <a:r>
              <a:rPr lang="en-US" altLang="zh-CN">
                <a:sym typeface="+mn-ea"/>
              </a:rPr>
              <a:t>】</a:t>
            </a:r>
            <a:endParaRPr lang="zh-CN" altLang="en-US">
              <a:latin typeface="DejaVu Math TeX Gyre" panose="02000503000000000000" pitchFamily="2" charset="0"/>
              <a:ea typeface="DejaVu Math TeX Gyre" panose="02000503000000000000" pitchFamily="2" charset="0"/>
              <a:cs typeface="DejaVu Math TeX Gyre" panose="02000503000000000000" pitchFamily="2" charset="0"/>
              <a:sym typeface="+mn-ea"/>
            </a:endParaRPr>
          </a:p>
        </p:txBody>
      </p:sp>
      <p:sp>
        <p:nvSpPr>
          <p:cNvPr id="18" name="内容占位符 17"/>
          <p:cNvSpPr>
            <a:spLocks noGrp="1"/>
          </p:cNvSpPr>
          <p:nvPr>
            <p:ph idx="15" hasCustomPrompt="1"/>
          </p:nvPr>
        </p:nvSpPr>
        <p:spPr>
          <a:xfrm>
            <a:off x="3056255" y="4045585"/>
            <a:ext cx="5770245" cy="558165"/>
          </a:xfrm>
        </p:spPr>
        <p:txBody>
          <a:bodyPr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>
                <a:solidFill>
                  <a:srgbClr val="035679"/>
                </a:solidFill>
                <a:latin typeface="Kata Bold" charset="0"/>
                <a:ea typeface="Kata Bold" charset="0"/>
                <a:cs typeface="Times New Roman" panose="02020603050405020304" pitchFamily="18" charset="0"/>
              </a:defRPr>
            </a:lvl1pPr>
          </a:lstStyle>
          <a:p>
            <a:pPr indent="0" algn="ctr" fontAlgn="auto">
              <a:lnSpc>
                <a:spcPct val="115000"/>
              </a:lnSpc>
            </a:pPr>
            <a:r>
              <a:rPr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【</a:t>
            </a:r>
            <a:r>
              <a:rPr lang="zh-CN" altLang="en-US"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会议</a:t>
            </a:r>
            <a:r>
              <a:rPr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/</a:t>
            </a:r>
            <a:r>
              <a:rPr lang="zh-CN" altLang="en-US"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期刊名称</a:t>
            </a:r>
            <a:r>
              <a:rPr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】</a:t>
            </a:r>
            <a:endParaRPr lang="zh-CN" altLang="en-US">
              <a:latin typeface="Microsoft YaHei Bold" panose="020B0703020204020201" charset="-122"/>
              <a:ea typeface="Microsoft YaHei Bold" panose="020B07030202040202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3616960" cy="6858000"/>
          </a:xfrm>
          <a:prstGeom prst="rect">
            <a:avLst/>
          </a:prstGeom>
          <a:solidFill>
            <a:srgbClr val="0356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35679"/>
              </a:solidFill>
            </a:endParaRPr>
          </a:p>
        </p:txBody>
      </p:sp>
      <p:sp>
        <p:nvSpPr>
          <p:cNvPr id="9" name="矩形: 圆角 8"/>
          <p:cNvSpPr/>
          <p:nvPr userDrawn="1"/>
        </p:nvSpPr>
        <p:spPr>
          <a:xfrm>
            <a:off x="1551305" y="1284352"/>
            <a:ext cx="9530227" cy="4703522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6600" b="1" dirty="0">
              <a:solidFill>
                <a:srgbClr val="0356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 userDrawn="1">
            <p:custDataLst>
              <p:tags r:id="rId1"/>
            </p:custDataLst>
          </p:nvPr>
        </p:nvSpPr>
        <p:spPr>
          <a:xfrm>
            <a:off x="3616325" y="282575"/>
            <a:ext cx="7493635" cy="5422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/>
            <a:endParaRPr lang="en-US" altLang="zh-CN" b="1" dirty="0">
              <a:solidFill>
                <a:srgbClr val="2F5597"/>
              </a:solidFill>
              <a:latin typeface="Arial" panose="020B0604020202020204" pitchFamily="34" charset="0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idx="11" hasCustomPrompt="1"/>
          </p:nvPr>
        </p:nvSpPr>
        <p:spPr>
          <a:xfrm>
            <a:off x="3056255" y="2449195"/>
            <a:ext cx="5770245" cy="558165"/>
          </a:xfrm>
        </p:spPr>
        <p:txBody>
          <a:bodyPr/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altLang="zh-CN" sz="3200" b="1" i="0" u="none" strike="noStrike" kern="1200" cap="none" spc="0" normalizeH="0" baseline="0" noProof="1" dirty="0">
                <a:solidFill>
                  <a:srgbClr val="035679"/>
                </a:solidFill>
                <a:latin typeface="Sitka Heading" panose="02000505000000020004" pitchFamily="2" charset="0"/>
                <a:ea typeface="楷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/>
              <a:t>【</a:t>
            </a:r>
            <a:r>
              <a:rPr lang="en-US" altLang="zh-CN"/>
              <a:t>Title in English</a:t>
            </a:r>
            <a:r>
              <a:rPr lang="zh-CN" altLang="en-US"/>
              <a:t>】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idx="13" hasCustomPrompt="1"/>
          </p:nvPr>
        </p:nvSpPr>
        <p:spPr>
          <a:xfrm>
            <a:off x="3056255" y="3208020"/>
            <a:ext cx="5770245" cy="558165"/>
          </a:xfrm>
        </p:spPr>
        <p:txBody>
          <a:bodyPr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altLang="zh-CN" sz="3600" b="1" i="0" u="none" strike="noStrike" kern="1200" cap="none" spc="0" normalizeH="0" baseline="0" noProof="1" dirty="0">
                <a:solidFill>
                  <a:srgbClr val="035679"/>
                </a:solidFill>
                <a:latin typeface="Kata Bold" charset="0"/>
                <a:ea typeface="Kata Bold" charset="0"/>
                <a:cs typeface="Times New Roman" panose="02020603050405020304" pitchFamily="18" charset="0"/>
              </a:defRPr>
            </a:lvl1pPr>
          </a:lstStyle>
          <a:p>
            <a:pPr indent="0" algn="ctr" fontAlgn="auto">
              <a:lnSpc>
                <a:spcPct val="115000"/>
              </a:lnSpc>
            </a:pPr>
            <a:r>
              <a:rPr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【</a:t>
            </a:r>
            <a:r>
              <a:rPr lang="zh-CN" altLang="en-US"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中文题目</a:t>
            </a:r>
            <a:r>
              <a:rPr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】</a:t>
            </a:r>
            <a:endParaRPr lang="zh-CN" altLang="en-US">
              <a:latin typeface="Microsoft YaHei Bold" panose="020B0703020204020201" charset="-122"/>
              <a:ea typeface="Microsoft YaHei Bold" panose="020B0703020204020201" charset="-122"/>
              <a:sym typeface="+mn-ea"/>
            </a:endParaRPr>
          </a:p>
        </p:txBody>
      </p:sp>
      <p:sp>
        <p:nvSpPr>
          <p:cNvPr id="16" name="内容占位符 15"/>
          <p:cNvSpPr>
            <a:spLocks noGrp="1"/>
          </p:cNvSpPr>
          <p:nvPr>
            <p:ph idx="14" hasCustomPrompt="1"/>
          </p:nvPr>
        </p:nvSpPr>
        <p:spPr>
          <a:xfrm>
            <a:off x="3056255" y="4955540"/>
            <a:ext cx="5770245" cy="558165"/>
          </a:xfrm>
        </p:spPr>
        <p:txBody>
          <a:bodyPr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Oxford Regular" panose="02010600010101010101" charset="-122"/>
                <a:ea typeface="Oxford Regular" panose="02010600010101010101" charset="-122"/>
                <a:cs typeface="+mn-cs"/>
              </a:defRPr>
            </a:lvl1pPr>
          </a:lstStyle>
          <a:p>
            <a:pPr indent="0" algn="ctr" fontAlgn="auto">
              <a:lnSpc>
                <a:spcPct val="115000"/>
              </a:lnSpc>
            </a:pPr>
            <a:r>
              <a:rPr>
                <a:sym typeface="+mn-ea"/>
              </a:rPr>
              <a:t>讲解人：</a:t>
            </a:r>
            <a:r>
              <a:rPr lang="en-US" altLang="zh-CN">
                <a:sym typeface="+mn-ea"/>
              </a:rPr>
              <a:t>【</a:t>
            </a:r>
            <a:r>
              <a:rPr>
                <a:sym typeface="+mn-ea"/>
              </a:rPr>
              <a:t>姓名</a:t>
            </a:r>
            <a:r>
              <a:rPr lang="en-US" altLang="zh-CN">
                <a:sym typeface="+mn-ea"/>
              </a:rPr>
              <a:t>】</a:t>
            </a:r>
            <a:endParaRPr lang="zh-CN" altLang="en-US">
              <a:latin typeface="DejaVu Math TeX Gyre" panose="02000503000000000000" pitchFamily="2" charset="0"/>
              <a:ea typeface="DejaVu Math TeX Gyre" panose="02000503000000000000" pitchFamily="2" charset="0"/>
              <a:cs typeface="DejaVu Math TeX Gyre" panose="02000503000000000000" pitchFamily="2" charset="0"/>
              <a:sym typeface="+mn-ea"/>
            </a:endParaRPr>
          </a:p>
        </p:txBody>
      </p:sp>
      <p:sp>
        <p:nvSpPr>
          <p:cNvPr id="18" name="内容占位符 17"/>
          <p:cNvSpPr>
            <a:spLocks noGrp="1"/>
          </p:cNvSpPr>
          <p:nvPr>
            <p:ph idx="15" hasCustomPrompt="1"/>
          </p:nvPr>
        </p:nvSpPr>
        <p:spPr>
          <a:xfrm>
            <a:off x="3056255" y="4045585"/>
            <a:ext cx="5770245" cy="558165"/>
          </a:xfrm>
        </p:spPr>
        <p:txBody>
          <a:bodyPr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>
                <a:solidFill>
                  <a:srgbClr val="035679"/>
                </a:solidFill>
                <a:latin typeface="Kata Bold" charset="0"/>
                <a:ea typeface="Kata Bold" charset="0"/>
                <a:cs typeface="微软雅黑" panose="020B0503020204020204" pitchFamily="34" charset="-122"/>
              </a:defRPr>
            </a:lvl1pPr>
          </a:lstStyle>
          <a:p>
            <a:pPr indent="0" algn="ctr" fontAlgn="auto">
              <a:lnSpc>
                <a:spcPct val="115000"/>
              </a:lnSpc>
            </a:pPr>
            <a:r>
              <a:rPr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【</a:t>
            </a:r>
            <a:r>
              <a:rPr lang="zh-CN" altLang="en-US"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会议</a:t>
            </a:r>
            <a:r>
              <a:rPr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/</a:t>
            </a:r>
            <a:r>
              <a:rPr lang="zh-CN" altLang="en-US"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期刊名称</a:t>
            </a:r>
            <a:r>
              <a:rPr>
                <a:latin typeface="Microsoft YaHei Bold" panose="020B0703020204020201" charset="-122"/>
                <a:ea typeface="Microsoft YaHei Bold" panose="020B0703020204020201" charset="-122"/>
                <a:sym typeface="+mn-ea"/>
              </a:rPr>
              <a:t>】</a:t>
            </a:r>
            <a:endParaRPr lang="zh-CN" altLang="en-US">
              <a:latin typeface="Microsoft YaHei Bold" panose="020B0703020204020201" charset="-122"/>
              <a:ea typeface="Microsoft YaHei Bold" panose="020B0703020204020201" charset="-122"/>
              <a:sym typeface="+mn-ea"/>
            </a:endParaRPr>
          </a:p>
        </p:txBody>
      </p:sp>
      <p:pic>
        <p:nvPicPr>
          <p:cNvPr id="2" name="图片 1" descr="图片包含 图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25175" y="111125"/>
            <a:ext cx="1199515" cy="1105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635" y="0"/>
            <a:ext cx="3517200" cy="6858000"/>
          </a:xfrm>
          <a:prstGeom prst="rect">
            <a:avLst/>
          </a:prstGeom>
          <a:solidFill>
            <a:srgbClr val="0356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35679"/>
              </a:solidFill>
              <a:highlight>
                <a:srgbClr val="035679"/>
              </a:highlight>
            </a:endParaRPr>
          </a:p>
        </p:txBody>
      </p:sp>
      <p:sp>
        <p:nvSpPr>
          <p:cNvPr id="9" name="矩形: 圆角 8"/>
          <p:cNvSpPr/>
          <p:nvPr userDrawn="1"/>
        </p:nvSpPr>
        <p:spPr>
          <a:xfrm>
            <a:off x="1496441" y="1284605"/>
            <a:ext cx="9866630" cy="4703445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8959970" y="3244215"/>
            <a:ext cx="4518035" cy="3925504"/>
          </a:xfrm>
          <a:prstGeom prst="rect">
            <a:avLst/>
          </a:prstGeom>
          <a:blipFill dpi="0" rotWithShape="1">
            <a:blip r:embed="rId2">
              <a:alphaModFix amt="45000"/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内容占位符 12"/>
          <p:cNvSpPr>
            <a:spLocks noGrp="1"/>
          </p:cNvSpPr>
          <p:nvPr>
            <p:ph idx="10" hasCustomPrompt="1"/>
          </p:nvPr>
        </p:nvSpPr>
        <p:spPr>
          <a:xfrm>
            <a:off x="2294255" y="2571750"/>
            <a:ext cx="4137660" cy="637540"/>
          </a:xfrm>
        </p:spPr>
        <p:txBody>
          <a:bodyPr/>
          <a:lstStyle>
            <a:lvl1pPr marL="0" indent="0" algn="l">
              <a:buNone/>
              <a:defRPr b="1">
                <a:solidFill>
                  <a:srgbClr val="03567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【英文标题】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idx="13" hasCustomPrompt="1"/>
          </p:nvPr>
        </p:nvSpPr>
        <p:spPr>
          <a:xfrm>
            <a:off x="2294255" y="3429000"/>
            <a:ext cx="4137660" cy="1254125"/>
          </a:xfr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rgbClr val="03567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【中文标题】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313-F245-8B4C-A2DA-652DFD043BE9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8" name="直接连接符 7"/>
          <p:cNvCxnSpPr/>
          <p:nvPr userDrawn="1">
            <p:custDataLst>
              <p:tags r:id="rId1"/>
            </p:custDataLst>
          </p:nvPr>
        </p:nvCxnSpPr>
        <p:spPr>
          <a:xfrm flipV="1">
            <a:off x="782320" y="960755"/>
            <a:ext cx="10655935" cy="0"/>
          </a:xfrm>
          <a:prstGeom prst="line">
            <a:avLst/>
          </a:prstGeom>
          <a:ln w="19050">
            <a:solidFill>
              <a:srgbClr val="035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/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82320" y="361169"/>
            <a:ext cx="633359" cy="633359"/>
          </a:xfrm>
          <a:prstGeom prst="rect">
            <a:avLst/>
          </a:prstGeom>
        </p:spPr>
      </p:pic>
      <p:sp>
        <p:nvSpPr>
          <p:cNvPr id="12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1485659" y="423848"/>
            <a:ext cx="2761698" cy="508000"/>
          </a:xfrm>
        </p:spPr>
        <p:txBody>
          <a:bodyPr>
            <a:normAutofit/>
          </a:bodyPr>
          <a:lstStyle>
            <a:lvl1pPr algn="ctr">
              <a:buNone/>
              <a:defRPr sz="2400" b="1">
                <a:solidFill>
                  <a:srgbClr val="03567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点击填写本节标题</a:t>
            </a:r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8094306" y="418983"/>
            <a:ext cx="3315374" cy="508000"/>
          </a:xfrm>
        </p:spPr>
        <p:txBody>
          <a:bodyPr>
            <a:normAutofit/>
          </a:bodyPr>
          <a:lstStyle>
            <a:lvl1pPr algn="r">
              <a:buNone/>
              <a:defRPr sz="1600" b="1">
                <a:solidFill>
                  <a:srgbClr val="03567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点击填写辅助标题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313-F245-8B4C-A2DA-652DFD043BE9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8" name="直接连接符 7"/>
          <p:cNvCxnSpPr/>
          <p:nvPr userDrawn="1">
            <p:custDataLst>
              <p:tags r:id="rId1"/>
            </p:custDataLst>
          </p:nvPr>
        </p:nvCxnSpPr>
        <p:spPr>
          <a:xfrm flipV="1">
            <a:off x="782320" y="960755"/>
            <a:ext cx="10655935" cy="0"/>
          </a:xfrm>
          <a:prstGeom prst="line">
            <a:avLst/>
          </a:prstGeom>
          <a:ln w="19050">
            <a:solidFill>
              <a:srgbClr val="0356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1485659" y="423848"/>
            <a:ext cx="2761698" cy="508000"/>
          </a:xfrm>
        </p:spPr>
        <p:txBody>
          <a:bodyPr>
            <a:normAutofit/>
          </a:bodyPr>
          <a:lstStyle>
            <a:lvl1pPr algn="ctr">
              <a:buNone/>
              <a:defRPr sz="2400" b="1">
                <a:solidFill>
                  <a:srgbClr val="03567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点击填写本节标题</a:t>
            </a:r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8094306" y="418983"/>
            <a:ext cx="3315374" cy="508000"/>
          </a:xfrm>
        </p:spPr>
        <p:txBody>
          <a:bodyPr>
            <a:normAutofit/>
          </a:bodyPr>
          <a:lstStyle>
            <a:lvl1pPr algn="r">
              <a:buNone/>
              <a:defRPr sz="1600" b="1">
                <a:solidFill>
                  <a:srgbClr val="03567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点击填写辅助标题</a:t>
            </a:r>
          </a:p>
        </p:txBody>
      </p:sp>
      <p:pic>
        <p:nvPicPr>
          <p:cNvPr id="2" name="图片 1" descr="图片包含 图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320" y="278765"/>
            <a:ext cx="703580" cy="648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3616960" cy="6858000"/>
          </a:xfrm>
          <a:prstGeom prst="rect">
            <a:avLst/>
          </a:prstGeom>
          <a:solidFill>
            <a:srgbClr val="0356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35679"/>
              </a:solidFill>
            </a:endParaRPr>
          </a:p>
        </p:txBody>
      </p:sp>
      <p:sp>
        <p:nvSpPr>
          <p:cNvPr id="9" name="矩形: 圆角 8"/>
          <p:cNvSpPr/>
          <p:nvPr userDrawn="1"/>
        </p:nvSpPr>
        <p:spPr>
          <a:xfrm>
            <a:off x="1551305" y="1284352"/>
            <a:ext cx="9530227" cy="4703522"/>
          </a:xfrm>
          <a:prstGeom prst="roundRect">
            <a:avLst>
              <a:gd name="adj" fmla="val 4273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6600" b="1" dirty="0">
              <a:solidFill>
                <a:srgbClr val="0356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 userDrawn="1">
            <p:custDataLst>
              <p:tags r:id="rId1"/>
            </p:custDataLst>
          </p:nvPr>
        </p:nvSpPr>
        <p:spPr>
          <a:xfrm>
            <a:off x="3616325" y="282575"/>
            <a:ext cx="7493635" cy="5422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/>
            <a:endParaRPr lang="en-US" altLang="zh-CN" b="1" dirty="0">
              <a:solidFill>
                <a:srgbClr val="2F5597"/>
              </a:solidFill>
              <a:latin typeface="Arial" panose="020B0604020202020204" pitchFamily="34" charset="0"/>
              <a:ea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017755" y="3256280"/>
            <a:ext cx="4518035" cy="3925504"/>
          </a:xfrm>
          <a:prstGeom prst="rect">
            <a:avLst/>
          </a:prstGeom>
          <a:blipFill dpi="0" rotWithShape="1">
            <a:blip r:embed="rId3">
              <a:alphaModFix amt="45000"/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内容占位符 20"/>
          <p:cNvSpPr>
            <a:spLocks noGrp="1"/>
          </p:cNvSpPr>
          <p:nvPr>
            <p:ph idx="13" hasCustomPrompt="1"/>
          </p:nvPr>
        </p:nvSpPr>
        <p:spPr>
          <a:xfrm>
            <a:off x="3246755" y="3106420"/>
            <a:ext cx="6509385" cy="1254125"/>
          </a:xfrm>
        </p:spPr>
        <p:txBody>
          <a:bodyPr>
            <a:noAutofit/>
          </a:bodyPr>
          <a:lstStyle>
            <a:lvl1pPr marL="0" indent="0" algn="ctr">
              <a:buNone/>
              <a:defRPr sz="6000" b="1">
                <a:solidFill>
                  <a:srgbClr val="03567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【结语】</a:t>
            </a:r>
          </a:p>
        </p:txBody>
      </p:sp>
      <p:sp>
        <p:nvSpPr>
          <p:cNvPr id="22" name="内容占位符 21"/>
          <p:cNvSpPr>
            <a:spLocks noGrp="1"/>
          </p:cNvSpPr>
          <p:nvPr>
            <p:ph idx="14" hasCustomPrompt="1"/>
          </p:nvPr>
        </p:nvSpPr>
        <p:spPr>
          <a:xfrm>
            <a:off x="3823970" y="4800600"/>
            <a:ext cx="5770245" cy="558165"/>
          </a:xfrm>
        </p:spPr>
        <p:txBody>
          <a:bodyPr>
            <a:noAutofit/>
          </a:bodyPr>
          <a:lstStyle>
            <a:lvl1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Oxford Regular" panose="02010600010101010101" charset="-122"/>
                <a:ea typeface="Oxford Regular" panose="02010600010101010101" charset="-122"/>
                <a:cs typeface="+mn-cs"/>
              </a:defRPr>
            </a:lvl1pPr>
          </a:lstStyle>
          <a:p>
            <a:pPr indent="0" algn="ctr" fontAlgn="auto">
              <a:lnSpc>
                <a:spcPct val="115000"/>
              </a:lnSpc>
            </a:pPr>
            <a:r>
              <a:rPr>
                <a:sym typeface="+mn-ea"/>
              </a:rPr>
              <a:t>讲解人：</a:t>
            </a:r>
            <a:r>
              <a:rPr lang="en-US" altLang="zh-CN">
                <a:sym typeface="+mn-ea"/>
              </a:rPr>
              <a:t>【</a:t>
            </a:r>
            <a:r>
              <a:rPr>
                <a:sym typeface="+mn-ea"/>
              </a:rPr>
              <a:t>姓名</a:t>
            </a:r>
            <a:r>
              <a:rPr lang="en-US" altLang="zh-CN">
                <a:sym typeface="+mn-ea"/>
              </a:rPr>
              <a:t>】</a:t>
            </a:r>
            <a:endParaRPr lang="zh-CN" altLang="en-US">
              <a:latin typeface="DejaVu Math TeX Gyre" panose="02000503000000000000" pitchFamily="2" charset="0"/>
              <a:ea typeface="DejaVu Math TeX Gyre" panose="02000503000000000000" pitchFamily="2" charset="0"/>
              <a:cs typeface="DejaVu Math TeX Gyre" panose="02000503000000000000" pitchFamily="2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313-F245-8B4C-A2DA-652DFD043B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313-F245-8B4C-A2DA-652DFD043B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313-F245-8B4C-A2DA-652DFD043B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313-F245-8B4C-A2DA-652DFD043B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313-F245-8B4C-A2DA-652DFD043B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313-F245-8B4C-A2DA-652DFD043B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313-F245-8B4C-A2DA-652DFD043B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69313-F245-8B4C-A2DA-652DFD043BE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1"/>
          </p:nvPr>
        </p:nvSpPr>
        <p:spPr>
          <a:xfrm>
            <a:off x="2111189" y="2220594"/>
            <a:ext cx="7758953" cy="1183641"/>
          </a:xfrm>
        </p:spPr>
        <p:txBody>
          <a:bodyPr>
            <a:normAutofit fontScale="92500"/>
          </a:bodyPr>
          <a:lstStyle/>
          <a:p>
            <a:r>
              <a:rPr lang="en-US" altLang="zh-CN" sz="2800" dirty="0"/>
              <a:t>BOUNDS OF CHAIN-OF-THOUGHT ROBUSTNESS: REASONING STEPS, EMBED NORMS, AND BEYOND</a:t>
            </a:r>
            <a:endParaRPr lang="zh-CN" altLang="en-US" sz="2800" dirty="0"/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 sz="2800" dirty="0"/>
              <a:t>思维链鲁棒性的边界：推理步数、嵌入范数及其他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zh-CN" altLang="en-US" dirty="0"/>
              <a:t>讲解人：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5"/>
          </p:nvPr>
        </p:nvSpPr>
        <p:spPr>
          <a:xfrm>
            <a:off x="3056255" y="4195446"/>
            <a:ext cx="5770245" cy="55816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</a:rPr>
              <a:t>ICLR 2026 Poster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3C0E0-A89B-E42E-217C-667F8329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FE68A7-52BC-0229-D8EF-6419960F23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作者信息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20F877-A83A-F228-1BCB-2002376212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32E78B3-50AE-3CBA-81BC-26EE82FE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 dirty="0"/>
          </a:p>
        </p:txBody>
      </p:sp>
      <p:grpSp>
        <p:nvGrpSpPr>
          <p:cNvPr id="17" name="p02-authors"/>
          <p:cNvGrpSpPr/>
          <p:nvPr/>
        </p:nvGrpSpPr>
        <p:grpSpPr>
          <a:xfrm>
            <a:off x="797433" y="1219200"/>
            <a:ext cx="10632567" cy="4829175"/>
            <a:chOff x="797433" y="1219200"/>
            <a:chExt cx="10632567" cy="4829175"/>
          </a:xfrm>
        </p:grpSpPr>
        <p:sp>
          <p:nvSpPr>
            <p:cNvPr id="8" name="TextBox 8"/>
            <p:cNvSpPr txBox="1"/>
            <p:nvPr/>
          </p:nvSpPr>
          <p:spPr>
            <a:xfrm>
              <a:off x="797433" y="1660525"/>
              <a:ext cx="367140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111111"/>
                  </a:solidFill>
                  <a:latin typeface="Times New Roman"/>
                  <a:ea typeface="SimSun"/>
                  <a:cs typeface="Times New Roman"/>
                </a:rPr>
                <a:t>Dingzirui Wang（一作）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8576" y="2114550"/>
              <a:ext cx="2399433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80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PhD student, HIT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40933" y="1660525"/>
              <a:ext cx="17030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Qingfu Zhu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42076" y="2114550"/>
              <a:ext cx="330753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80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Associate Professor, HIT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0862" y="2603500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学术主页信息快照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44362" y="2603500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学术主页信息快照</a:t>
              </a: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6706" y="2952750"/>
              <a:ext cx="2961589" cy="3095625"/>
            </a:xfrm>
            <a:prstGeom prst="rect">
              <a:avLst/>
            </a:prstGeom>
          </p:spPr>
        </p:pic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53041" y="2952750"/>
              <a:ext cx="3000670" cy="3095625"/>
            </a:xfrm>
            <a:prstGeom prst="rect">
              <a:avLst/>
            </a:prstGeom>
          </p:spPr>
        </p:pic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48875" y="1219200"/>
              <a:ext cx="1381125" cy="1381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465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1"/>
          </p:nvPr>
        </p:nvSpPr>
        <p:spPr>
          <a:xfrm>
            <a:off x="3154931" y="2620088"/>
            <a:ext cx="5770245" cy="558165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3600" dirty="0"/>
              <a:t>Background &amp; Motivation</a:t>
            </a:r>
            <a:endParaRPr lang="zh-CN" altLang="en-US" sz="3600" dirty="0"/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>
          <a:xfrm>
            <a:off x="3154931" y="3359150"/>
            <a:ext cx="5770245" cy="558165"/>
          </a:xfrm>
        </p:spPr>
        <p:txBody>
          <a:bodyPr/>
          <a:lstStyle/>
          <a:p>
            <a:r>
              <a:rPr lang="zh-CN" altLang="en-US" sz="4000" dirty="0"/>
              <a:t>背景与动机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C81D9-7A37-80F2-A88C-EA01A9B84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3DA806-B42C-9F88-71ED-AFF1E891D7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背景与动机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6D338B-7F84-E0CF-F2D2-EA8CC1F2B4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237AF7C-2FC3-DCB5-1E52-02721757C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04-title"/>
          <p:cNvGrpSpPr/>
          <p:nvPr/>
        </p:nvGrpSpPr>
        <p:grpSpPr>
          <a:xfrm>
            <a:off x="2139315" y="1158875"/>
            <a:ext cx="7913370" cy="876300"/>
            <a:chOff x="2139315" y="1158875"/>
            <a:chExt cx="7913370" cy="876300"/>
          </a:xfrm>
        </p:grpSpPr>
        <p:sp>
          <p:nvSpPr>
            <p:cNvPr id="8" name="TextBox 8"/>
            <p:cNvSpPr txBox="1"/>
            <p:nvPr/>
          </p:nvSpPr>
          <p:spPr>
            <a:xfrm>
              <a:off x="2139315" y="1158875"/>
              <a:ext cx="791337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输入扰动如何影响多步推理？</a:t>
              </a:r>
            </a:p>
          </p:txBody>
        </p:sp>
      </p:grpSp>
      <p:grpSp>
        <p:nvGrpSpPr>
          <p:cNvPr id="14" name="p04-motivation"/>
          <p:cNvGrpSpPr/>
          <p:nvPr/>
        </p:nvGrpSpPr>
        <p:grpSpPr>
          <a:xfrm>
            <a:off x="941070" y="1930400"/>
            <a:ext cx="10771607" cy="4266248"/>
            <a:chOff x="941070" y="1930400"/>
            <a:chExt cx="10771607" cy="4266248"/>
          </a:xfrm>
        </p:grpSpPr>
        <p:sp>
          <p:nvSpPr>
            <p:cNvPr id="10" name="TextBox 10"/>
            <p:cNvSpPr txBox="1"/>
            <p:nvPr/>
          </p:nvSpPr>
          <p:spPr>
            <a:xfrm>
              <a:off x="941070" y="1930400"/>
              <a:ext cx="62175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现有观察：输入变化可能引起 CoT 输出波动。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9345" y="2428875"/>
              <a:ext cx="5548560" cy="302895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9804273" y="5419725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77777"/>
                  </a:solidFill>
                  <a:latin typeface="Microsoft YaHei"/>
                  <a:ea typeface="Microsoft YaHei"/>
                  <a:cs typeface="Microsoft YaHei"/>
                </a:rPr>
                <a:t>机制示意，非实验数据。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84678" y="5683250"/>
              <a:ext cx="6022645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6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研究问题：扰动如何沿推理步骤传播？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7061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4FDD5-79F6-392A-0CAF-9D136BFD8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485614" y="423862"/>
            <a:ext cx="3231071" cy="507968"/>
          </a:xfrm>
          <a:prstGeom prst="rect">
            <a:avLst/>
          </a:prstGeom>
          <a:noFill/>
          <a:ln>
            <a:noFill/>
          </a:ln>
        </p:spPr>
        <p:txBody>
          <a:bodyPr wrap="none" lIns="0" tIns="58406" rIns="0" bIns="0" anchor="t" anchorCtr="0">
            <a:noAutofit/>
          </a:bodyPr>
          <a:lstStyle/>
          <a:p>
            <a:pPr algn="ctr"/>
            <a:r>
              <a:rPr lang="zh-CN" sz="202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现有方法与研究问题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DA8349-27F2-60CE-C1CF-77F9D17A23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E329A2-1AC8-E816-DB0E-4AC5D756E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05-title"/>
          <p:cNvGrpSpPr/>
          <p:nvPr/>
        </p:nvGrpSpPr>
        <p:grpSpPr>
          <a:xfrm>
            <a:off x="794385" y="1212850"/>
            <a:ext cx="7299960" cy="586740"/>
            <a:chOff x="794385" y="1212850"/>
            <a:chExt cx="7299960" cy="586740"/>
          </a:xfrm>
        </p:grpSpPr>
        <p:sp>
          <p:nvSpPr>
            <p:cNvPr id="8" name="TextBox 8"/>
            <p:cNvSpPr txBox="1"/>
            <p:nvPr/>
          </p:nvSpPr>
          <p:spPr>
            <a:xfrm>
              <a:off x="794385" y="12128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提示词优化之外，还需解释扰动如何传播</a:t>
              </a:r>
            </a:p>
          </p:txBody>
        </p:sp>
      </p:grpSp>
      <p:grpSp>
        <p:nvGrpSpPr>
          <p:cNvPr id="14" name="p05-methods"/>
          <p:cNvGrpSpPr/>
          <p:nvPr/>
        </p:nvGrpSpPr>
        <p:grpSpPr>
          <a:xfrm>
            <a:off x="798957" y="1765300"/>
            <a:ext cx="7856297" cy="1726565"/>
            <a:chOff x="798957" y="1765300"/>
            <a:chExt cx="7856297" cy="1726565"/>
          </a:xfrm>
        </p:grpSpPr>
        <p:sp>
          <p:nvSpPr>
            <p:cNvPr id="10" name="TextBox 10"/>
            <p:cNvSpPr txBox="1"/>
            <p:nvPr/>
          </p:nvSpPr>
          <p:spPr>
            <a:xfrm>
              <a:off x="798957" y="1765300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已有方向：通过改进输入提示词，提升推理表现。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2975" y="2247900"/>
              <a:ext cx="688025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2946" indent="-202946" algn="l">
                <a:buClr>
                  <a:srgbClr val="111111"/>
                </a:buClr>
                <a:buSzTx/>
                <a:buFontTx/>
                <a:buChar char="•"/>
              </a:pPr>
              <a:r>
                <a:rPr lang="zh-CN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提示词设计：Vatsal &amp; Dubey，2024；Sahoo et al.，2025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2975" y="2686050"/>
              <a:ext cx="771227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2946" indent="-202946" algn="l">
                <a:buClr>
                  <a:srgbClr val="111111"/>
                </a:buClr>
                <a:buSzTx/>
                <a:buFontTx/>
                <a:buChar char="•"/>
              </a:pPr>
              <a:r>
                <a:rPr lang="zh-CN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TextGrad：用文本梯度优化提示词（Yuksekgonul et al.，2025）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2975" y="3124200"/>
              <a:ext cx="677016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2946" indent="-202946" algn="l">
                <a:buClr>
                  <a:srgbClr val="111111"/>
                </a:buClr>
                <a:buSzTx/>
                <a:buFontTx/>
                <a:buChar char="•"/>
              </a:pPr>
              <a:r>
                <a:rPr lang="zh-CN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OPRO：利用 LLM 迭代生成提示词（Yang et al.，2024）</a:t>
              </a:r>
            </a:p>
          </p:txBody>
        </p:sp>
      </p:grpSp>
      <p:grpSp>
        <p:nvGrpSpPr>
          <p:cNvPr id="39" name="p05-propagation"/>
          <p:cNvGrpSpPr/>
          <p:nvPr/>
        </p:nvGrpSpPr>
        <p:grpSpPr>
          <a:xfrm>
            <a:off x="809625" y="3714750"/>
            <a:ext cx="10572750" cy="2417064"/>
            <a:chOff x="809625" y="3714750"/>
            <a:chExt cx="10572750" cy="2417064"/>
          </a:xfrm>
        </p:grpSpPr>
        <p:sp>
          <p:nvSpPr>
            <p:cNvPr id="15" name="Rectangle 15"/>
            <p:cNvSpPr/>
            <p:nvPr/>
          </p:nvSpPr>
          <p:spPr>
            <a:xfrm>
              <a:off x="1809750" y="3714750"/>
              <a:ext cx="8572500" cy="523875"/>
            </a:xfrm>
            <a:prstGeom prst="rect">
              <a:avLst/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73323" y="3797300"/>
              <a:ext cx="5645353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理论空白：扰动如何在推理过程中传播？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447800" y="4810125"/>
              <a:ext cx="533400" cy="533400"/>
            </a:xfrm>
            <a:prstGeom prst="ellipse">
              <a:avLst/>
            </a:prstGeom>
            <a:solidFill>
              <a:srgbClr val="DDEFFA"/>
            </a:solidFill>
            <a:ln w="19050">
              <a:solidFill>
                <a:srgbClr val="035679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990725" y="5076825"/>
              <a:ext cx="1152525" cy="9525"/>
            </a:xfrm>
            <a:custGeom>
              <a:avLst/>
              <a:gdLst/>
              <a:ahLst/>
              <a:cxnLst/>
              <a:rect l="l" t="t" r="r" b="b"/>
              <a:pathLst>
                <a:path w="1152525" h="9525">
                  <a:moveTo>
                    <a:pt x="0" y="0"/>
                  </a:moveTo>
                  <a:lnTo>
                    <a:pt x="1152525" y="0"/>
                  </a:lnTo>
                </a:path>
              </a:pathLst>
            </a:custGeom>
            <a:noFill/>
            <a:ln w="19050">
              <a:solidFill>
                <a:srgbClr val="035679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3075622" y="5041678"/>
              <a:ext cx="67628" cy="70295"/>
            </a:xfrm>
            <a:custGeom>
              <a:avLst/>
              <a:gdLst/>
              <a:ahLst/>
              <a:cxnLst/>
              <a:rect l="l" t="t" r="r" b="b"/>
              <a:pathLst>
                <a:path w="67628" h="70295">
                  <a:moveTo>
                    <a:pt x="67628" y="35147"/>
                  </a:moveTo>
                  <a:lnTo>
                    <a:pt x="0" y="702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5679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209925" y="4810125"/>
              <a:ext cx="533400" cy="533400"/>
            </a:xfrm>
            <a:prstGeom prst="ellipse">
              <a:avLst/>
            </a:prstGeom>
            <a:solidFill>
              <a:srgbClr val="DDEFFA"/>
            </a:solidFill>
            <a:ln w="19050">
              <a:solidFill>
                <a:srgbClr val="035679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752850" y="5076825"/>
              <a:ext cx="1152525" cy="9525"/>
            </a:xfrm>
            <a:custGeom>
              <a:avLst/>
              <a:gdLst/>
              <a:ahLst/>
              <a:cxnLst/>
              <a:rect l="l" t="t" r="r" b="b"/>
              <a:pathLst>
                <a:path w="1152525" h="9525">
                  <a:moveTo>
                    <a:pt x="0" y="0"/>
                  </a:moveTo>
                  <a:lnTo>
                    <a:pt x="1152525" y="0"/>
                  </a:lnTo>
                </a:path>
              </a:pathLst>
            </a:custGeom>
            <a:noFill/>
            <a:ln w="19050">
              <a:solidFill>
                <a:srgbClr val="035679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4837748" y="5041678"/>
              <a:ext cx="67628" cy="70295"/>
            </a:xfrm>
            <a:custGeom>
              <a:avLst/>
              <a:gdLst/>
              <a:ahLst/>
              <a:cxnLst/>
              <a:rect l="l" t="t" r="r" b="b"/>
              <a:pathLst>
                <a:path w="67628" h="70295">
                  <a:moveTo>
                    <a:pt x="67628" y="35147"/>
                  </a:moveTo>
                  <a:lnTo>
                    <a:pt x="0" y="702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5679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972050" y="4810125"/>
              <a:ext cx="533400" cy="533400"/>
            </a:xfrm>
            <a:prstGeom prst="ellipse">
              <a:avLst/>
            </a:prstGeom>
            <a:solidFill>
              <a:srgbClr val="DDEFFA"/>
            </a:solidFill>
            <a:ln w="19050">
              <a:solidFill>
                <a:srgbClr val="035679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514975" y="5076825"/>
              <a:ext cx="1152525" cy="9525"/>
            </a:xfrm>
            <a:custGeom>
              <a:avLst/>
              <a:gdLst/>
              <a:ahLst/>
              <a:cxnLst/>
              <a:rect l="l" t="t" r="r" b="b"/>
              <a:pathLst>
                <a:path w="1152525" h="9525">
                  <a:moveTo>
                    <a:pt x="0" y="0"/>
                  </a:moveTo>
                  <a:lnTo>
                    <a:pt x="1152525" y="0"/>
                  </a:lnTo>
                </a:path>
              </a:pathLst>
            </a:custGeom>
            <a:noFill/>
            <a:ln w="19050">
              <a:solidFill>
                <a:srgbClr val="035679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599872" y="5041678"/>
              <a:ext cx="67628" cy="70295"/>
            </a:xfrm>
            <a:custGeom>
              <a:avLst/>
              <a:gdLst/>
              <a:ahLst/>
              <a:cxnLst/>
              <a:rect l="l" t="t" r="r" b="b"/>
              <a:pathLst>
                <a:path w="67628" h="70295">
                  <a:moveTo>
                    <a:pt x="67628" y="35147"/>
                  </a:moveTo>
                  <a:lnTo>
                    <a:pt x="0" y="702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5679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734175" y="4810125"/>
              <a:ext cx="533400" cy="533400"/>
            </a:xfrm>
            <a:prstGeom prst="ellipse">
              <a:avLst/>
            </a:prstGeom>
            <a:solidFill>
              <a:srgbClr val="DDEFFA"/>
            </a:solidFill>
            <a:ln w="19050">
              <a:solidFill>
                <a:srgbClr val="035679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277100" y="5076825"/>
              <a:ext cx="1152525" cy="9525"/>
            </a:xfrm>
            <a:custGeom>
              <a:avLst/>
              <a:gdLst/>
              <a:ahLst/>
              <a:cxnLst/>
              <a:rect l="l" t="t" r="r" b="b"/>
              <a:pathLst>
                <a:path w="1152525" h="9525">
                  <a:moveTo>
                    <a:pt x="0" y="0"/>
                  </a:moveTo>
                  <a:lnTo>
                    <a:pt x="1152525" y="0"/>
                  </a:lnTo>
                </a:path>
              </a:pathLst>
            </a:custGeom>
            <a:noFill/>
            <a:ln w="19050">
              <a:solidFill>
                <a:srgbClr val="035679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8361998" y="5041678"/>
              <a:ext cx="67628" cy="70295"/>
            </a:xfrm>
            <a:custGeom>
              <a:avLst/>
              <a:gdLst/>
              <a:ahLst/>
              <a:cxnLst/>
              <a:rect l="l" t="t" r="r" b="b"/>
              <a:pathLst>
                <a:path w="67628" h="70295">
                  <a:moveTo>
                    <a:pt x="67628" y="35147"/>
                  </a:moveTo>
                  <a:lnTo>
                    <a:pt x="0" y="702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5679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496300" y="4810125"/>
              <a:ext cx="533400" cy="533400"/>
            </a:xfrm>
            <a:prstGeom prst="ellipse">
              <a:avLst/>
            </a:prstGeom>
            <a:solidFill>
              <a:srgbClr val="DDEFFA"/>
            </a:solidFill>
            <a:ln w="19050">
              <a:solidFill>
                <a:srgbClr val="035679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039225" y="5076825"/>
              <a:ext cx="1152525" cy="9525"/>
            </a:xfrm>
            <a:custGeom>
              <a:avLst/>
              <a:gdLst/>
              <a:ahLst/>
              <a:cxnLst/>
              <a:rect l="l" t="t" r="r" b="b"/>
              <a:pathLst>
                <a:path w="1152525" h="9525">
                  <a:moveTo>
                    <a:pt x="0" y="0"/>
                  </a:moveTo>
                  <a:lnTo>
                    <a:pt x="1152525" y="0"/>
                  </a:lnTo>
                </a:path>
              </a:pathLst>
            </a:custGeom>
            <a:noFill/>
            <a:ln w="19050">
              <a:solidFill>
                <a:srgbClr val="035679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10124122" y="5041678"/>
              <a:ext cx="67627" cy="70295"/>
            </a:xfrm>
            <a:custGeom>
              <a:avLst/>
              <a:gdLst/>
              <a:ahLst/>
              <a:cxnLst/>
              <a:rect l="l" t="t" r="r" b="b"/>
              <a:pathLst>
                <a:path w="67627" h="70295">
                  <a:moveTo>
                    <a:pt x="67627" y="35147"/>
                  </a:moveTo>
                  <a:lnTo>
                    <a:pt x="0" y="702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5679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258425" y="4810125"/>
              <a:ext cx="533400" cy="533400"/>
            </a:xfrm>
            <a:prstGeom prst="ellipse">
              <a:avLst/>
            </a:prstGeom>
            <a:solidFill>
              <a:srgbClr val="DDEFFA"/>
            </a:solidFill>
            <a:ln w="19050">
              <a:solidFill>
                <a:srgbClr val="03567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60348" y="43021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输入扰动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32750" y="4603750"/>
              <a:ext cx="5634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800" dirty="0">
                  <a:solidFill>
                    <a:srgbClr val="035679"/>
                  </a:solidFill>
                  <a:latin typeface="Cambria Math"/>
                  <a:ea typeface="Cambria Math"/>
                  <a:cs typeface="Cambria Math"/>
                </a:rPr>
                <a:t>x + 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67553" y="43846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多步推理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70973" y="43021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输出波动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09625" y="5629275"/>
              <a:ext cx="10572750" cy="485775"/>
            </a:xfrm>
            <a:prstGeom prst="rect">
              <a:avLst/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230697" y="5705475"/>
              <a:ext cx="5730605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研究目标：解释影响 CoT 鲁棒性的关键因素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7576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66680-D8B5-DE5A-7CC2-79470A51E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A7BB57-6D0E-8067-9A50-9BE4B567B27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983892" y="2542223"/>
            <a:ext cx="6607440" cy="979805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ROBUSTNESS OF CHAIN-OF-THOUGHT</a:t>
            </a:r>
            <a:endParaRPr lang="zh-CN" altLang="en-US" sz="28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78F119-8F97-5B28-15F9-F34A0C3DF5B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 dirty="0"/>
              <a:t>思维链的鲁棒性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1602A4F-AECD-6528-3A02-28DE56277D6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A9B458-38F1-3071-F27C-14F98BFECDD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7A995B-B89D-DAC8-D164-CE88FD29179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806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53F5-6E8E-CD4F-B1F5-D5F91A2FC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59192C-29BE-B778-BC59-7A0CE1A4A9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预备知识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8D0358-E210-7745-FD88-7AA58D9AF4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5304EA-C0F7-EBF9-3F7F-27BDA107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07-title"/>
          <p:cNvGrpSpPr/>
          <p:nvPr/>
        </p:nvGrpSpPr>
        <p:grpSpPr>
          <a:xfrm>
            <a:off x="792861" y="1174750"/>
            <a:ext cx="6252972" cy="645414"/>
            <a:chOff x="792861" y="1174750"/>
            <a:chExt cx="6252972" cy="645414"/>
          </a:xfrm>
        </p:grpSpPr>
        <p:sp>
          <p:nvSpPr>
            <p:cNvPr id="8" name="TextBox 8"/>
            <p:cNvSpPr txBox="1"/>
            <p:nvPr/>
          </p:nvSpPr>
          <p:spPr>
            <a:xfrm>
              <a:off x="792861" y="117475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先定义输入扰动与逐步输出波动</a:t>
              </a:r>
            </a:p>
          </p:txBody>
        </p:sp>
      </p:grpSp>
      <p:grpSp>
        <p:nvGrpSpPr>
          <p:cNvPr id="29" name="p07-definitions"/>
          <p:cNvGrpSpPr/>
          <p:nvPr/>
        </p:nvGrpSpPr>
        <p:grpSpPr>
          <a:xfrm>
            <a:off x="809625" y="1847850"/>
            <a:ext cx="5572125" cy="4158107"/>
            <a:chOff x="809625" y="1847850"/>
            <a:chExt cx="5572125" cy="4158107"/>
          </a:xfrm>
        </p:grpSpPr>
        <p:sp>
          <p:nvSpPr>
            <p:cNvPr id="10" name="Rectangle 10"/>
            <p:cNvSpPr/>
            <p:nvPr/>
          </p:nvSpPr>
          <p:spPr>
            <a:xfrm>
              <a:off x="809625" y="1847850"/>
              <a:ext cx="342900" cy="333375"/>
            </a:xfrm>
            <a:prstGeom prst="roundRect">
              <a:avLst>
                <a:gd name="adj" fmla="val 17143"/>
              </a:avLst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1962" y="187960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3975" y="1866900"/>
              <a:ext cx="25499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输入与输出的嵌入向量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5118" y="2254250"/>
              <a:ext cx="33930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x, y ∈ ℝᵈ：输入与输出的嵌入向量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9625" y="2705100"/>
              <a:ext cx="342900" cy="333375"/>
            </a:xfrm>
            <a:prstGeom prst="roundRect">
              <a:avLst>
                <a:gd name="adj" fmla="val 17143"/>
              </a:avLst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1962" y="27368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3975" y="272415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输入扰动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5118" y="3111500"/>
              <a:ext cx="26933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δ ∈ ℝᵈ；扰动输入 x̃ = x + δ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625" y="3609975"/>
              <a:ext cx="342900" cy="333375"/>
            </a:xfrm>
            <a:prstGeom prst="roundRect">
              <a:avLst>
                <a:gd name="adj" fmla="val 17143"/>
              </a:avLst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1962" y="364172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3975" y="3629025"/>
              <a:ext cx="229682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推理过程的状态递推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5118" y="4016375"/>
              <a:ext cx="45329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K ∈ ℕ⁺：CoT 总步数；hₖ,ₓ：第 k 步隐藏状态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9625" y="5276850"/>
              <a:ext cx="342900" cy="333375"/>
            </a:xfrm>
            <a:prstGeom prst="roundRect">
              <a:avLst>
                <a:gd name="adj" fmla="val 17143"/>
              </a:avLst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1962" y="530860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3975" y="5295900"/>
              <a:ext cx="153756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逐步输出波动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5118" y="5683250"/>
              <a:ext cx="38483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εₖ：输入扰动在第 k 步引起的输出差异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333500" y="4400550"/>
              <a:ext cx="5048250" cy="781050"/>
            </a:xfrm>
            <a:prstGeom prst="roundRect">
              <a:avLst>
                <a:gd name="adj" fmla="val 9756"/>
              </a:avLst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67993" y="4464050"/>
              <a:ext cx="3170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映射函数 f(h,x)：ℝᵈ × ℝᵈ → ℝᵈ</a:t>
              </a:r>
            </a:p>
          </p:txBody>
        </p:sp>
        <p:sp>
          <p:nvSpPr>
            <p:cNvPr id="28" name="p07-state-recurrence"/>
            <p:cNvSpPr txBox="1">
              <a:spLocks noGrp="1"/>
            </p:cNvSpPr>
            <p:nvPr/>
          </p:nvSpPr>
          <p:spPr>
            <a:xfrm>
              <a:off x="1438275" y="4733925"/>
              <a:ext cx="4867275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l"/>
              <a14:m xmlns:a14="http://schemas.microsoft.com/office/drawing/2010/main">
                <m:oMathPara xmlns:m="http://schemas.openxmlformats.org/officeDocument/2006/math">
                  <m:oMathParaPr>
                    <m:jc m:val="left"/>
                  </m:oMathParaPr>
                  <m:oMath>
                    <m:sSub>
                      <m:sSubPr>
                        <m:ctrlP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</m:e>
                      <m:sub>
                        <m: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1,</m:t>
                        </m:r>
                        <m: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sub>
                    </m:sSub>
                    <m:r>
                      <a:rPr lang="zh-CN" sz="16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zh-CN" sz="16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0,</m:t>
                        </m:r>
                        <m: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e>
                    </m:d>
                    <m:r>
                      <a:rPr lang="zh-CN" sz="16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, </m:t>
                    </m:r>
                    <m:sSub>
                      <m:sSubPr>
                        <m:ctrlP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</m:e>
                      <m:sub>
                        <m: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𝑘</m:t>
                        </m:r>
                        <m: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sub>
                    </m:sSub>
                    <m:r>
                      <a:rPr lang="zh-CN" sz="16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zh-CN" sz="16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zh-CN" sz="165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sz="16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16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ℎ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𝑘</m:t>
                            </m:r>
                            <m:r>
                              <a:rPr lang="zh-CN" sz="16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−1,</m:t>
                            </m:r>
                            <m:r>
                              <a:rPr lang="zh-CN" sz="16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sub>
                        </m:sSub>
                        <m: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e>
                    </m:d>
                  </m:oMath>
                </m:oMathPara>
              </a14:m>
              <a:endParaRPr/>
            </a:p>
          </p:txBody>
        </p:sp>
      </p:grpSp>
      <p:grpSp>
        <p:nvGrpSpPr>
          <p:cNvPr id="74" name="p07-state-pairs"/>
          <p:cNvGrpSpPr/>
          <p:nvPr/>
        </p:nvGrpSpPr>
        <p:grpSpPr>
          <a:xfrm>
            <a:off x="6753225" y="1879600"/>
            <a:ext cx="4617518" cy="4006850"/>
            <a:chOff x="6753225" y="1879600"/>
            <a:chExt cx="4617518" cy="4006850"/>
          </a:xfrm>
        </p:grpSpPr>
        <p:sp>
          <p:nvSpPr>
            <p:cNvPr id="30" name="TextBox 30"/>
            <p:cNvSpPr txBox="1"/>
            <p:nvPr/>
          </p:nvSpPr>
          <p:spPr>
            <a:xfrm>
              <a:off x="7140067" y="1879600"/>
              <a:ext cx="1150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原始输入 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93756" y="1879600"/>
              <a:ext cx="197698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扰动输入 x̃ = x + δ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53225" y="2428875"/>
              <a:ext cx="1924050" cy="409575"/>
            </a:xfrm>
            <a:prstGeom prst="roundRect">
              <a:avLst>
                <a:gd name="adj" fmla="val 16279"/>
              </a:avLst>
            </a:prstGeom>
            <a:solidFill>
              <a:srgbClr val="E8F3FA"/>
            </a:solidFill>
            <a:ln w="9525">
              <a:solidFill>
                <a:srgbClr val="B3CADA"/>
              </a:solidFill>
            </a:ln>
          </p:spPr>
        </p:sp>
        <p:sp>
          <p:nvSpPr>
            <p:cNvPr id="33" name="p07-state-0-0"/>
            <p:cNvSpPr txBox="1">
              <a:spLocks noGrp="1"/>
            </p:cNvSpPr>
            <p:nvPr/>
          </p:nvSpPr>
          <p:spPr>
            <a:xfrm>
              <a:off x="6772275" y="2438400"/>
              <a:ext cx="1885950" cy="390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</m:oMath>
                </m:oMathPara>
              </a14:m>
              <a:endParaRPr/>
            </a:p>
          </p:txBody>
        </p:sp>
        <p:sp>
          <p:nvSpPr>
            <p:cNvPr id="34" name="Line 34"/>
            <p:cNvSpPr/>
            <p:nvPr/>
          </p:nvSpPr>
          <p:spPr>
            <a:xfrm>
              <a:off x="7715250" y="2847975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1430">
              <a:solidFill>
                <a:srgbClr val="687785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7680103" y="3056572"/>
              <a:ext cx="70295" cy="67628"/>
            </a:xfrm>
            <a:custGeom>
              <a:avLst/>
              <a:gdLst/>
              <a:ahLst/>
              <a:cxnLst/>
              <a:rect l="l" t="t" r="r" b="b"/>
              <a:pathLst>
                <a:path w="70295" h="67628">
                  <a:moveTo>
                    <a:pt x="35147" y="67628"/>
                  </a:moveTo>
                  <a:lnTo>
                    <a:pt x="0" y="0"/>
                  </a:lnTo>
                  <a:lnTo>
                    <a:pt x="70295" y="0"/>
                  </a:lnTo>
                  <a:close/>
                </a:path>
              </a:pathLst>
            </a:custGeom>
            <a:solidFill>
              <a:srgbClr val="68778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53225" y="3190875"/>
              <a:ext cx="1924050" cy="409575"/>
            </a:xfrm>
            <a:prstGeom prst="roundRect">
              <a:avLst>
                <a:gd name="adj" fmla="val 16279"/>
              </a:avLst>
            </a:prstGeom>
            <a:solidFill>
              <a:srgbClr val="E8F3FA"/>
            </a:solidFill>
            <a:ln w="9525">
              <a:solidFill>
                <a:srgbClr val="B3CADA"/>
              </a:solidFill>
            </a:ln>
          </p:spPr>
        </p:sp>
        <p:sp>
          <p:nvSpPr>
            <p:cNvPr id="37" name="p07-state-0-1"/>
            <p:cNvSpPr txBox="1">
              <a:spLocks noGrp="1"/>
            </p:cNvSpPr>
            <p:nvPr/>
          </p:nvSpPr>
          <p:spPr>
            <a:xfrm>
              <a:off x="6772275" y="3200400"/>
              <a:ext cx="1885950" cy="390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</m:e>
                      <m:sub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1,</m:t>
                        </m:r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sub>
                    </m:sSub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0,</m:t>
                        </m:r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38" name="Line 38"/>
            <p:cNvSpPr/>
            <p:nvPr/>
          </p:nvSpPr>
          <p:spPr>
            <a:xfrm>
              <a:off x="7715250" y="3609975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1430">
              <a:solidFill>
                <a:srgbClr val="687785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7680103" y="3818572"/>
              <a:ext cx="70295" cy="67628"/>
            </a:xfrm>
            <a:custGeom>
              <a:avLst/>
              <a:gdLst/>
              <a:ahLst/>
              <a:cxnLst/>
              <a:rect l="l" t="t" r="r" b="b"/>
              <a:pathLst>
                <a:path w="70295" h="67628">
                  <a:moveTo>
                    <a:pt x="35147" y="67628"/>
                  </a:moveTo>
                  <a:lnTo>
                    <a:pt x="0" y="0"/>
                  </a:lnTo>
                  <a:lnTo>
                    <a:pt x="70295" y="0"/>
                  </a:lnTo>
                  <a:close/>
                </a:path>
              </a:pathLst>
            </a:custGeom>
            <a:solidFill>
              <a:srgbClr val="68778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753225" y="3952875"/>
              <a:ext cx="1924050" cy="409575"/>
            </a:xfrm>
            <a:prstGeom prst="roundRect">
              <a:avLst>
                <a:gd name="adj" fmla="val 16279"/>
              </a:avLst>
            </a:prstGeom>
            <a:solidFill>
              <a:srgbClr val="E8F3FA"/>
            </a:solidFill>
            <a:ln w="9525">
              <a:solidFill>
                <a:srgbClr val="B3CADA"/>
              </a:solidFill>
            </a:ln>
          </p:spPr>
        </p:sp>
        <p:sp>
          <p:nvSpPr>
            <p:cNvPr id="41" name="p07-state-0-2"/>
            <p:cNvSpPr txBox="1">
              <a:spLocks noGrp="1"/>
            </p:cNvSpPr>
            <p:nvPr/>
          </p:nvSpPr>
          <p:spPr>
            <a:xfrm>
              <a:off x="6772275" y="3962400"/>
              <a:ext cx="1885950" cy="390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</m:e>
                      <m:sub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2,</m:t>
                        </m:r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sub>
                    </m:sSub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zh-CN" sz="135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ℎ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1,</m:t>
                            </m:r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sub>
                        </m:sSub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42" name="Line 42"/>
            <p:cNvSpPr/>
            <p:nvPr/>
          </p:nvSpPr>
          <p:spPr>
            <a:xfrm>
              <a:off x="7715250" y="4371975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1430">
              <a:solidFill>
                <a:srgbClr val="687785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7680103" y="4580572"/>
              <a:ext cx="70295" cy="67628"/>
            </a:xfrm>
            <a:custGeom>
              <a:avLst/>
              <a:gdLst/>
              <a:ahLst/>
              <a:cxnLst/>
              <a:rect l="l" t="t" r="r" b="b"/>
              <a:pathLst>
                <a:path w="70295" h="67628">
                  <a:moveTo>
                    <a:pt x="35147" y="67628"/>
                  </a:moveTo>
                  <a:lnTo>
                    <a:pt x="0" y="0"/>
                  </a:lnTo>
                  <a:lnTo>
                    <a:pt x="70295" y="0"/>
                  </a:lnTo>
                  <a:close/>
                </a:path>
              </a:pathLst>
            </a:custGeom>
            <a:solidFill>
              <a:srgbClr val="68778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53225" y="4714875"/>
              <a:ext cx="1924050" cy="409575"/>
            </a:xfrm>
            <a:prstGeom prst="roundRect">
              <a:avLst>
                <a:gd name="adj" fmla="val 16279"/>
              </a:avLst>
            </a:prstGeom>
            <a:solidFill>
              <a:srgbClr val="E8F3FA"/>
            </a:solidFill>
            <a:ln w="9525">
              <a:solidFill>
                <a:srgbClr val="B3CADA"/>
              </a:solidFill>
            </a:ln>
          </p:spPr>
        </p:sp>
        <p:sp>
          <p:nvSpPr>
            <p:cNvPr id="45" name="p07-state-0-3"/>
            <p:cNvSpPr txBox="1">
              <a:spLocks noGrp="1"/>
            </p:cNvSpPr>
            <p:nvPr/>
          </p:nvSpPr>
          <p:spPr>
            <a:xfrm>
              <a:off x="6772275" y="4724400"/>
              <a:ext cx="1885950" cy="390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</m:e>
                      <m:sub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𝐾</m:t>
                        </m:r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sub>
                    </m:sSub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zh-CN" sz="135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ℎ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𝐾</m:t>
                            </m:r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−1,</m:t>
                            </m:r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sub>
                        </m:sSub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46" name="Line 46"/>
            <p:cNvSpPr/>
            <p:nvPr/>
          </p:nvSpPr>
          <p:spPr>
            <a:xfrm>
              <a:off x="7715250" y="5133975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1430">
              <a:solidFill>
                <a:srgbClr val="687785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7680103" y="5342572"/>
              <a:ext cx="70295" cy="67628"/>
            </a:xfrm>
            <a:custGeom>
              <a:avLst/>
              <a:gdLst/>
              <a:ahLst/>
              <a:cxnLst/>
              <a:rect l="l" t="t" r="r" b="b"/>
              <a:pathLst>
                <a:path w="70295" h="67628">
                  <a:moveTo>
                    <a:pt x="35147" y="67628"/>
                  </a:moveTo>
                  <a:lnTo>
                    <a:pt x="0" y="0"/>
                  </a:lnTo>
                  <a:lnTo>
                    <a:pt x="70295" y="0"/>
                  </a:lnTo>
                  <a:close/>
                </a:path>
              </a:pathLst>
            </a:custGeom>
            <a:solidFill>
              <a:srgbClr val="68778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753225" y="5476875"/>
              <a:ext cx="1924050" cy="409575"/>
            </a:xfrm>
            <a:prstGeom prst="roundRect">
              <a:avLst>
                <a:gd name="adj" fmla="val 16279"/>
              </a:avLst>
            </a:prstGeom>
            <a:solidFill>
              <a:srgbClr val="E8F3FA"/>
            </a:solidFill>
            <a:ln w="9525">
              <a:solidFill>
                <a:srgbClr val="B3CADA"/>
              </a:solidFill>
            </a:ln>
          </p:spPr>
        </p:sp>
        <p:sp>
          <p:nvSpPr>
            <p:cNvPr id="49" name="p07-state-0-4"/>
            <p:cNvSpPr txBox="1">
              <a:spLocks noGrp="1"/>
            </p:cNvSpPr>
            <p:nvPr/>
          </p:nvSpPr>
          <p:spPr>
            <a:xfrm>
              <a:off x="6772275" y="5486400"/>
              <a:ext cx="1885950" cy="390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𝑦</m:t>
                    </m:r>
                  </m:oMath>
                </m:oMathPara>
              </a14:m>
              <a:endParaRPr/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420225" y="2428875"/>
              <a:ext cx="1924050" cy="409575"/>
            </a:xfrm>
            <a:prstGeom prst="roundRect">
              <a:avLst>
                <a:gd name="adj" fmla="val 16279"/>
              </a:avLst>
            </a:prstGeom>
            <a:solidFill>
              <a:srgbClr val="FFF3E1"/>
            </a:solidFill>
            <a:ln w="9525">
              <a:solidFill>
                <a:srgbClr val="B3CADA"/>
              </a:solidFill>
            </a:ln>
          </p:spPr>
        </p:sp>
        <p:sp>
          <p:nvSpPr>
            <p:cNvPr id="51" name="p07-state-1-0"/>
            <p:cNvSpPr txBox="1">
              <a:spLocks noGrp="1"/>
            </p:cNvSpPr>
            <p:nvPr/>
          </p:nvSpPr>
          <p:spPr>
            <a:xfrm>
              <a:off x="9439275" y="2438400"/>
              <a:ext cx="1885950" cy="390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acc>
                      <m:accPr>
                        <m:chr m:val="˜"/>
                        <m:ctrlP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accPr>
                      <m:e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e>
                    </m:acc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𝛿</m:t>
                    </m:r>
                  </m:oMath>
                </m:oMathPara>
              </a14:m>
              <a:endParaRPr/>
            </a:p>
          </p:txBody>
        </p:sp>
        <p:sp>
          <p:nvSpPr>
            <p:cNvPr id="52" name="Line 52"/>
            <p:cNvSpPr/>
            <p:nvPr/>
          </p:nvSpPr>
          <p:spPr>
            <a:xfrm>
              <a:off x="10382250" y="2847975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1430">
              <a:solidFill>
                <a:srgbClr val="687785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10347103" y="3056572"/>
              <a:ext cx="70295" cy="67628"/>
            </a:xfrm>
            <a:custGeom>
              <a:avLst/>
              <a:gdLst/>
              <a:ahLst/>
              <a:cxnLst/>
              <a:rect l="l" t="t" r="r" b="b"/>
              <a:pathLst>
                <a:path w="70295" h="67628">
                  <a:moveTo>
                    <a:pt x="35147" y="67628"/>
                  </a:moveTo>
                  <a:lnTo>
                    <a:pt x="0" y="0"/>
                  </a:lnTo>
                  <a:lnTo>
                    <a:pt x="70295" y="0"/>
                  </a:lnTo>
                  <a:close/>
                </a:path>
              </a:pathLst>
            </a:custGeom>
            <a:solidFill>
              <a:srgbClr val="68778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420225" y="3190875"/>
              <a:ext cx="1924050" cy="409575"/>
            </a:xfrm>
            <a:prstGeom prst="roundRect">
              <a:avLst>
                <a:gd name="adj" fmla="val 16279"/>
              </a:avLst>
            </a:prstGeom>
            <a:solidFill>
              <a:srgbClr val="FFF3E1"/>
            </a:solidFill>
            <a:ln w="9525">
              <a:solidFill>
                <a:srgbClr val="B3CADA"/>
              </a:solidFill>
            </a:ln>
          </p:spPr>
        </p:sp>
        <p:sp>
          <p:nvSpPr>
            <p:cNvPr id="55" name="p07-state-1-1"/>
            <p:cNvSpPr txBox="1">
              <a:spLocks noGrp="1"/>
            </p:cNvSpPr>
            <p:nvPr/>
          </p:nvSpPr>
          <p:spPr>
            <a:xfrm>
              <a:off x="9439275" y="3200400"/>
              <a:ext cx="1885950" cy="390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</m:e>
                      <m:sub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1,</m:t>
                        </m:r>
                        <m:acc>
                          <m:accPr>
                            <m:chr m:val="˜"/>
                            <m:ctrlP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e>
                        </m:acc>
                      </m:sub>
                    </m:sSub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0,</m:t>
                        </m:r>
                        <m:acc>
                          <m:accPr>
                            <m:chr m:val="˜"/>
                            <m:ctrlP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56" name="Line 56"/>
            <p:cNvSpPr/>
            <p:nvPr/>
          </p:nvSpPr>
          <p:spPr>
            <a:xfrm>
              <a:off x="10382250" y="3609975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1430">
              <a:solidFill>
                <a:srgbClr val="687785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10347103" y="3818572"/>
              <a:ext cx="70295" cy="67628"/>
            </a:xfrm>
            <a:custGeom>
              <a:avLst/>
              <a:gdLst/>
              <a:ahLst/>
              <a:cxnLst/>
              <a:rect l="l" t="t" r="r" b="b"/>
              <a:pathLst>
                <a:path w="70295" h="67628">
                  <a:moveTo>
                    <a:pt x="35147" y="67628"/>
                  </a:moveTo>
                  <a:lnTo>
                    <a:pt x="0" y="0"/>
                  </a:lnTo>
                  <a:lnTo>
                    <a:pt x="70295" y="0"/>
                  </a:lnTo>
                  <a:close/>
                </a:path>
              </a:pathLst>
            </a:custGeom>
            <a:solidFill>
              <a:srgbClr val="68778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420225" y="3952875"/>
              <a:ext cx="1924050" cy="409575"/>
            </a:xfrm>
            <a:prstGeom prst="roundRect">
              <a:avLst>
                <a:gd name="adj" fmla="val 16279"/>
              </a:avLst>
            </a:prstGeom>
            <a:solidFill>
              <a:srgbClr val="FFF3E1"/>
            </a:solidFill>
            <a:ln w="9525">
              <a:solidFill>
                <a:srgbClr val="B3CADA"/>
              </a:solidFill>
            </a:ln>
          </p:spPr>
        </p:sp>
        <p:sp>
          <p:nvSpPr>
            <p:cNvPr id="59" name="p07-state-1-2"/>
            <p:cNvSpPr txBox="1">
              <a:spLocks noGrp="1"/>
            </p:cNvSpPr>
            <p:nvPr/>
          </p:nvSpPr>
          <p:spPr>
            <a:xfrm>
              <a:off x="9439275" y="3962400"/>
              <a:ext cx="1885950" cy="390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</m:e>
                      <m:sub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2,</m:t>
                        </m:r>
                        <m:acc>
                          <m:accPr>
                            <m:chr m:val="˜"/>
                            <m:ctrlP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e>
                        </m:acc>
                      </m:sub>
                    </m:sSub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zh-CN" sz="135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ℎ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1,</m:t>
                            </m:r>
                            <m:acc>
                              <m:accPr>
                                <m:chr m:val="˜"/>
                                <m:ctrlPr>
                                  <a:rPr lang="zh-CN" sz="13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𝑥</m:t>
                                </m:r>
                              </m:e>
                            </m:acc>
                          </m:sub>
                        </m:sSub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acc>
                          <m:accPr>
                            <m:chr m:val="˜"/>
                            <m:ctrlP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60" name="Line 60"/>
            <p:cNvSpPr/>
            <p:nvPr/>
          </p:nvSpPr>
          <p:spPr>
            <a:xfrm>
              <a:off x="10382250" y="4371975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1430">
              <a:solidFill>
                <a:srgbClr val="687785"/>
              </a:solidFill>
            </a:ln>
          </p:spPr>
        </p:sp>
        <p:sp>
          <p:nvSpPr>
            <p:cNvPr id="61" name="Polygon 61"/>
            <p:cNvSpPr/>
            <p:nvPr/>
          </p:nvSpPr>
          <p:spPr>
            <a:xfrm>
              <a:off x="10347103" y="4580572"/>
              <a:ext cx="70295" cy="67628"/>
            </a:xfrm>
            <a:custGeom>
              <a:avLst/>
              <a:gdLst/>
              <a:ahLst/>
              <a:cxnLst/>
              <a:rect l="l" t="t" r="r" b="b"/>
              <a:pathLst>
                <a:path w="70295" h="67628">
                  <a:moveTo>
                    <a:pt x="35147" y="67628"/>
                  </a:moveTo>
                  <a:lnTo>
                    <a:pt x="0" y="0"/>
                  </a:lnTo>
                  <a:lnTo>
                    <a:pt x="70295" y="0"/>
                  </a:lnTo>
                  <a:close/>
                </a:path>
              </a:pathLst>
            </a:custGeom>
            <a:solidFill>
              <a:srgbClr val="68778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420225" y="4714875"/>
              <a:ext cx="1924050" cy="409575"/>
            </a:xfrm>
            <a:prstGeom prst="roundRect">
              <a:avLst>
                <a:gd name="adj" fmla="val 16279"/>
              </a:avLst>
            </a:prstGeom>
            <a:solidFill>
              <a:srgbClr val="FFF3E1"/>
            </a:solidFill>
            <a:ln w="9525">
              <a:solidFill>
                <a:srgbClr val="B3CADA"/>
              </a:solidFill>
            </a:ln>
          </p:spPr>
        </p:sp>
        <p:sp>
          <p:nvSpPr>
            <p:cNvPr id="63" name="p07-state-1-3"/>
            <p:cNvSpPr txBox="1">
              <a:spLocks noGrp="1"/>
            </p:cNvSpPr>
            <p:nvPr/>
          </p:nvSpPr>
          <p:spPr>
            <a:xfrm>
              <a:off x="9439275" y="4724400"/>
              <a:ext cx="1885950" cy="390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</m:e>
                      <m:sub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𝐾</m:t>
                        </m:r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acc>
                          <m:accPr>
                            <m:chr m:val="˜"/>
                            <m:ctrlP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e>
                        </m:acc>
                      </m:sub>
                    </m:sSub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zh-CN" sz="13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𝑓</m:t>
                    </m:r>
                    <m:d>
                      <m:dPr>
                        <m:ctrlPr>
                          <a:rPr lang="zh-CN" sz="135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ℎ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𝐾</m:t>
                            </m:r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−1,</m:t>
                            </m:r>
                            <m:acc>
                              <m:accPr>
                                <m:chr m:val="˜"/>
                                <m:ctrlPr>
                                  <a:rPr lang="zh-CN" sz="13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3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𝑥</m:t>
                                </m:r>
                              </m:e>
                            </m:acc>
                          </m:sub>
                        </m:sSub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acc>
                          <m:accPr>
                            <m:chr m:val="˜"/>
                            <m:ctrlP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13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64" name="Line 64"/>
            <p:cNvSpPr/>
            <p:nvPr/>
          </p:nvSpPr>
          <p:spPr>
            <a:xfrm>
              <a:off x="10382250" y="5133975"/>
              <a:ext cx="9525" cy="276225"/>
            </a:xfrm>
            <a:custGeom>
              <a:avLst/>
              <a:gdLst/>
              <a:ahLst/>
              <a:cxnLst/>
              <a:rect l="l" t="t" r="r" b="b"/>
              <a:pathLst>
                <a:path w="9525" h="276225">
                  <a:moveTo>
                    <a:pt x="0" y="0"/>
                  </a:moveTo>
                  <a:lnTo>
                    <a:pt x="0" y="276225"/>
                  </a:lnTo>
                </a:path>
              </a:pathLst>
            </a:custGeom>
            <a:noFill/>
            <a:ln w="11430">
              <a:solidFill>
                <a:srgbClr val="687785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10347103" y="5342572"/>
              <a:ext cx="70295" cy="67628"/>
            </a:xfrm>
            <a:custGeom>
              <a:avLst/>
              <a:gdLst/>
              <a:ahLst/>
              <a:cxnLst/>
              <a:rect l="l" t="t" r="r" b="b"/>
              <a:pathLst>
                <a:path w="70295" h="67628">
                  <a:moveTo>
                    <a:pt x="35147" y="67628"/>
                  </a:moveTo>
                  <a:lnTo>
                    <a:pt x="0" y="0"/>
                  </a:lnTo>
                  <a:lnTo>
                    <a:pt x="70295" y="0"/>
                  </a:lnTo>
                  <a:close/>
                </a:path>
              </a:pathLst>
            </a:custGeom>
            <a:solidFill>
              <a:srgbClr val="68778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420225" y="5476875"/>
              <a:ext cx="1924050" cy="409575"/>
            </a:xfrm>
            <a:prstGeom prst="roundRect">
              <a:avLst>
                <a:gd name="adj" fmla="val 16279"/>
              </a:avLst>
            </a:prstGeom>
            <a:solidFill>
              <a:srgbClr val="FFF3E1"/>
            </a:solidFill>
            <a:ln w="9525">
              <a:solidFill>
                <a:srgbClr val="B3CADA"/>
              </a:solidFill>
            </a:ln>
          </p:spPr>
        </p:sp>
        <p:sp>
          <p:nvSpPr>
            <p:cNvPr id="67" name="p07-state-1-4"/>
            <p:cNvSpPr txBox="1">
              <a:spLocks noGrp="1"/>
            </p:cNvSpPr>
            <p:nvPr/>
          </p:nvSpPr>
          <p:spPr>
            <a:xfrm>
              <a:off x="9439275" y="5486400"/>
              <a:ext cx="1885950" cy="3905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acc>
                      <m:accPr>
                        <m:chr m:val="˜"/>
                        <m:ctrlP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accPr>
                      <m:e>
                        <m:r>
                          <a:rPr lang="zh-CN" sz="13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𝑦</m:t>
                        </m:r>
                      </m:e>
                    </m:acc>
                  </m:oMath>
                </m:oMathPara>
              </a14:m>
              <a:endParaRPr/>
            </a:p>
          </p:txBody>
        </p:sp>
        <p:sp>
          <p:nvSpPr>
            <p:cNvPr id="68" name="Line 68"/>
            <p:cNvSpPr/>
            <p:nvPr/>
          </p:nvSpPr>
          <p:spPr>
            <a:xfrm>
              <a:off x="8686800" y="34004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2382">
              <a:solidFill>
                <a:srgbClr val="168CC2"/>
              </a:solidFill>
              <a:custDash>
                <a:ds d="384615" sp="307692"/>
              </a:custDash>
            </a:ln>
          </p:spPr>
        </p:sp>
        <p:sp>
          <p:nvSpPr>
            <p:cNvPr id="69" name="p07-step-difference-1"/>
            <p:cNvSpPr txBox="1">
              <a:spLocks noGrp="1"/>
            </p:cNvSpPr>
            <p:nvPr/>
          </p:nvSpPr>
          <p:spPr>
            <a:xfrm>
              <a:off x="8763000" y="3038475"/>
              <a:ext cx="57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1420" dirty="0">
                            <a:solidFill>
                              <a:srgbClr val="03567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1420" dirty="0">
                            <a:solidFill>
                              <a:srgbClr val="03567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𝜀</m:t>
                        </m:r>
                      </m:e>
                      <m:sub>
                        <m:r>
                          <a:rPr lang="zh-CN" sz="1420" dirty="0">
                            <a:solidFill>
                              <a:srgbClr val="03567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sub>
                    </m:sSub>
                  </m:oMath>
                </m:oMathPara>
              </a14:m>
              <a:endParaRPr dirty="0"/>
            </a:p>
          </p:txBody>
        </p:sp>
        <p:sp>
          <p:nvSpPr>
            <p:cNvPr id="70" name="Line 70"/>
            <p:cNvSpPr/>
            <p:nvPr/>
          </p:nvSpPr>
          <p:spPr>
            <a:xfrm>
              <a:off x="8686800" y="41624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2382">
              <a:solidFill>
                <a:srgbClr val="168CC2"/>
              </a:solidFill>
              <a:custDash>
                <a:ds d="384615" sp="307692"/>
              </a:custDash>
            </a:ln>
          </p:spPr>
        </p:sp>
        <p:sp>
          <p:nvSpPr>
            <p:cNvPr id="71" name="p07-step-difference-2"/>
            <p:cNvSpPr txBox="1">
              <a:spLocks noGrp="1"/>
            </p:cNvSpPr>
            <p:nvPr/>
          </p:nvSpPr>
          <p:spPr>
            <a:xfrm>
              <a:off x="8763000" y="3800475"/>
              <a:ext cx="57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1420" dirty="0">
                            <a:solidFill>
                              <a:srgbClr val="03567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1420" dirty="0">
                            <a:solidFill>
                              <a:srgbClr val="03567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𝜀</m:t>
                        </m:r>
                      </m:e>
                      <m:sub>
                        <m:r>
                          <a:rPr lang="zh-CN" sz="1420" dirty="0">
                            <a:solidFill>
                              <a:srgbClr val="03567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sub>
                    </m:sSub>
                  </m:oMath>
                </m:oMathPara>
              </a14:m>
              <a:endParaRPr/>
            </a:p>
          </p:txBody>
        </p:sp>
        <p:sp>
          <p:nvSpPr>
            <p:cNvPr id="72" name="Line 72"/>
            <p:cNvSpPr/>
            <p:nvPr/>
          </p:nvSpPr>
          <p:spPr>
            <a:xfrm>
              <a:off x="8686800" y="49244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2382">
              <a:solidFill>
                <a:srgbClr val="168CC2"/>
              </a:solidFill>
              <a:custDash>
                <a:ds d="384615" sp="307692"/>
              </a:custDash>
            </a:ln>
          </p:spPr>
        </p:sp>
        <p:sp>
          <p:nvSpPr>
            <p:cNvPr id="73" name="p07-step-difference-3"/>
            <p:cNvSpPr txBox="1">
              <a:spLocks noGrp="1"/>
            </p:cNvSpPr>
            <p:nvPr/>
          </p:nvSpPr>
          <p:spPr>
            <a:xfrm>
              <a:off x="8763000" y="4562475"/>
              <a:ext cx="571500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1420" dirty="0">
                            <a:solidFill>
                              <a:srgbClr val="03567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1420" dirty="0">
                            <a:solidFill>
                              <a:srgbClr val="03567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𝜀</m:t>
                        </m:r>
                      </m:e>
                      <m:sub>
                        <m:r>
                          <a:rPr lang="zh-CN" sz="1420" dirty="0">
                            <a:solidFill>
                              <a:srgbClr val="035679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𝐾</m:t>
                        </m:r>
                      </m:sub>
                    </m:sSub>
                  </m:oMath>
                </m:oMathPara>
              </a14:m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940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CE581-5BE6-622B-18E7-389DF23A7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485614" y="423862"/>
            <a:ext cx="2761678" cy="507968"/>
          </a:xfrm>
          <a:prstGeom prst="rect">
            <a:avLst/>
          </a:prstGeom>
          <a:noFill/>
          <a:ln>
            <a:noFill/>
          </a:ln>
        </p:spPr>
        <p:txBody>
          <a:bodyPr wrap="none" lIns="191" tIns="58406" rIns="0" bIns="0" anchor="t" anchorCtr="0">
            <a:noAutofit/>
          </a:bodyPr>
          <a:lstStyle/>
          <a:p>
            <a:pPr algn="ctr"/>
            <a:r>
              <a:rPr lang="zh-CN" sz="202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输出波动的上界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C0F3F4-7AD6-0811-D33A-B60387B876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004A2A-EF43-E9C8-9209-46049B4B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08-title"/>
          <p:cNvGrpSpPr/>
          <p:nvPr/>
        </p:nvGrpSpPr>
        <p:grpSpPr>
          <a:xfrm>
            <a:off x="792861" y="1174750"/>
            <a:ext cx="6402172" cy="645414"/>
            <a:chOff x="792861" y="1174750"/>
            <a:chExt cx="6402172" cy="645414"/>
          </a:xfrm>
        </p:grpSpPr>
        <p:sp>
          <p:nvSpPr>
            <p:cNvPr id="8" name="TextBox 8"/>
            <p:cNvSpPr txBox="1"/>
            <p:nvPr/>
          </p:nvSpPr>
          <p:spPr>
            <a:xfrm>
              <a:off x="792861" y="1174750"/>
              <a:ext cx="64021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用 Lipschitz 条件约束扰动传播</a:t>
              </a:r>
            </a:p>
          </p:txBody>
        </p:sp>
      </p:grpSp>
      <p:grpSp>
        <p:nvGrpSpPr>
          <p:cNvPr id="17" name="p08-assumption"/>
          <p:cNvGrpSpPr/>
          <p:nvPr/>
        </p:nvGrpSpPr>
        <p:grpSpPr>
          <a:xfrm>
            <a:off x="809625" y="1943100"/>
            <a:ext cx="10572750" cy="1943100"/>
            <a:chOff x="809625" y="1943100"/>
            <a:chExt cx="10572750" cy="1943100"/>
          </a:xfrm>
        </p:grpSpPr>
        <p:sp>
          <p:nvSpPr>
            <p:cNvPr id="10" name="Rectangle 10"/>
            <p:cNvSpPr/>
            <p:nvPr/>
          </p:nvSpPr>
          <p:spPr>
            <a:xfrm>
              <a:off x="809625" y="1943100"/>
              <a:ext cx="10572750" cy="1943100"/>
            </a:xfrm>
            <a:prstGeom prst="roundRect">
              <a:avLst>
                <a:gd name="adj" fmla="val 3922"/>
              </a:avLst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7082" y="205105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假设：状态变化与输入变化的影响受常数约束。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8987" y="2489200"/>
              <a:ext cx="489114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对给定的双变量函数 f(h,x)，存在常数 C、γ：</a:t>
              </a:r>
            </a:p>
          </p:txBody>
        </p:sp>
        <p:sp>
          <p:nvSpPr>
            <p:cNvPr id="13" name="p08-lipschitz"/>
            <p:cNvSpPr txBox="1">
              <a:spLocks noGrp="1"/>
            </p:cNvSpPr>
            <p:nvPr/>
          </p:nvSpPr>
          <p:spPr>
            <a:xfrm>
              <a:off x="1000125" y="2819400"/>
              <a:ext cx="695325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d>
                      <m:dPr>
                        <m:begChr m:val="‖"/>
                        <m:endChr m:val="‖"/>
                        <m:ctrlP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zh-CN" sz="2020" i="1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zh-CN" sz="2020" i="1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ℎ</m:t>
                                </m:r>
                              </m:e>
                              <m:sub>
                                <m: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sz="20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zh-CN" sz="20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≤</m:t>
                    </m:r>
                    <m:r>
                      <a:rPr lang="zh-CN" sz="20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𝛾</m:t>
                    </m:r>
                    <m:d>
                      <m:dPr>
                        <m:begChr m:val="‖"/>
                        <m:endChr m:val="‖"/>
                        <m:ctrlPr>
                          <a:rPr lang="zh-CN" sz="202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ℎ</m:t>
                            </m:r>
                          </m:e>
                          <m:sub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ℎ</m:t>
                            </m:r>
                          </m:e>
                          <m:sub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zh-CN" sz="20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r>
                      <a:rPr lang="zh-CN" sz="20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𝐶</m:t>
                    </m:r>
                    <m:d>
                      <m:dPr>
                        <m:begChr m:val="‖"/>
                        <m:endChr m:val="‖"/>
                        <m:ctrlPr>
                          <a:rPr lang="zh-CN" sz="202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14" name="Line 14"/>
            <p:cNvSpPr/>
            <p:nvPr/>
          </p:nvSpPr>
          <p:spPr>
            <a:xfrm>
              <a:off x="8191500" y="2295525"/>
              <a:ext cx="9525" cy="1314450"/>
            </a:xfrm>
            <a:custGeom>
              <a:avLst/>
              <a:gdLst/>
              <a:ahLst/>
              <a:cxnLst/>
              <a:rect l="l" t="t" r="r" b="b"/>
              <a:pathLst>
                <a:path w="9525" h="1314450">
                  <a:moveTo>
                    <a:pt x="0" y="0"/>
                  </a:moveTo>
                  <a:lnTo>
                    <a:pt x="0" y="1314450"/>
                  </a:lnTo>
                </a:path>
              </a:pathLst>
            </a:custGeom>
            <a:noFill/>
            <a:ln w="9525">
              <a:solidFill>
                <a:srgbClr val="A9C5D7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68487" y="2289175"/>
              <a:ext cx="1891195" cy="632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7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γ：隐藏状态差异的</a:t>
              </a:r>
              <a:br>
                <a:rPr lang="zh-CN" sz="17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7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传播系数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68487" y="3089275"/>
              <a:ext cx="224273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C：输入变化的敏感度</a:t>
              </a:r>
            </a:p>
          </p:txBody>
        </p:sp>
      </p:grpSp>
      <p:grpSp>
        <p:nvGrpSpPr>
          <p:cNvPr id="24" name="p08-theorem"/>
          <p:cNvGrpSpPr/>
          <p:nvPr/>
        </p:nvGrpSpPr>
        <p:grpSpPr>
          <a:xfrm>
            <a:off x="809625" y="4095750"/>
            <a:ext cx="10572750" cy="2177352"/>
            <a:chOff x="809625" y="4095750"/>
            <a:chExt cx="10572750" cy="2177352"/>
          </a:xfrm>
        </p:grpSpPr>
        <p:sp>
          <p:nvSpPr>
            <p:cNvPr id="18" name="Rectangle 18"/>
            <p:cNvSpPr/>
            <p:nvPr/>
          </p:nvSpPr>
          <p:spPr>
            <a:xfrm>
              <a:off x="809625" y="4095750"/>
              <a:ext cx="10572750" cy="2095500"/>
            </a:xfrm>
            <a:prstGeom prst="roundRect">
              <a:avLst>
                <a:gd name="adj" fmla="val 3636"/>
              </a:avLst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7082" y="4222750"/>
              <a:ext cx="54402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定理 1：第 K 步的输出波动满足以下上界。</a:t>
              </a:r>
            </a:p>
          </p:txBody>
        </p:sp>
        <p:sp>
          <p:nvSpPr>
            <p:cNvPr id="20" name="p08-bound"/>
            <p:cNvSpPr txBox="1">
              <a:spLocks noGrp="1"/>
            </p:cNvSpPr>
            <p:nvPr/>
          </p:nvSpPr>
          <p:spPr>
            <a:xfrm>
              <a:off x="952500" y="4667250"/>
              <a:ext cx="7048500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d>
                      <m:dPr>
                        <m:begChr m:val="‖"/>
                        <m:endChr m:val="‖"/>
                        <m:ctrlPr>
                          <a:rPr lang="zh-CN" sz="262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𝐾</m:t>
                            </m:r>
                          </m:sub>
                        </m:sSub>
                      </m:e>
                    </m:d>
                    <m:r>
                      <a:rPr lang="zh-CN" sz="26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≤</m:t>
                    </m:r>
                    <m:d>
                      <m:dPr>
                        <m:ctrlPr>
                          <a:rPr lang="zh-CN" sz="26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6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𝐴</m:t>
                        </m:r>
                        <m:sSup>
                          <m:sSupPr>
                            <m:ctrlP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e>
                          <m:sup>
                            <m: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𝐾</m:t>
                            </m:r>
                          </m:sup>
                        </m:sSup>
                        <m:r>
                          <a:rPr lang="zh-CN" sz="26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ctrlP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𝐶</m:t>
                            </m:r>
                          </m:num>
                          <m:den>
                            <m: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den>
                        </m:f>
                        <m:d>
                          <m:dPr>
                            <m:ctrlP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6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sz="26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pPr>
                              <m:e>
                                <m:r>
                                  <a:rPr lang="zh-CN" sz="26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𝛾</m:t>
                                </m:r>
                              </m:e>
                              <m:sup>
                                <m:r>
                                  <a:rPr lang="zh-CN" sz="262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𝐾</m:t>
                                </m:r>
                              </m:sup>
                            </m:sSup>
                          </m:e>
                        </m:d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zh-CN" sz="26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6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𝛿</m:t>
                        </m:r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21" name="p08-initial-coefficient"/>
            <p:cNvSpPr txBox="1">
              <a:spLocks noGrp="1"/>
            </p:cNvSpPr>
            <p:nvPr/>
          </p:nvSpPr>
          <p:spPr>
            <a:xfrm>
              <a:off x="1047750" y="5381625"/>
              <a:ext cx="4381500" cy="590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l"/>
              <a14:m xmlns:a14="http://schemas.microsoft.com/office/drawing/2010/main">
                <m:oMathPara xmlns:m="http://schemas.openxmlformats.org/officeDocument/2006/math">
                  <m:oMathParaPr>
                    <m:jc m:val="left"/>
                  </m:oMathParaPr>
                  <m:oMath>
                    <m:r>
                      <a:rPr lang="zh-CN" sz="18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𝐴</m:t>
                    </m:r>
                    <m:r>
                      <a:rPr lang="zh-CN" sz="18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unc>
                      <m:funcPr>
                        <m:ctrlPr>
                          <a:rPr lang="zh-CN" sz="18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max</m:t>
                        </m:r>
                      </m:fName>
                      <m:e>
                        <m:f>
                          <m:fPr>
                            <m:ctrlPr>
                              <a:rPr lang="zh-CN" sz="1800" i="1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sz="1800" i="1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sz="180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sz="180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zh-CN" sz="180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sz="180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80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𝛿</m:t>
                                </m:r>
                              </m:e>
                            </m:d>
                          </m:den>
                        </m:f>
                      </m:e>
                    </m:func>
                  </m:oMath>
                </m:oMathPara>
              </a14:m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9561" y="5994400"/>
              <a:ext cx="36270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A 表示初始输出差异相对输入扰动的常数。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6750" y="4778690"/>
              <a:ext cx="2905125" cy="1120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7656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99473-03CF-AED2-8170-2F147084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485614" y="423862"/>
            <a:ext cx="2761678" cy="507968"/>
          </a:xfrm>
          <a:prstGeom prst="rect">
            <a:avLst/>
          </a:prstGeom>
          <a:noFill/>
          <a:ln>
            <a:noFill/>
          </a:ln>
        </p:spPr>
        <p:txBody>
          <a:bodyPr wrap="none" lIns="191" tIns="58406" rIns="0" bIns="0" anchor="t" anchorCtr="0">
            <a:noAutofit/>
          </a:bodyPr>
          <a:lstStyle/>
          <a:p>
            <a:pPr algn="ctr"/>
            <a:r>
              <a:rPr lang="zh-CN" sz="202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输出波动的上界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2D461C3-A26D-870D-A7C2-C95E652E05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E91BE2-7923-B74F-E363-E80F0EC0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09-title"/>
          <p:cNvGrpSpPr/>
          <p:nvPr/>
        </p:nvGrpSpPr>
        <p:grpSpPr>
          <a:xfrm>
            <a:off x="792861" y="1174750"/>
            <a:ext cx="7141464" cy="645414"/>
            <a:chOff x="792861" y="1174750"/>
            <a:chExt cx="7141464" cy="645414"/>
          </a:xfrm>
        </p:grpSpPr>
        <p:sp>
          <p:nvSpPr>
            <p:cNvPr id="8" name="TextBox 8"/>
            <p:cNvSpPr txBox="1"/>
            <p:nvPr/>
          </p:nvSpPr>
          <p:spPr>
            <a:xfrm>
              <a:off x="792861" y="117475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输出波动上界由衰减项与累积项组成</a:t>
              </a:r>
            </a:p>
          </p:txBody>
        </p:sp>
      </p:grpSp>
      <p:grpSp>
        <p:nvGrpSpPr>
          <p:cNvPr id="20" name="p09-bound-analysis"/>
          <p:cNvGrpSpPr/>
          <p:nvPr/>
        </p:nvGrpSpPr>
        <p:grpSpPr>
          <a:xfrm>
            <a:off x="846201" y="1857375"/>
            <a:ext cx="10488549" cy="4436364"/>
            <a:chOff x="846201" y="1857375"/>
            <a:chExt cx="10488549" cy="4436364"/>
          </a:xfrm>
        </p:grpSpPr>
        <p:sp>
          <p:nvSpPr>
            <p:cNvPr id="10" name="p09-bound"/>
            <p:cNvSpPr txBox="1">
              <a:spLocks noGrp="1"/>
            </p:cNvSpPr>
            <p:nvPr/>
          </p:nvSpPr>
          <p:spPr>
            <a:xfrm>
              <a:off x="857250" y="1857375"/>
              <a:ext cx="10477500" cy="10953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d>
                      <m:dPr>
                        <m:begChr m:val="‖"/>
                        <m:endChr m:val="‖"/>
                        <m:ctrlPr>
                          <a:rPr lang="zh-CN" sz="330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𝐾</m:t>
                            </m:r>
                          </m:sub>
                        </m:sSub>
                      </m:e>
                    </m:d>
                    <m:r>
                      <a:rPr lang="zh-CN" sz="33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≤</m:t>
                    </m:r>
                    <m:d>
                      <m:dPr>
                        <m:ctrlPr>
                          <a:rPr lang="zh-CN" sz="33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33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𝐴</m:t>
                        </m:r>
                        <m:sSup>
                          <m:sSupPr>
                            <m:ctrlP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e>
                          <m:sup>
                            <m: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𝐾</m:t>
                            </m:r>
                          </m:sup>
                        </m:sSup>
                        <m:r>
                          <a:rPr lang="zh-CN" sz="33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ctrlP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𝐶</m:t>
                            </m:r>
                          </m:num>
                          <m:den>
                            <m: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den>
                        </m:f>
                        <m:d>
                          <m:dPr>
                            <m:ctrlP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33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sz="330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pPr>
                              <m:e>
                                <m:r>
                                  <a:rPr lang="zh-CN" sz="330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𝛾</m:t>
                                </m:r>
                              </m:e>
                              <m:sup>
                                <m:r>
                                  <a:rPr lang="zh-CN" sz="330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𝐾</m:t>
                                </m:r>
                              </m:sup>
                            </m:sSup>
                          </m:e>
                        </m:d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zh-CN" sz="33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33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𝛿</m:t>
                        </m:r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952875" y="3076575"/>
              <a:ext cx="1428750" cy="419100"/>
            </a:xfrm>
            <a:prstGeom prst="roundRect">
              <a:avLst>
                <a:gd name="adj" fmla="val 15909"/>
              </a:avLst>
            </a:prstGeom>
            <a:solidFill>
              <a:srgbClr val="E8F3FA"/>
            </a:solidFill>
            <a:ln w="9525">
              <a:solidFill>
                <a:srgbClr val="03567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132326" y="3121025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初值影响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10375" y="3076575"/>
              <a:ext cx="2143125" cy="419100"/>
            </a:xfrm>
            <a:prstGeom prst="roundRect">
              <a:avLst>
                <a:gd name="adj" fmla="val 15909"/>
              </a:avLst>
            </a:prstGeom>
            <a:solidFill>
              <a:srgbClr val="E8F3FA"/>
            </a:solidFill>
            <a:ln w="9525">
              <a:solidFill>
                <a:srgbClr val="03567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89267" y="3121025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输入扰动累积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6963" y="3673475"/>
              <a:ext cx="395795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将括号内的系数记为 Bₖ，可写为</a:t>
              </a:r>
            </a:p>
          </p:txBody>
        </p:sp>
        <p:sp>
          <p:nvSpPr>
            <p:cNvPr id="16" name="p09-coefficient"/>
            <p:cNvSpPr txBox="1">
              <a:spLocks noGrp="1"/>
            </p:cNvSpPr>
            <p:nvPr/>
          </p:nvSpPr>
          <p:spPr>
            <a:xfrm>
              <a:off x="1905000" y="4019550"/>
              <a:ext cx="8382000" cy="981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𝐵</m:t>
                        </m:r>
                      </m:e>
                      <m:sub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𝐾</m:t>
                        </m:r>
                      </m:sub>
                    </m:sSub>
                    <m:r>
                      <a:rPr lang="zh-CN" sz="28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𝐶</m:t>
                        </m:r>
                      </m:num>
                      <m:den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1−</m:t>
                        </m:r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𝛾</m:t>
                        </m:r>
                      </m:den>
                    </m:f>
                    <m:r>
                      <a:rPr lang="zh-CN" sz="28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d>
                      <m:dPr>
                        <m:ctrlP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𝐴</m:t>
                        </m:r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𝐶</m:t>
                            </m:r>
                          </m:num>
                          <m:den>
                            <m: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𝛾</m:t>
                        </m:r>
                      </m:e>
                      <m:sup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𝐾</m:t>
                        </m:r>
                      </m:sup>
                    </m:sSup>
                  </m:oMath>
                </m:oMathPara>
              </a14:m>
              <a:endParaRPr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7344" y="5054600"/>
              <a:ext cx="45603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当 0 &lt; γ &lt; 1 时，Bₖ 收敛到 C/(1−γ)。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7344" y="5454650"/>
              <a:ext cx="63216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是否随 K 下降，还取决于 A 与 C/(1−γ) 的大小关系。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6201" y="5867400"/>
              <a:ext cx="735888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增加步数可衰减初值影响，但不能无条件保证上界下降。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143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EA650-9BE0-34AE-9CA4-692A1DBA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485614" y="423862"/>
            <a:ext cx="2761678" cy="507968"/>
          </a:xfrm>
          <a:prstGeom prst="rect">
            <a:avLst/>
          </a:prstGeom>
          <a:noFill/>
          <a:ln>
            <a:noFill/>
          </a:ln>
        </p:spPr>
        <p:txBody>
          <a:bodyPr wrap="none" lIns="191" tIns="58406" rIns="0" bIns="0" anchor="t" anchorCtr="0">
            <a:noAutofit/>
          </a:bodyPr>
          <a:lstStyle/>
          <a:p>
            <a:pPr algn="ctr"/>
            <a:r>
              <a:rPr lang="zh-CN" sz="202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输入扰动的保证范围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BFCEF1-4574-FA0A-9D71-422172B373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77B6E3-E625-0A86-D58C-37906B5C4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10-title"/>
          <p:cNvGrpSpPr/>
          <p:nvPr/>
        </p:nvGrpSpPr>
        <p:grpSpPr>
          <a:xfrm>
            <a:off x="792861" y="1174750"/>
            <a:ext cx="7141464" cy="645414"/>
            <a:chOff x="792861" y="1174750"/>
            <a:chExt cx="7141464" cy="645414"/>
          </a:xfrm>
        </p:grpSpPr>
        <p:sp>
          <p:nvSpPr>
            <p:cNvPr id="8" name="TextBox 8"/>
            <p:cNvSpPr txBox="1"/>
            <p:nvPr/>
          </p:nvSpPr>
          <p:spPr>
            <a:xfrm>
              <a:off x="792861" y="117475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理论保证的扰动半径受模型参数约束</a:t>
              </a:r>
            </a:p>
          </p:txBody>
        </p:sp>
      </p:grpSp>
      <p:grpSp>
        <p:nvGrpSpPr>
          <p:cNvPr id="27" name="p10-guaranteed-radius"/>
          <p:cNvGrpSpPr/>
          <p:nvPr/>
        </p:nvGrpSpPr>
        <p:grpSpPr>
          <a:xfrm>
            <a:off x="809625" y="1933575"/>
            <a:ext cx="10572750" cy="4421950"/>
            <a:chOff x="809625" y="1933575"/>
            <a:chExt cx="10572750" cy="4421950"/>
          </a:xfrm>
        </p:grpSpPr>
        <p:sp>
          <p:nvSpPr>
            <p:cNvPr id="10" name="Ellipse 10"/>
            <p:cNvSpPr/>
            <p:nvPr/>
          </p:nvSpPr>
          <p:spPr>
            <a:xfrm>
              <a:off x="857250" y="2076450"/>
              <a:ext cx="419100" cy="419100"/>
            </a:xfrm>
            <a:prstGeom prst="ellipse">
              <a:avLst/>
            </a:prstGeom>
            <a:solidFill>
              <a:srgbClr val="03567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4197" y="2133600"/>
              <a:ext cx="16520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38275" y="2028825"/>
              <a:ext cx="4429125" cy="762000"/>
            </a:xfrm>
            <a:prstGeom prst="rect">
              <a:avLst/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08582" y="213677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允许输出误差</a:t>
              </a:r>
            </a:p>
          </p:txBody>
        </p:sp>
        <p:sp>
          <p:nvSpPr>
            <p:cNvPr id="14" name="p10-radius-0"/>
            <p:cNvSpPr txBox="1">
              <a:spLocks noGrp="1"/>
            </p:cNvSpPr>
            <p:nvPr/>
          </p:nvSpPr>
          <p:spPr>
            <a:xfrm>
              <a:off x="6286500" y="1933575"/>
              <a:ext cx="4905375" cy="952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d>
                      <m:dPr>
                        <m:begChr m:val="‖"/>
                        <m:endChr m:val="‖"/>
                        <m:ctrlP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𝜀</m:t>
                        </m:r>
                      </m:e>
                    </m:d>
                    <m:r>
                      <a:rPr lang="zh-CN" sz="28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≤</m:t>
                    </m:r>
                    <m:r>
                      <a:rPr lang="zh-CN" sz="28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𝑅</m:t>
                    </m:r>
                  </m:oMath>
                </m:oMathPara>
              </a14:m>
              <a:endParaRPr/>
            </a:p>
          </p:txBody>
        </p:sp>
        <p:sp>
          <p:nvSpPr>
            <p:cNvPr id="15" name="Ellipse 15"/>
            <p:cNvSpPr/>
            <p:nvPr/>
          </p:nvSpPr>
          <p:spPr>
            <a:xfrm>
              <a:off x="857250" y="3209925"/>
              <a:ext cx="419100" cy="419100"/>
            </a:xfrm>
            <a:prstGeom prst="ellipse">
              <a:avLst/>
            </a:prstGeom>
            <a:solidFill>
              <a:srgbClr val="03567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4197" y="3267075"/>
              <a:ext cx="16520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438275" y="3162300"/>
              <a:ext cx="4429125" cy="1323975"/>
            </a:xfrm>
            <a:prstGeom prst="rect">
              <a:avLst/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08582" y="3257550"/>
              <a:ext cx="2842355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zh-CN" sz="21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由定理1，可得到充分的</a:t>
              </a:r>
              <a:br>
                <a:rPr lang="zh-CN" sz="21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21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扰动保证范围。</a:t>
              </a:r>
            </a:p>
          </p:txBody>
        </p:sp>
        <p:sp>
          <p:nvSpPr>
            <p:cNvPr id="19" name="p10-radius-1"/>
            <p:cNvSpPr txBox="1">
              <a:spLocks noGrp="1"/>
            </p:cNvSpPr>
            <p:nvPr/>
          </p:nvSpPr>
          <p:spPr>
            <a:xfrm>
              <a:off x="6286500" y="3067050"/>
              <a:ext cx="4905375" cy="1514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d>
                      <m:dPr>
                        <m:begChr m:val="‖"/>
                        <m:endChr m:val="‖"/>
                        <m:ctrlP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𝛿</m:t>
                        </m:r>
                      </m:e>
                    </m:d>
                    <m:r>
                      <a:rPr lang="zh-CN" sz="28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≤</m:t>
                    </m:r>
                    <m:f>
                      <m:fPr>
                        <m:ctrlP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𝑅</m:t>
                        </m:r>
                      </m:num>
                      <m:den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𝐴</m:t>
                        </m:r>
                        <m:sSup>
                          <m:sSupPr>
                            <m:ctrlP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e>
                          <m:sup>
                            <m: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𝐾</m:t>
                            </m:r>
                          </m:sup>
                        </m:sSup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ctrlP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𝐶</m:t>
                            </m:r>
                          </m:num>
                          <m:den>
                            <m: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den>
                        </m:f>
                        <m:d>
                          <m:dPr>
                            <m:ctrlP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sz="28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pPr>
                              <m:e>
                                <m:r>
                                  <a:rPr lang="zh-CN" sz="28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𝛾</m:t>
                                </m:r>
                              </m:e>
                              <m:sup>
                                <m:r>
                                  <a:rPr lang="zh-CN" sz="28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𝐾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m:oMathPara>
              </a14:m>
              <a:endParaRPr/>
            </a:p>
          </p:txBody>
        </p:sp>
        <p:sp>
          <p:nvSpPr>
            <p:cNvPr id="20" name="Ellipse 20"/>
            <p:cNvSpPr/>
            <p:nvPr/>
          </p:nvSpPr>
          <p:spPr>
            <a:xfrm>
              <a:off x="857250" y="4914900"/>
              <a:ext cx="419100" cy="419100"/>
            </a:xfrm>
            <a:prstGeom prst="ellipse">
              <a:avLst/>
            </a:prstGeom>
            <a:solidFill>
              <a:srgbClr val="03567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84197" y="4972050"/>
              <a:ext cx="16520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438275" y="4867275"/>
              <a:ext cx="4429125" cy="790575"/>
            </a:xfrm>
            <a:prstGeom prst="rect">
              <a:avLst/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608582" y="4975225"/>
              <a:ext cx="35902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当 0 &lt; γ &lt; 1，且 K → ∞ 时：</a:t>
              </a:r>
            </a:p>
          </p:txBody>
        </p:sp>
        <p:sp>
          <p:nvSpPr>
            <p:cNvPr id="24" name="p10-radius-2"/>
            <p:cNvSpPr txBox="1">
              <a:spLocks noGrp="1"/>
            </p:cNvSpPr>
            <p:nvPr/>
          </p:nvSpPr>
          <p:spPr>
            <a:xfrm>
              <a:off x="6286500" y="4772025"/>
              <a:ext cx="4905375" cy="9810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d>
                      <m:dPr>
                        <m:begChr m:val="‖"/>
                        <m:endChr m:val="‖"/>
                        <m:ctrlP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𝛿</m:t>
                        </m:r>
                      </m:e>
                    </m:d>
                    <m:r>
                      <a:rPr lang="zh-CN" sz="28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≤</m:t>
                    </m:r>
                    <m:f>
                      <m:fPr>
                        <m:ctrlP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𝑅</m:t>
                        </m:r>
                        <m:d>
                          <m:dPr>
                            <m:ctrlP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r>
                              <a:rPr lang="zh-CN" sz="285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e>
                        </m:d>
                      </m:num>
                      <m:den>
                        <m:r>
                          <a:rPr lang="zh-CN" sz="28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𝐶</m:t>
                        </m:r>
                      </m:den>
                    </m:f>
                  </m:oMath>
                </m:oMathPara>
              </a14:m>
              <a:endParaRPr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9625" y="5886450"/>
              <a:ext cx="10572750" cy="438150"/>
            </a:xfrm>
            <a:prstGeom prst="rect">
              <a:avLst/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86558" y="5959475"/>
              <a:ext cx="681888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这是理论保证范围，不等同于模型实际的最大容忍扰动。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020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1774613" y="2551430"/>
            <a:ext cx="6170507" cy="1031664"/>
          </a:xfrm>
        </p:spPr>
        <p:txBody>
          <a:bodyPr>
            <a:normAutofit fontScale="92500"/>
          </a:bodyPr>
          <a:lstStyle/>
          <a:p>
            <a:pPr algn="ctr"/>
            <a:r>
              <a:rPr lang="en-US" altLang="zh-CN" dirty="0"/>
              <a:t>CHAIN-OF-THOUGHT ROBUSTNESS ON LINEAR SELF-ATTENTION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3"/>
          </p:nvPr>
        </p:nvSpPr>
        <p:spPr>
          <a:xfrm>
            <a:off x="2436494" y="3417147"/>
            <a:ext cx="4736465" cy="1254125"/>
          </a:xfrm>
        </p:spPr>
        <p:txBody>
          <a:bodyPr/>
          <a:lstStyle/>
          <a:p>
            <a:pPr algn="ctr"/>
            <a:r>
              <a:rPr lang="zh-CN" altLang="en-US" sz="4000" dirty="0"/>
              <a:t>线性自注意力上的思维链鲁棒性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0999-B0E8-3121-5E1C-0306AD129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BA8065-EFEA-68C1-4343-752EE1ACE8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线性自注意力的定义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7E40F4-3D61-1488-ECDE-216C30DE11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FB692C-F115-BD4D-ABFF-ED2C4D22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12-title"/>
          <p:cNvGrpSpPr/>
          <p:nvPr/>
        </p:nvGrpSpPr>
        <p:grpSpPr>
          <a:xfrm>
            <a:off x="792861" y="1174750"/>
            <a:ext cx="4548576" cy="645414"/>
            <a:chOff x="792861" y="1174750"/>
            <a:chExt cx="4548576" cy="645414"/>
          </a:xfrm>
        </p:grpSpPr>
        <p:sp>
          <p:nvSpPr>
            <p:cNvPr id="8" name="TextBox 8"/>
            <p:cNvSpPr txBox="1"/>
            <p:nvPr/>
          </p:nvSpPr>
          <p:spPr>
            <a:xfrm>
              <a:off x="792861" y="1174750"/>
              <a:ext cx="454857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LSA 的形式与最优参数</a:t>
              </a:r>
            </a:p>
          </p:txBody>
        </p:sp>
      </p:grpSp>
      <p:grpSp>
        <p:nvGrpSpPr>
          <p:cNvPr id="27" name="p12-model-definition"/>
          <p:cNvGrpSpPr/>
          <p:nvPr/>
        </p:nvGrpSpPr>
        <p:grpSpPr>
          <a:xfrm>
            <a:off x="809625" y="1809750"/>
            <a:ext cx="10572750" cy="4758182"/>
            <a:chOff x="809625" y="1809750"/>
            <a:chExt cx="10572750" cy="4758182"/>
          </a:xfrm>
        </p:grpSpPr>
        <p:sp>
          <p:nvSpPr>
            <p:cNvPr id="10" name="p12-combined-parameter-symbols"/>
            <p:cNvSpPr txBox="1">
              <a:spLocks noGrp="1"/>
            </p:cNvSpPr>
            <p:nvPr/>
          </p:nvSpPr>
          <p:spPr>
            <a:xfrm>
              <a:off x="838200" y="1809750"/>
              <a:ext cx="2047875" cy="409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l"/>
              <a14:m xmlns:a14="http://schemas.microsoft.com/office/drawing/2010/main">
                <m:oMathPara xmlns:m="http://schemas.openxmlformats.org/officeDocument/2006/math">
                  <m:oMathParaPr>
                    <m:jc m:val="left"/>
                  </m:oMathParaPr>
                  <m:oMath>
                    <m:sSup>
                      <m:sSupPr>
                        <m:ctrlPr>
                          <a:rPr lang="zh-CN" sz="21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zh-CN" sz="21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𝑊</m:t>
                        </m:r>
                      </m:e>
                      <m:sup>
                        <m:r>
                          <a:rPr lang="zh-CN" sz="21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𝐾𝑄</m:t>
                        </m:r>
                      </m:sup>
                    </m:sSup>
                    <m:r>
                      <a:rPr lang="zh-CN" sz="21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, </m:t>
                    </m:r>
                    <m:sSup>
                      <m:sSupPr>
                        <m:ctrlPr>
                          <a:rPr lang="zh-CN" sz="21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zh-CN" sz="21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𝑊</m:t>
                        </m:r>
                      </m:e>
                      <m:sup>
                        <m:r>
                          <a:rPr lang="zh-CN" sz="21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𝑃𝑉</m:t>
                        </m:r>
                      </m:sup>
                    </m:sSup>
                  </m:oMath>
                </m:oMathPara>
              </a14:m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18207" y="1860550"/>
              <a:ext cx="62973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：组合的 query-key 与 projection-value 矩阵。</a:t>
              </a:r>
            </a:p>
          </p:txBody>
        </p:sp>
        <p:sp>
          <p:nvSpPr>
            <p:cNvPr id="12" name="p12-input-state-symbols"/>
            <p:cNvSpPr txBox="1">
              <a:spLocks noGrp="1"/>
            </p:cNvSpPr>
            <p:nvPr/>
          </p:nvSpPr>
          <p:spPr>
            <a:xfrm>
              <a:off x="838200" y="2238375"/>
              <a:ext cx="4857750" cy="409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l"/>
              <a14:m xmlns:a14="http://schemas.microsoft.com/office/drawing/2010/main">
                <m:oMathPara xmlns:m="http://schemas.openxmlformats.org/officeDocument/2006/math">
                  <m:oMathParaPr>
                    <m:jc m:val="left"/>
                  </m:oMathParaPr>
                  <m:oMath>
                    <m:r>
                      <a:rPr lang="zh-CN" sz="21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𝐸</m:t>
                    </m:r>
                    <m:r>
                      <a:rPr lang="zh-CN" sz="21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sz="21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1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  <m:r>
                          <a:rPr lang="zh-CN" sz="21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21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e>
                    </m:d>
                    <m:r>
                      <a:rPr lang="zh-CN" sz="21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, </m:t>
                    </m:r>
                    <m:r>
                      <a:rPr lang="zh-CN" sz="21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𝜌</m:t>
                    </m:r>
                    <m:r>
                      <a:rPr lang="zh-CN" sz="21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=1</m:t>
                    </m:r>
                  </m:oMath>
                </m:oMathPara>
              </a14:m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7532" y="2670175"/>
              <a:ext cx="23000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LSA 模型定义为：</a:t>
              </a:r>
            </a:p>
          </p:txBody>
        </p:sp>
        <p:sp>
          <p:nvSpPr>
            <p:cNvPr id="14" name="p12-lsa-model"/>
            <p:cNvSpPr txBox="1">
              <a:spLocks noGrp="1"/>
            </p:cNvSpPr>
            <p:nvPr/>
          </p:nvSpPr>
          <p:spPr>
            <a:xfrm>
              <a:off x="1809750" y="2971800"/>
              <a:ext cx="85725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𝑓</m:t>
                        </m:r>
                      </m:e>
                      <m:sub>
                        <m: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𝐿𝑆𝐴</m:t>
                        </m:r>
                      </m:sub>
                    </m:sSub>
                    <m:d>
                      <m:dPr>
                        <m:ctrlP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  <m: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  <m: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;</m:t>
                        </m:r>
                        <m: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𝜃</m:t>
                        </m:r>
                      </m:e>
                    </m:d>
                    <m:r>
                      <a:rPr lang="zh-CN" sz="27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zh-CN" sz="27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𝐸</m:t>
                    </m:r>
                    <m:r>
                      <a:rPr lang="zh-CN" sz="27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sSup>
                      <m:sSupPr>
                        <m:ctrlP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𝑊</m:t>
                        </m:r>
                      </m:e>
                      <m:sup>
                        <m: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𝑃𝑉</m:t>
                        </m:r>
                      </m:sup>
                    </m:sSup>
                    <m:r>
                      <a:rPr lang="zh-CN" sz="27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𝐸</m:t>
                    </m:r>
                    <m:f>
                      <m:fPr>
                        <m:ctrlPr>
                          <a:rPr lang="zh-CN" sz="278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sz="27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27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𝐸</m:t>
                            </m:r>
                          </m:e>
                          <m:sup>
                            <m:r>
                              <a:rPr lang="zh-CN" sz="27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zh-CN" sz="27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27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𝑊</m:t>
                            </m:r>
                          </m:e>
                          <m:sup>
                            <m:r>
                              <a:rPr lang="zh-CN" sz="27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𝐾𝑄</m:t>
                            </m:r>
                          </m:sup>
                        </m:sSup>
                        <m: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𝐸</m:t>
                        </m:r>
                      </m:num>
                      <m:den>
                        <m:r>
                          <a:rPr lang="zh-CN" sz="27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𝜌</m:t>
                        </m:r>
                      </m:den>
                    </m:f>
                  </m:oMath>
                </m:oMathPara>
              </a14:m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7151" y="3876675"/>
              <a:ext cx="589153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训练条件下的最优参数具有以下块矩阵结构。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" y="4362450"/>
              <a:ext cx="5095875" cy="1304925"/>
            </a:xfrm>
            <a:prstGeom prst="roundRect">
              <a:avLst>
                <a:gd name="adj" fmla="val 5839"/>
              </a:avLst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9625" y="4362450"/>
              <a:ext cx="5095875" cy="352425"/>
            </a:xfrm>
            <a:prstGeom prst="roundRect">
              <a:avLst>
                <a:gd name="adj" fmla="val 13514"/>
              </a:avLst>
            </a:prstGeom>
            <a:solidFill>
              <a:srgbClr val="237D9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069" y="4387850"/>
              <a:ext cx="28621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最优的 query-key 矩阵</a:t>
              </a:r>
            </a:p>
          </p:txBody>
        </p:sp>
        <p:sp>
          <p:nvSpPr>
            <p:cNvPr id="19" name="p12-optimal-0"/>
            <p:cNvSpPr txBox="1">
              <a:spLocks noGrp="1"/>
            </p:cNvSpPr>
            <p:nvPr/>
          </p:nvSpPr>
          <p:spPr>
            <a:xfrm>
              <a:off x="866775" y="4733925"/>
              <a:ext cx="4981575" cy="866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Sup>
                      <m:sSubSupPr>
                        <m:ctrlPr>
                          <a:rPr lang="zh-CN" sz="21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SupPr>
                      <m:e>
                        <m:r>
                          <a:rPr lang="zh-CN" sz="21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𝑊</m:t>
                        </m:r>
                      </m:e>
                      <m:sub>
                        <m:r>
                          <a:rPr lang="zh-CN" sz="21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∗</m:t>
                        </m:r>
                      </m:sub>
                      <m:sup>
                        <m:r>
                          <a:rPr lang="zh-CN" sz="21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𝐾𝑄</m:t>
                        </m:r>
                      </m:sup>
                    </m:sSubSup>
                    <m:r>
                      <a:rPr lang="zh-CN" sz="21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sSup>
                      <m:sSupPr>
                        <m:ctrlPr>
                          <a:rPr lang="zh-CN" sz="218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sz="21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21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Tr</m:t>
                            </m:r>
                            <m:d>
                              <m:dPr>
                                <m:ctrlPr>
                                  <a:rPr lang="zh-CN" sz="2180" i="1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sz="218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218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  <m:sup>
                                    <m:r>
                                      <a:rPr lang="zh-CN" sz="218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zh-CN" sz="21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ctrlPr>
                              <a:rPr lang="zh-CN" sz="21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21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21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zh-CN" sz="218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sz="2180" i="1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Γ</m:t>
                                  </m:r>
                                </m:e>
                                <m:sup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  <m:e>
                              <m:sSub>
                                <m:sSubPr>
                                  <m:ctrlP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zh-CN" sz="2180" dirty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43625" y="4362450"/>
              <a:ext cx="5238750" cy="1304925"/>
            </a:xfrm>
            <a:prstGeom prst="roundRect">
              <a:avLst>
                <a:gd name="adj" fmla="val 5839"/>
              </a:avLst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143625" y="4362450"/>
              <a:ext cx="5238750" cy="352425"/>
            </a:xfrm>
            <a:prstGeom prst="roundRect">
              <a:avLst>
                <a:gd name="adj" fmla="val 13514"/>
              </a:avLst>
            </a:prstGeom>
            <a:solidFill>
              <a:srgbClr val="237D9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67069" y="4387850"/>
              <a:ext cx="3716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最优的 projection-value 矩阵</a:t>
              </a:r>
            </a:p>
          </p:txBody>
        </p:sp>
        <p:sp>
          <p:nvSpPr>
            <p:cNvPr id="23" name="p12-optimal-1"/>
            <p:cNvSpPr txBox="1">
              <a:spLocks noGrp="1"/>
            </p:cNvSpPr>
            <p:nvPr/>
          </p:nvSpPr>
          <p:spPr>
            <a:xfrm>
              <a:off x="6200775" y="4733925"/>
              <a:ext cx="5124450" cy="866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Sup>
                      <m:sSubSupPr>
                        <m:ctrlPr>
                          <a:rPr lang="zh-CN" sz="21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SupPr>
                      <m:e>
                        <m:r>
                          <a:rPr lang="zh-CN" sz="21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𝑊</m:t>
                        </m:r>
                      </m:e>
                      <m:sub>
                        <m:r>
                          <a:rPr lang="zh-CN" sz="21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∗</m:t>
                        </m:r>
                      </m:sub>
                      <m:sup>
                        <m:r>
                          <a:rPr lang="zh-CN" sz="21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𝑃𝑉</m:t>
                        </m:r>
                      </m:sup>
                    </m:sSubSup>
                    <m:r>
                      <a:rPr lang="zh-CN" sz="21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sSup>
                      <m:sSupPr>
                        <m:ctrlPr>
                          <a:rPr lang="zh-CN" sz="218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sz="21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21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Tr</m:t>
                            </m:r>
                            <m:d>
                              <m:dPr>
                                <m:ctrlPr>
                                  <a:rPr lang="zh-CN" sz="2180" i="1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sz="218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218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  <m:sup>
                                    <m:r>
                                      <a:rPr lang="zh-CN" sz="218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f>
                          <m:fPr>
                            <m:ctrlPr>
                              <a:rPr lang="zh-CN" sz="21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21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21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lang="zh-CN" sz="218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sz="2180" i="1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𝑑</m:t>
                                  </m:r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×</m:t>
                                  </m:r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 lang="zh-CN" sz="218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zh-CN" sz="2180" dirty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913" y="5749925"/>
              <a:ext cx="32560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Λ 为训练数据协方差矩阵。</a:t>
              </a:r>
            </a:p>
          </p:txBody>
        </p:sp>
        <p:sp>
          <p:nvSpPr>
            <p:cNvPr id="25" name="p12-gamma-definition"/>
            <p:cNvSpPr txBox="1">
              <a:spLocks noGrp="1"/>
            </p:cNvSpPr>
            <p:nvPr/>
          </p:nvSpPr>
          <p:spPr>
            <a:xfrm>
              <a:off x="2238375" y="6010275"/>
              <a:ext cx="7715250" cy="552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r>
                      <m:rPr>
                        <m:sty m:val="p"/>
                      </m:rPr>
                      <a:rPr lang="zh-CN" sz="20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Γ</m:t>
                    </m:r>
                    <m:r>
                      <a:rPr lang="zh-CN" sz="20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d>
                      <m:dPr>
                        <m:ctrlP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1+</m:t>
                        </m:r>
                        <m:f>
                          <m:fPr>
                            <m:ctrlP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20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𝑁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zh-CN" sz="20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Λ</m:t>
                    </m:r>
                    <m:r>
                      <a:rPr lang="zh-CN" sz="20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f>
                      <m:fPr>
                        <m:ctrlP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num>
                      <m:den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zh-CN" sz="20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Tr</m:t>
                    </m:r>
                    <m:d>
                      <m:dPr>
                        <m:ctrlP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</m:e>
                    </m:d>
                    <m:sSub>
                      <m:sSubPr>
                        <m:ctrlP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𝐼</m:t>
                        </m:r>
                      </m:e>
                      <m:sub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𝑑</m:t>
                        </m:r>
                      </m:sub>
                    </m:sSub>
                    <m:r>
                      <a:rPr lang="zh-CN" sz="20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∈</m:t>
                    </m:r>
                    <m:sSup>
                      <m:sSupPr>
                        <m:ctrlP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ℝ</m:t>
                        </m:r>
                      </m:e>
                      <m:sup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𝑑</m:t>
                        </m:r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202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𝑑</m:t>
                        </m:r>
                      </m:sup>
                    </m:sSup>
                  </m:oMath>
                </m:oMathPara>
              </a14:m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83368" y="624522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（正则化）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177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C8A1F-67BB-19FB-E7C1-9CD7C019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2B6470-B3A0-46D9-D28B-FA950E1BDA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5DBD1A-72F6-49F1-5D69-C5E5E200D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608201" y="447675"/>
            <a:ext cx="4765596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代入最优参数，得到残差形式的 LSA</a:t>
            </a:r>
          </a:p>
        </p:txBody>
      </p:sp>
      <p:grpSp>
        <p:nvGrpSpPr>
          <p:cNvPr id="11" name="p13-residual-model"/>
          <p:cNvGrpSpPr/>
          <p:nvPr/>
        </p:nvGrpSpPr>
        <p:grpSpPr>
          <a:xfrm>
            <a:off x="799338" y="1139825"/>
            <a:ext cx="10535412" cy="5146675"/>
            <a:chOff x="799338" y="1139825"/>
            <a:chExt cx="10535412" cy="5146675"/>
          </a:xfrm>
        </p:grpSpPr>
        <p:sp>
          <p:nvSpPr>
            <p:cNvPr id="7" name="TextBox 7"/>
            <p:cNvSpPr txBox="1"/>
            <p:nvPr/>
          </p:nvSpPr>
          <p:spPr>
            <a:xfrm>
              <a:off x="799338" y="1139825"/>
              <a:ext cx="487790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18059" indent="-218059" algn="l">
                <a:buClr>
                  <a:srgbClr val="111111"/>
                </a:buClr>
                <a:buSzTx/>
                <a:buFontTx/>
                <a:buChar char="▪"/>
              </a:pPr>
              <a: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将最优参数代入 LSA，保留残差连接。</a:t>
              </a:r>
            </a:p>
          </p:txBody>
        </p:sp>
        <p:sp>
          <p:nvSpPr>
            <p:cNvPr id="8" name="p13-residual-form"/>
            <p:cNvSpPr txBox="1">
              <a:spLocks noGrp="1"/>
            </p:cNvSpPr>
            <p:nvPr/>
          </p:nvSpPr>
          <p:spPr>
            <a:xfrm>
              <a:off x="1143000" y="1495425"/>
              <a:ext cx="1019175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sSub>
                      <m:sSubPr>
                        <m:ctrlPr>
                          <a:rPr lang="zh-CN" sz="24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24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𝑓</m:t>
                        </m:r>
                      </m:e>
                      <m:sub>
                        <m:r>
                          <a:rPr lang="zh-CN" sz="24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𝐿𝑆𝐴</m:t>
                        </m:r>
                      </m:sub>
                    </m:sSub>
                    <m:d>
                      <m:dPr>
                        <m:ctrlPr>
                          <a:rPr lang="zh-CN" sz="24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4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  <m:r>
                          <a:rPr lang="zh-CN" sz="24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24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  <m:r>
                          <a:rPr lang="zh-CN" sz="24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;</m:t>
                        </m:r>
                        <m:sSup>
                          <m:sSupPr>
                            <m:ctrlPr>
                              <a:rPr lang="zh-CN" sz="24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24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𝜃</m:t>
                            </m:r>
                          </m:e>
                          <m:sup>
                            <m:r>
                              <a:rPr lang="zh-CN" sz="24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zh-CN" sz="24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>
                      <a:rPr lang="zh-CN" sz="24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𝜂</m:t>
                    </m:r>
                    <m:r>
                      <a:rPr lang="zh-CN" sz="24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𝐸</m:t>
                    </m:r>
                    <m:r>
                      <a:rPr lang="zh-CN" sz="24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d>
                      <m:dPr>
                        <m:ctrlPr>
                          <a:rPr lang="zh-CN" sz="240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sz="2400" i="1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𝑑</m:t>
                                  </m:r>
                                  <m: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×</m:t>
                                  </m:r>
                                  <m: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𝑑</m:t>
                                  </m:r>
                                </m:sub>
                                <m:sup>
                                  <m: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  <m:e>
                              <m:r>
                                <a:rPr lang="zh-CN" sz="2400" dirty="0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zh-CN" sz="24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𝐸</m:t>
                    </m:r>
                    <m:f>
                      <m:fPr>
                        <m:ctrlPr>
                          <a:rPr lang="zh-CN" sz="240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sz="24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24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𝐸</m:t>
                            </m:r>
                          </m:e>
                          <m:sup>
                            <m:r>
                              <a:rPr lang="zh-CN" sz="24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𝑇</m:t>
                            </m:r>
                          </m:sup>
                        </m:sSup>
                        <m:d>
                          <m:dPr>
                            <m:ctrlPr>
                              <a:rPr lang="zh-CN" sz="2400" i="1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sz="2400" i="1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sSup>
                                    <m:sSupPr>
                                      <m:ctrlPr>
                                        <a:rPr lang="zh-CN" sz="2400" dirty="0">
                                          <a:solidFill>
                                            <a:srgbClr val="11111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2400" dirty="0">
                                          <a:solidFill>
                                            <a:srgbClr val="11111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Γ</m:t>
                                      </m:r>
                                    </m:e>
                                    <m:sup>
                                      <m:r>
                                        <a:rPr lang="zh-CN" sz="2400" dirty="0">
                                          <a:solidFill>
                                            <a:srgbClr val="11111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  <m:e>
                                  <m:sSub>
                                    <m:sSubPr>
                                      <m:ctrlPr>
                                        <a:rPr lang="zh-CN" sz="2400" dirty="0">
                                          <a:solidFill>
                                            <a:srgbClr val="11111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sz="2400" dirty="0">
                                          <a:solidFill>
                                            <a:srgbClr val="11111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zh-CN" sz="2400" dirty="0">
                                          <a:solidFill>
                                            <a:srgbClr val="11111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zh-CN" sz="2400" dirty="0">
                                          <a:solidFill>
                                            <a:srgbClr val="11111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sz="2400" dirty="0">
                                          <a:solidFill>
                                            <a:srgbClr val="11111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zh-CN" sz="2400" dirty="0">
                                          <a:solidFill>
                                            <a:srgbClr val="11111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𝑑</m:t>
                                      </m:r>
                                    </m:sub>
                                    <m:sup>
                                      <m:r>
                                        <a:rPr lang="zh-CN" sz="2400" dirty="0">
                                          <a:solidFill>
                                            <a:srgbClr val="11111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𝑇</m:t>
                                      </m:r>
                                    </m:sup>
                                  </m:sSubSup>
                                </m:e>
                                <m:e>
                                  <m:r>
                                    <a:rPr lang="zh-CN" sz="2400" dirty="0">
                                      <a:solidFill>
                                        <a:srgbClr val="11111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zh-CN" sz="24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𝐸</m:t>
                        </m:r>
                      </m:num>
                      <m:den>
                        <m:r>
                          <a:rPr lang="zh-CN" sz="24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𝜌</m:t>
                        </m:r>
                      </m:den>
                    </m:f>
                  </m:oMath>
                </m:oMathPara>
              </a14:m>
              <a:endParaRPr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9719" y="2644775"/>
              <a:ext cx="68907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10502" indent="-210502" algn="l">
                <a:buClr>
                  <a:srgbClr val="111111"/>
                </a:buClr>
                <a:buSzTx/>
                <a:buFontTx/>
                <a:buChar char="▪"/>
              </a:pPr>
              <a:r>
                <a:rPr lang="zh-CN" sz="19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残差系数 η ∈ (0,1)；结构：残差项 ηE + 线性自注意力项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8425" y="3000375"/>
              <a:ext cx="8069523" cy="3286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184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BA8B4-15C5-C75A-D79C-09C5BFE5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485614" y="423862"/>
            <a:ext cx="3980974" cy="507968"/>
          </a:xfrm>
          <a:prstGeom prst="rect">
            <a:avLst/>
          </a:prstGeom>
          <a:noFill/>
          <a:ln>
            <a:noFill/>
          </a:ln>
        </p:spPr>
        <p:txBody>
          <a:bodyPr wrap="none" lIns="95" tIns="58406" rIns="0" bIns="0" anchor="t" anchorCtr="0">
            <a:noAutofit/>
          </a:bodyPr>
          <a:lstStyle/>
          <a:p>
            <a:pPr algn="ctr"/>
            <a:r>
              <a:rPr lang="zh-CN" sz="202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线性自注意力的输入鲁棒性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FE74CB-BEAF-EE3F-41CA-C8FA5CE5E5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9F8F7E-091C-6ABB-E341-149DF1F69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14-title"/>
          <p:cNvGrpSpPr/>
          <p:nvPr/>
        </p:nvGrpSpPr>
        <p:grpSpPr>
          <a:xfrm>
            <a:off x="794385" y="1212850"/>
            <a:ext cx="6492240" cy="586740"/>
            <a:chOff x="794385" y="1212850"/>
            <a:chExt cx="6492240" cy="586740"/>
          </a:xfrm>
        </p:grpSpPr>
        <p:sp>
          <p:nvSpPr>
            <p:cNvPr id="8" name="TextBox 8"/>
            <p:cNvSpPr txBox="1"/>
            <p:nvPr/>
          </p:nvSpPr>
          <p:spPr>
            <a:xfrm>
              <a:off x="794385" y="121285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输入与隐藏状态范数共同约束敏感度</a:t>
              </a:r>
            </a:p>
          </p:txBody>
        </p:sp>
      </p:grpSp>
      <p:grpSp>
        <p:nvGrpSpPr>
          <p:cNvPr id="27" name="p14-lemma"/>
          <p:cNvGrpSpPr/>
          <p:nvPr/>
        </p:nvGrpSpPr>
        <p:grpSpPr>
          <a:xfrm>
            <a:off x="809625" y="1828800"/>
            <a:ext cx="10572750" cy="4467225"/>
            <a:chOff x="809625" y="1828800"/>
            <a:chExt cx="10572750" cy="4467225"/>
          </a:xfrm>
        </p:grpSpPr>
        <p:sp>
          <p:nvSpPr>
            <p:cNvPr id="10" name="TextBox 10"/>
            <p:cNvSpPr txBox="1"/>
            <p:nvPr/>
          </p:nvSpPr>
          <p:spPr>
            <a:xfrm>
              <a:off x="827151" y="1828800"/>
              <a:ext cx="4767755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引理 1 的前提：‖x‖ ≤ Rₓ，‖h‖ ≤ Rₕ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09625" y="2533650"/>
              <a:ext cx="4762500" cy="1304925"/>
            </a:xfrm>
            <a:prstGeom prst="roundRect">
              <a:avLst>
                <a:gd name="adj" fmla="val 5839"/>
              </a:avLst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76300" y="2609850"/>
              <a:ext cx="438150" cy="438150"/>
            </a:xfrm>
            <a:prstGeom prst="ellipse">
              <a:avLst/>
            </a:prstGeom>
            <a:solidFill>
              <a:srgbClr val="03567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09670" y="2673350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47038" y="2654300"/>
              <a:ext cx="263389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C：输入变化的敏感度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0600" y="3105150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固定隐藏状态时，输入扰动的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0600" y="3467100"/>
              <a:ext cx="198802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Lipschitz 系数。</a:t>
              </a:r>
            </a:p>
          </p:txBody>
        </p:sp>
        <p:sp>
          <p:nvSpPr>
            <p:cNvPr id="17" name="p14-lemma-0"/>
            <p:cNvSpPr txBox="1">
              <a:spLocks noGrp="1"/>
            </p:cNvSpPr>
            <p:nvPr/>
          </p:nvSpPr>
          <p:spPr>
            <a:xfrm>
              <a:off x="5905500" y="2495550"/>
              <a:ext cx="5476875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r>
                      <a:rPr lang="zh-CN" sz="27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𝐶</m:t>
                    </m:r>
                    <m:r>
                      <a:rPr lang="zh-CN" sz="27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≤</m:t>
                    </m:r>
                    <m:r>
                      <a:rPr lang="zh-CN" sz="27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𝜂</m:t>
                    </m:r>
                    <m:r>
                      <a:rPr lang="zh-CN" sz="27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sSup>
                      <m:sSupPr>
                        <m:ctrlP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𝛼</m:t>
                        </m:r>
                      </m:e>
                      <m:sup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−1</m:t>
                        </m:r>
                      </m:sup>
                    </m:sSup>
                    <m:d>
                      <m:dPr>
                        <m:begChr m:val="|"/>
                        <m:endChr m:val="|"/>
                        <m:ctrlPr>
                          <a:rPr lang="zh-CN" sz="270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</m:e>
                          <m:sup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−1</m:t>
                            </m:r>
                          </m:sup>
                        </m:sSup>
                      </m:e>
                    </m:d>
                    <m:sSubSup>
                      <m:sSubSupPr>
                        <m:ctrlP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SupPr>
                      <m:e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𝑅</m:t>
                        </m:r>
                      </m:e>
                      <m:sub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</m:sub>
                      <m:sup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sup>
                    </m:sSubSup>
                  </m:oMath>
                </m:oMathPara>
              </a14:m>
              <a:endParaRPr/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625" y="4114800"/>
              <a:ext cx="4762500" cy="1304925"/>
            </a:xfrm>
            <a:prstGeom prst="roundRect">
              <a:avLst>
                <a:gd name="adj" fmla="val 5839"/>
              </a:avLst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76300" y="4191000"/>
              <a:ext cx="438150" cy="438150"/>
            </a:xfrm>
            <a:prstGeom prst="ellipse">
              <a:avLst/>
            </a:prstGeom>
            <a:solidFill>
              <a:srgbClr val="03567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09670" y="4254500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7038" y="4235450"/>
              <a:ext cx="34408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γ：隐藏状态差异的传播系数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0600" y="4686300"/>
              <a:ext cx="33091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固定输入时，隐藏状态差异的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0600" y="5048250"/>
              <a:ext cx="198802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Lipschitz 系数。</a:t>
              </a:r>
            </a:p>
          </p:txBody>
        </p:sp>
        <p:sp>
          <p:nvSpPr>
            <p:cNvPr id="24" name="p14-lemma-1"/>
            <p:cNvSpPr txBox="1">
              <a:spLocks noGrp="1"/>
            </p:cNvSpPr>
            <p:nvPr/>
          </p:nvSpPr>
          <p:spPr>
            <a:xfrm>
              <a:off x="5905500" y="4076700"/>
              <a:ext cx="5476875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r>
                      <a:rPr lang="zh-CN" sz="27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𝛾</m:t>
                    </m:r>
                    <m:r>
                      <a:rPr lang="zh-CN" sz="27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zh-CN" sz="270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𝜂</m:t>
                            </m:r>
                          </m:e>
                          <m:sup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+4</m:t>
                        </m:r>
                        <m:sSubSup>
                          <m:sSubSup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SupPr>
                          <m:e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sub>
                          <m:sup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𝛼</m:t>
                            </m:r>
                          </m:e>
                          <m:sup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−2</m:t>
                            </m:r>
                          </m:sup>
                        </m:sSup>
                        <m:sSup>
                          <m:sSupPr>
                            <m:ctrlPr>
                              <a:rPr lang="zh-CN" sz="2700" i="1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sz="2700" i="1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sz="270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270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  <m:sup>
                                    <m:r>
                                      <a:rPr lang="zh-CN" sz="270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SupPr>
                          <m:e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ℎ</m:t>
                            </m:r>
                          </m:sub>
                          <m:sup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m:oMathPara>
              </a14:m>
              <a:endParaRPr/>
            </a:p>
          </p:txBody>
        </p:sp>
        <p:sp>
          <p:nvSpPr>
            <p:cNvPr id="25" name="p14-alpha"/>
            <p:cNvSpPr txBox="1">
              <a:spLocks noGrp="1"/>
            </p:cNvSpPr>
            <p:nvPr/>
          </p:nvSpPr>
          <p:spPr>
            <a:xfrm>
              <a:off x="809625" y="5686425"/>
              <a:ext cx="452437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r>
                      <a:rPr lang="zh-CN" sz="21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𝛼</m:t>
                    </m:r>
                    <m:r>
                      <a:rPr lang="zh-CN" sz="21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sSup>
                      <m:sSupPr>
                        <m:ctrlPr>
                          <a:rPr lang="zh-CN" sz="210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sz="21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21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Tr</m:t>
                            </m:r>
                            <m:d>
                              <m:dPr>
                                <m:ctrlPr>
                                  <a:rPr lang="zh-CN" sz="2100" i="1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sz="210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210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  <m:sup>
                                    <m:r>
                                      <a:rPr lang="zh-CN" sz="210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f>
                          <m:fPr>
                            <m:ctrlPr>
                              <a:rPr lang="zh-CN" sz="21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21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21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</m:sup>
                    </m:sSup>
                  </m:oMath>
                </m:oMathPara>
              </a14:m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8231" y="5832475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范数上界通过系数进入后续扰动保证式。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420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485614" y="423862"/>
            <a:ext cx="3930872" cy="507968"/>
          </a:xfrm>
          <a:prstGeom prst="rect">
            <a:avLst/>
          </a:prstGeom>
          <a:noFill/>
          <a:ln>
            <a:noFill/>
          </a:ln>
        </p:spPr>
        <p:txBody>
          <a:bodyPr wrap="none" lIns="95" tIns="58406" rIns="0" bIns="0" anchor="t" anchorCtr="0">
            <a:noAutofit/>
          </a:bodyPr>
          <a:lstStyle/>
          <a:p>
            <a:pPr algn="ctr"/>
            <a:r>
              <a:rPr lang="zh-CN" sz="202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定理2：扰动保证半径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15-title"/>
          <p:cNvGrpSpPr/>
          <p:nvPr/>
        </p:nvGrpSpPr>
        <p:grpSpPr>
          <a:xfrm>
            <a:off x="792861" y="1174750"/>
            <a:ext cx="6252972" cy="645414"/>
            <a:chOff x="792861" y="1174750"/>
            <a:chExt cx="6252972" cy="645414"/>
          </a:xfrm>
        </p:grpSpPr>
        <p:sp>
          <p:nvSpPr>
            <p:cNvPr id="8" name="TextBox 8"/>
            <p:cNvSpPr txBox="1"/>
            <p:nvPr/>
          </p:nvSpPr>
          <p:spPr>
            <a:xfrm>
              <a:off x="792861" y="117475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从敏感度上界得到扰动容忍半径</a:t>
              </a:r>
            </a:p>
          </p:txBody>
        </p:sp>
      </p:grpSp>
      <p:grpSp>
        <p:nvGrpSpPr>
          <p:cNvPr id="23" name="p15-theorem2"/>
          <p:cNvGrpSpPr/>
          <p:nvPr/>
        </p:nvGrpSpPr>
        <p:grpSpPr>
          <a:xfrm>
            <a:off x="809625" y="1838325"/>
            <a:ext cx="10572750" cy="4495800"/>
            <a:chOff x="809625" y="1838325"/>
            <a:chExt cx="10572750" cy="4495800"/>
          </a:xfrm>
        </p:grpSpPr>
        <p:sp>
          <p:nvSpPr>
            <p:cNvPr id="10" name="Rectangle 10"/>
            <p:cNvSpPr/>
            <p:nvPr/>
          </p:nvSpPr>
          <p:spPr>
            <a:xfrm>
              <a:off x="809625" y="1838325"/>
              <a:ext cx="10572750" cy="390525"/>
            </a:xfrm>
            <a:prstGeom prst="rect">
              <a:avLst/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0407" y="1870075"/>
              <a:ext cx="34420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1 定理 2 的范数与初值条件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106" y="2413000"/>
              <a:ext cx="50104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94310" indent="-194310" algn="l">
                <a:buClr>
                  <a:srgbClr val="11111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在定理2的范数与初值条件下，取 0 &lt; γ &lt; 1。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8106" y="2822575"/>
              <a:ext cx="44860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94310" indent="-194310" algn="l">
                <a:buClr>
                  <a:srgbClr val="11111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初值条件：存在 A &gt; 0，使 |e₀| ≤ A|δ|。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54368" y="2273300"/>
              <a:ext cx="28804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符号定义（沿用原稿定理 2）</a:t>
              </a:r>
            </a:p>
          </p:txBody>
        </p:sp>
        <p:sp>
          <p:nvSpPr>
            <p:cNvPr id="15" name="p15-definitions-1"/>
            <p:cNvSpPr txBox="1">
              <a:spLocks noGrp="1"/>
            </p:cNvSpPr>
            <p:nvPr/>
          </p:nvSpPr>
          <p:spPr>
            <a:xfrm>
              <a:off x="6667500" y="2543175"/>
              <a:ext cx="4714875" cy="485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r>
                      <a:rPr lang="zh-CN" sz="17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𝛼</m:t>
                    </m:r>
                    <m:r>
                      <a:rPr lang="zh-CN" sz="17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sSup>
                      <m:sSupPr>
                        <m:ctrlPr>
                          <a:rPr lang="zh-CN" sz="172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sz="17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Tr</m:t>
                            </m:r>
                            <m:d>
                              <m:dPr>
                                <m:ctrlPr>
                                  <a:rPr lang="zh-CN" sz="1720" i="1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sz="172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72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Γ</m:t>
                                    </m:r>
                                  </m:e>
                                  <m:sup>
                                    <m:r>
                                      <a:rPr lang="zh-CN" sz="1720" dirty="0">
                                        <a:solidFill>
                                          <a:srgbClr val="111111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f>
                          <m:fPr>
                            <m:ctrlPr>
                              <a:rPr lang="zh-CN" sz="17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7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7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a:rPr lang="zh-CN" sz="17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, </m:t>
                    </m:r>
                    <m:r>
                      <a:rPr lang="zh-CN" sz="17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  <m:r>
                      <a:rPr lang="zh-CN" sz="172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CN" sz="172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sz="17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Γ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m:oMathPara>
              </a14:m>
              <a:endParaRPr/>
            </a:p>
          </p:txBody>
        </p:sp>
        <p:sp>
          <p:nvSpPr>
            <p:cNvPr id="16" name="p15-definitions-2"/>
            <p:cNvSpPr txBox="1">
              <a:spLocks noGrp="1"/>
            </p:cNvSpPr>
            <p:nvPr/>
          </p:nvSpPr>
          <p:spPr>
            <a:xfrm>
              <a:off x="6667500" y="3009900"/>
              <a:ext cx="4714875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r>
                      <a:rPr lang="zh-CN" sz="15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𝛽</m:t>
                    </m:r>
                    <m:r>
                      <a:rPr lang="zh-CN" sz="15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sSup>
                      <m:sSupPr>
                        <m:ctrlPr>
                          <a:rPr lang="zh-CN" sz="15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zh-CN" sz="15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𝛼</m:t>
                        </m:r>
                      </m:e>
                      <m:sup>
                        <m:r>
                          <a:rPr lang="zh-CN" sz="15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−1</m:t>
                        </m:r>
                      </m:sup>
                    </m:sSup>
                    <m:r>
                      <a:rPr lang="zh-CN" sz="15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𝑠</m:t>
                    </m:r>
                    <m:sSubSup>
                      <m:sSubSupPr>
                        <m:ctrlPr>
                          <a:rPr lang="zh-CN" sz="15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SupPr>
                      <m:e>
                        <m:r>
                          <a:rPr lang="zh-CN" sz="15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𝑅</m:t>
                        </m:r>
                      </m:e>
                      <m:sub>
                        <m:r>
                          <a:rPr lang="zh-CN" sz="15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ℎ</m:t>
                        </m:r>
                      </m:sub>
                      <m:sup>
                        <m:r>
                          <a:rPr lang="zh-CN" sz="15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sup>
                    </m:sSubSup>
                    <m:r>
                      <a:rPr lang="zh-CN" sz="15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, </m:t>
                    </m:r>
                    <m:r>
                      <a:rPr lang="zh-CN" sz="15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𝛾</m:t>
                    </m:r>
                    <m:r>
                      <a:rPr lang="zh-CN" sz="158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sz="158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𝜂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zh-CN" sz="158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+4</m:t>
                        </m:r>
                        <m:sSubSup>
                          <m:sSubSupPr>
                            <m:ctrlP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SupPr>
                          <m:e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𝑥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𝛼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−2</m:t>
                            </m:r>
                          </m:sup>
                        </m:sSup>
                        <m:sSup>
                          <m:sSupPr>
                            <m:ctrlP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𝑠</m:t>
                            </m:r>
                          </m:e>
                          <m:sup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SupPr>
                          <m:e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ℎ</m:t>
                            </m:r>
                          </m:sub>
                          <m:sup>
                            <m:r>
                              <a:rPr lang="zh-CN" sz="158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m:oMathPara>
              </a14:m>
              <a:endParaRPr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9625" y="3667125"/>
              <a:ext cx="10572750" cy="361950"/>
            </a:xfrm>
            <a:prstGeom prst="rect">
              <a:avLst/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70407" y="3689350"/>
              <a:ext cx="28959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2 有限步 K 的充分保证</a:t>
              </a:r>
            </a:p>
          </p:txBody>
        </p:sp>
        <p:sp>
          <p:nvSpPr>
            <p:cNvPr id="19" name="p15-finite-bound"/>
            <p:cNvSpPr txBox="1">
              <a:spLocks noGrp="1"/>
            </p:cNvSpPr>
            <p:nvPr/>
          </p:nvSpPr>
          <p:spPr>
            <a:xfrm>
              <a:off x="1143000" y="4048125"/>
              <a:ext cx="9906000" cy="1028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d>
                      <m:dPr>
                        <m:begChr m:val="‖"/>
                        <m:endChr m:val="‖"/>
                        <m:ctrlP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𝛿</m:t>
                        </m:r>
                      </m:e>
                    </m:d>
                    <m:r>
                      <a:rPr lang="zh-CN" sz="27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≤</m:t>
                    </m:r>
                    <m:f>
                      <m:fPr>
                        <m:ctrlPr>
                          <a:rPr lang="zh-CN" sz="270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e>
                        </m:d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𝑅</m:t>
                        </m:r>
                      </m:num>
                      <m:den>
                        <m:d>
                          <m:d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𝜂</m:t>
                            </m:r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𝛽</m:t>
                            </m:r>
                          </m:e>
                        </m:d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𝐴</m:t>
                        </m:r>
                        <m:d>
                          <m:d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e>
                        </m:d>
                        <m:d>
                          <m:d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1+</m:t>
                            </m:r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𝛽</m:t>
                            </m:r>
                          </m:e>
                        </m:d>
                        <m:sSup>
                          <m:sSup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e>
                          <m:sup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𝐾</m:t>
                            </m:r>
                          </m:sup>
                        </m:sSup>
                      </m:den>
                    </m:f>
                  </m:oMath>
                </m:oMathPara>
              </a14:m>
              <a:endParaRPr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" y="5276850"/>
              <a:ext cx="10572750" cy="361950"/>
            </a:xfrm>
            <a:prstGeom prst="rect">
              <a:avLst/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0407" y="5299075"/>
              <a:ext cx="13561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3 当 K → ∞</a:t>
              </a:r>
            </a:p>
          </p:txBody>
        </p:sp>
        <p:sp>
          <p:nvSpPr>
            <p:cNvPr id="22" name="p15-limit-bound"/>
            <p:cNvSpPr txBox="1">
              <a:spLocks noGrp="1"/>
            </p:cNvSpPr>
            <p:nvPr/>
          </p:nvSpPr>
          <p:spPr>
            <a:xfrm>
              <a:off x="2190750" y="5667375"/>
              <a:ext cx="809625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d>
                      <m:dPr>
                        <m:begChr m:val="‖"/>
                        <m:endChr m:val="‖"/>
                        <m:ctrlP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𝛿</m:t>
                        </m:r>
                      </m:e>
                    </m:d>
                    <m:r>
                      <a:rPr lang="zh-CN" sz="27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≤</m:t>
                    </m:r>
                    <m:f>
                      <m:fPr>
                        <m:ctrlPr>
                          <a:rPr lang="zh-CN" sz="270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e>
                        </m:d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𝑅</m:t>
                        </m:r>
                      </m:num>
                      <m:den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𝜂</m:t>
                        </m:r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𝛽</m:t>
                        </m:r>
                      </m:den>
                    </m:f>
                  </m:oMath>
                </m:oMathPara>
              </a14:m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A4814-0747-8483-0466-4ECBFF7BE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365028" y="450628"/>
            <a:ext cx="4083272" cy="507968"/>
          </a:xfrm>
          <a:prstGeom prst="rect">
            <a:avLst/>
          </a:prstGeom>
          <a:noFill/>
          <a:ln>
            <a:noFill/>
          </a:ln>
        </p:spPr>
        <p:txBody>
          <a:bodyPr wrap="none" lIns="0" tIns="-5092" rIns="95" bIns="0" anchor="t" anchorCtr="0">
            <a:noAutofit/>
          </a:bodyPr>
          <a:lstStyle/>
          <a:p>
            <a:pPr algn="ctr"/>
            <a:r>
              <a:rPr lang="zh-CN" sz="202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理论参数的含义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B614D2-0FD9-743E-AE6C-9283EDA8C9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C0D5A1-607D-C1A5-0B20-DB0B94EE0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16-title"/>
          <p:cNvGrpSpPr/>
          <p:nvPr/>
        </p:nvGrpSpPr>
        <p:grpSpPr>
          <a:xfrm>
            <a:off x="792861" y="1174750"/>
            <a:ext cx="5364480" cy="645414"/>
            <a:chOff x="792861" y="1174750"/>
            <a:chExt cx="5364480" cy="645414"/>
          </a:xfrm>
        </p:grpSpPr>
        <p:sp>
          <p:nvSpPr>
            <p:cNvPr id="8" name="TextBox 8"/>
            <p:cNvSpPr txBox="1"/>
            <p:nvPr/>
          </p:nvSpPr>
          <p:spPr>
            <a:xfrm>
              <a:off x="792861" y="117475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五类参数决定理论保证范围</a:t>
              </a:r>
            </a:p>
          </p:txBody>
        </p:sp>
      </p:grpSp>
      <p:grpSp>
        <p:nvGrpSpPr>
          <p:cNvPr id="15" name="p16-parameter-map"/>
          <p:cNvGrpSpPr/>
          <p:nvPr/>
        </p:nvGrpSpPr>
        <p:grpSpPr>
          <a:xfrm>
            <a:off x="799338" y="1816100"/>
            <a:ext cx="10583037" cy="4548950"/>
            <a:chOff x="799338" y="1816100"/>
            <a:chExt cx="10583037" cy="4548950"/>
          </a:xfrm>
        </p:grpSpPr>
        <p:sp>
          <p:nvSpPr>
            <p:cNvPr id="10" name="TextBox 10"/>
            <p:cNvSpPr txBox="1"/>
            <p:nvPr/>
          </p:nvSpPr>
          <p:spPr>
            <a:xfrm>
              <a:off x="799338" y="1816100"/>
              <a:ext cx="668137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在定理2条件且 0 &lt; γ &lt; 1、K → ∞ 时，理论保证半径为：</a:t>
              </a:r>
            </a:p>
          </p:txBody>
        </p:sp>
        <p:sp>
          <p:nvSpPr>
            <p:cNvPr id="11" name="p16-limit-radius"/>
            <p:cNvSpPr txBox="1">
              <a:spLocks noGrp="1"/>
            </p:cNvSpPr>
            <p:nvPr/>
          </p:nvSpPr>
          <p:spPr>
            <a:xfrm>
              <a:off x="3238500" y="2152650"/>
              <a:ext cx="57150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ctr"/>
              <a14:m xmlns:a14="http://schemas.microsoft.com/office/drawing/2010/main">
                <m:oMathPara xmlns:m="http://schemas.openxmlformats.org/officeDocument/2006/math">
                  <m:oMathParaPr>
                    <m:jc m:val="center"/>
                  </m:oMathParaPr>
                  <m:oMath>
                    <m:d>
                      <m:dPr>
                        <m:begChr m:val="‖"/>
                        <m:endChr m:val="‖"/>
                        <m:ctrlP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𝛿</m:t>
                        </m:r>
                      </m:e>
                    </m:d>
                    <m:r>
                      <a:rPr lang="zh-CN" sz="270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≤</m:t>
                    </m:r>
                    <m:f>
                      <m:fPr>
                        <m:ctrlPr>
                          <a:rPr lang="zh-CN" sz="270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1−</m:t>
                            </m:r>
                            <m:r>
                              <a:rPr lang="zh-CN" sz="2700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𝛾</m:t>
                            </m:r>
                          </m:e>
                        </m:d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𝑅</m:t>
                        </m:r>
                      </m:num>
                      <m:den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𝜂</m:t>
                        </m:r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270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𝛽</m:t>
                        </m:r>
                      </m:den>
                    </m:f>
                  </m:oMath>
                </m:oMathPara>
              </a14:m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0100" y="3076575"/>
              <a:ext cx="811778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理论保证范围由下表的五类参数共同决定，它们在理论界中的作用如下：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3" name="p16-parameter-table"/>
                <p:cNvGraphicFramePr>
                  <a:graphicFrameLocks noGrp="1"/>
                </p:cNvGraphicFramePr>
                <p:nvPr/>
              </p:nvGraphicFramePr>
              <p:xfrm>
                <a:off x="809625" y="3524250"/>
                <a:ext cx="10572750" cy="2314575"/>
              </p:xfrm>
              <a:graphic>
                <a:graphicData uri="http://schemas.openxmlformats.org/drawingml/2006/table">
                  <a:tbl>
                    <a:tblPr firstRow="1">
                      <a:tableStyleId>{5C22544A-7EE6-4342-B048-85BDC9FD1C3A}</a:tableStyleId>
                    </a:tblPr>
                    <a:tblGrid>
                      <a:gridCol w="1451162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414617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4975412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</a:tblGrid>
                    <a:tr h="3857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1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参数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D9ECF5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1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含义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D9ECF5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1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在理论界中的作用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D9ECF5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857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R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允许输出误差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放宽 R 可扩大理论保证范围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857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Rₓ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输入嵌入范数上界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较大范数可能收紧保证范围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857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Rₕ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隐藏状态范数上界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较大范数可能收紧保证范围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857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l-GR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Γ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训练数据协方差相关矩阵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通过 α、s 等量进入界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857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l-GR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η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残差系数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进入传播系数与保证式分母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</a:tbl>
                </a:graphicData>
              </a:graphic>
            </p:graphicFrame>
          </mc:Choice>
          <mc:Fallback>
            <p:graphicFrame>
              <p:nvGraphicFramePr>
                <p:cNvPr id="13" name="p16-parameter-table"/>
                <p:cNvGraphicFramePr>
                  <a:graphicFrameLocks noGrp="1"/>
                </p:cNvGraphicFramePr>
                <p:nvPr/>
              </p:nvGraphicFramePr>
              <p:xfrm>
                <a:off x="809625" y="3524250"/>
                <a:ext cx="10572750" cy="2314575"/>
              </p:xfrm>
              <a:graphic>
                <a:graphicData uri="http://schemas.openxmlformats.org/drawingml/2006/table">
                  <a:tbl>
                    <a:tblPr firstRow="1">
                      <a:tableStyleId>{5C22544A-7EE6-4342-B048-85BDC9FD1C3A}</a:tableStyleId>
                    </a:tblPr>
                    <a:tblGrid>
                      <a:gridCol w="1451162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4146176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4975412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</a:tblGrid>
                    <a:tr h="3857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1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参数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D9ECF5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1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含义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D9ECF5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1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在理论界中的作用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D9ECF5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857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R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允许输出误差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放宽 R 可扩大理论保证范围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857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Rₓ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输入嵌入范数上界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较大范数可能收紧保证范围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857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Rₕ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隐藏状态范数上界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较大范数可能收紧保证范围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857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l-GR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Γ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训练数据协方差相关矩阵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通过 α、s 等量进入界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857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l-GR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η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残差系数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800" b="0">
                                <a:solidFill>
                                  <a:srgbClr val="111111"/>
                                </a:solidFill>
                                <a:latin typeface="Microsoft YaHei"/>
                                <a:ea typeface="Microsoft YaHei"/>
                                <a:cs typeface="Microsoft YaHei"/>
                              </a:rPr>
                              <a:t>进入传播系数与保证式分母</a:t>
                            </a:r>
                          </a:p>
                        </a:txBody>
                        <a:tcPr marL="47625" marR="47625" marT="32861" marB="32861" anchor="ctr">
                          <a:lnL w="7620">
                            <a:solidFill>
                              <a:srgbClr val="83AFC5"/>
                            </a:solidFill>
                            <a:prstDash val="solid"/>
                          </a:lnL>
                          <a:lnR w="7620">
                            <a:solidFill>
                              <a:srgbClr val="83AFC5"/>
                            </a:solidFill>
                            <a:prstDash val="solid"/>
                          </a:lnR>
                          <a:lnT w="7620">
                            <a:solidFill>
                              <a:srgbClr val="83AFC5"/>
                            </a:solidFill>
                            <a:prstDash val="solid"/>
                          </a:lnT>
                          <a:lnB w="7620">
                            <a:solidFill>
                              <a:srgbClr val="83AFC5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p:sp>
          <p:nvSpPr>
            <p:cNvPr id="14" name="TextBox 14"/>
            <p:cNvSpPr txBox="1"/>
            <p:nvPr/>
          </p:nvSpPr>
          <p:spPr>
            <a:xfrm>
              <a:off x="799338" y="5969000"/>
              <a:ext cx="642557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实证重点：R、Rₓ、Rₕ；Γ、η 的实证影响仍待研究。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344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5D8F-F380-B7F3-C1D8-9EEB3B1A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DBA85CA-FCBF-D6E4-08AE-967B8AF5288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294255" y="2620010"/>
            <a:ext cx="4137660" cy="637540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Experiment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3E0A02-85D1-0C83-F997-59F2A22ED30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 sz="4800" dirty="0"/>
              <a:t>实验</a:t>
            </a:r>
          </a:p>
        </p:txBody>
      </p:sp>
    </p:spTree>
    <p:extLst>
      <p:ext uri="{BB962C8B-B14F-4D97-AF65-F5344CB8AC3E}">
        <p14:creationId xmlns:p14="http://schemas.microsoft.com/office/powerpoint/2010/main" val="2806219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216F4-CA6B-77C8-E516-C22034381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BB9444-24D2-9CD3-11E1-F85E9B4CA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实验设置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FF6561-CB8A-0BC4-DD08-5C6131501E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764447-6B06-2785-1FE7-B2BF5134A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18-title"/>
          <p:cNvGrpSpPr/>
          <p:nvPr/>
        </p:nvGrpSpPr>
        <p:grpSpPr>
          <a:xfrm>
            <a:off x="792861" y="1174750"/>
            <a:ext cx="5808726" cy="645414"/>
            <a:chOff x="792861" y="1174750"/>
            <a:chExt cx="5808726" cy="645414"/>
          </a:xfrm>
        </p:grpSpPr>
        <p:sp>
          <p:nvSpPr>
            <p:cNvPr id="8" name="TextBox 8"/>
            <p:cNvSpPr txBox="1"/>
            <p:nvPr/>
          </p:nvSpPr>
          <p:spPr>
            <a:xfrm>
              <a:off x="792861" y="1174750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如何评估正确率与输出波动？</a:t>
              </a:r>
            </a:p>
          </p:txBody>
        </p:sp>
      </p:grpSp>
      <p:grpSp>
        <p:nvGrpSpPr>
          <p:cNvPr id="37" name="p18-study-setup"/>
          <p:cNvGrpSpPr/>
          <p:nvPr/>
        </p:nvGrpSpPr>
        <p:grpSpPr>
          <a:xfrm>
            <a:off x="799338" y="1866900"/>
            <a:ext cx="10583037" cy="4395470"/>
            <a:chOff x="799338" y="1866900"/>
            <a:chExt cx="10583037" cy="4395470"/>
          </a:xfrm>
        </p:grpSpPr>
        <p:sp>
          <p:nvSpPr>
            <p:cNvPr id="10" name="Rectangle 10"/>
            <p:cNvSpPr/>
            <p:nvPr/>
          </p:nvSpPr>
          <p:spPr>
            <a:xfrm>
              <a:off x="809625" y="1866900"/>
              <a:ext cx="4762500" cy="2105025"/>
            </a:xfrm>
            <a:prstGeom prst="roundRect">
              <a:avLst>
                <a:gd name="adj" fmla="val 3620"/>
              </a:avLst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810250" y="1866900"/>
              <a:ext cx="5572125" cy="2105025"/>
            </a:xfrm>
            <a:prstGeom prst="roundRect">
              <a:avLst>
                <a:gd name="adj" fmla="val 3620"/>
              </a:avLst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6701" y="1971675"/>
              <a:ext cx="902513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任务：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2713" y="2349500"/>
              <a:ext cx="1470025" cy="1234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18059" indent="-218059" algn="l">
                <a:lnSpc>
                  <a:spcPts val="3300"/>
                </a:lnSpc>
                <a:buClr>
                  <a:srgbClr val="111111"/>
                </a:buClr>
                <a:buSzTx/>
                <a:buFontTx/>
                <a:buChar char="•"/>
              </a:pPr>
              <a:r>
                <a:rPr lang="en-US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MATH</a:t>
              </a:r>
            </a:p>
            <a:p>
              <a:pPr marL="218059" indent="-218059" algn="l">
                <a:lnSpc>
                  <a:spcPts val="3300"/>
                </a:lnSpc>
                <a:buClr>
                  <a:srgbClr val="111111"/>
                </a:buClr>
                <a:buSzTx/>
                <a:buFontTx/>
                <a:buChar char="•"/>
              </a:pPr>
              <a:r>
                <a:rPr lang="en-US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MMLU-Pro</a:t>
              </a:r>
            </a:p>
            <a:p>
              <a:pPr marL="218059" indent="-218059" algn="l">
                <a:lnSpc>
                  <a:spcPts val="3300"/>
                </a:lnSpc>
                <a:buClr>
                  <a:srgbClr val="111111"/>
                </a:buClr>
                <a:buSzTx/>
                <a:buFontTx/>
                <a:buChar char="•"/>
              </a:pPr>
              <a:r>
                <a:rPr lang="en-US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GPQA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801" y="1971675"/>
              <a:ext cx="902513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模型：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62675" y="2403475"/>
              <a:ext cx="1654556" cy="1253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02946" indent="-202946" algn="l">
                <a:lnSpc>
                  <a:spcPts val="2325"/>
                </a:lnSpc>
                <a:buClr>
                  <a:srgbClr val="111111"/>
                </a:buClr>
                <a:buSzTx/>
                <a:buFontTx/>
                <a:buChar char="•"/>
              </a:pPr>
              <a:r>
                <a:rPr lang="en-US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Llama2-7b</a:t>
              </a:r>
            </a:p>
            <a:p>
              <a:pPr marL="202946" indent="-202946" algn="l">
                <a:lnSpc>
                  <a:spcPts val="2325"/>
                </a:lnSpc>
                <a:buClr>
                  <a:srgbClr val="111111"/>
                </a:buClr>
                <a:buSzTx/>
                <a:buFontTx/>
                <a:buChar char="•"/>
              </a:pPr>
              <a:r>
                <a:rPr lang="en-US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Llama3.1-8b</a:t>
              </a:r>
            </a:p>
            <a:p>
              <a:pPr marL="202946" indent="-202946" algn="l">
                <a:lnSpc>
                  <a:spcPts val="2325"/>
                </a:lnSpc>
                <a:buClr>
                  <a:srgbClr val="111111"/>
                </a:buClr>
                <a:buSzTx/>
                <a:buFontTx/>
                <a:buChar char="•"/>
              </a:pPr>
              <a:r>
                <a:rPr lang="en-US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Llama-R1-8b</a:t>
              </a:r>
            </a:p>
            <a:p>
              <a:pPr marL="202946" indent="-202946" algn="l">
                <a:lnSpc>
                  <a:spcPts val="2325"/>
                </a:lnSpc>
                <a:buClr>
                  <a:srgbClr val="111111"/>
                </a:buClr>
                <a:buSzTx/>
                <a:buFontTx/>
                <a:buChar char="•"/>
              </a:pPr>
              <a:r>
                <a:rPr lang="en-US" sz="18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Qwen3-8b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3323" y="3724275"/>
              <a:ext cx="457455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注：Llama-R1-8b 为原稿使用的 DeepSeek 蒸馏模型简称。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09625" y="4181475"/>
              <a:ext cx="10572750" cy="9525"/>
            </a:xfrm>
            <a:custGeom>
              <a:avLst/>
              <a:gdLst/>
              <a:ahLst/>
              <a:cxnLst/>
              <a:rect l="l" t="t" r="r" b="b"/>
              <a:pathLst>
                <a:path w="10572750" h="9525">
                  <a:moveTo>
                    <a:pt x="0" y="0"/>
                  </a:moveTo>
                  <a:lnTo>
                    <a:pt x="10572750" y="0"/>
                  </a:lnTo>
                </a:path>
              </a:pathLst>
            </a:custGeom>
            <a:noFill/>
            <a:ln w="10478">
              <a:solidFill>
                <a:srgbClr val="A5C3D6"/>
              </a:solidFill>
              <a:custDash>
                <a:ds d="545455" sp="454545"/>
              </a:custDash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99338" y="4330700"/>
              <a:ext cx="681888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评估流程（同一问题在多种提示词扰动下的多次回答）：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9625" y="4857750"/>
              <a:ext cx="1809750" cy="1381125"/>
            </a:xfrm>
            <a:prstGeom prst="roundRect">
              <a:avLst>
                <a:gd name="adj" fmla="val 5517"/>
              </a:avLst>
            </a:prstGeom>
            <a:solidFill>
              <a:srgbClr val="F5F9FC"/>
            </a:solidFill>
            <a:ln w="9525">
              <a:solidFill>
                <a:srgbClr val="91BAD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8804" y="495300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同一问题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5034" y="5349875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q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695575" y="553402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47625">
              <a:solidFill>
                <a:srgbClr val="7F8C94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2894648" y="5498878"/>
              <a:ext cx="67628" cy="70295"/>
            </a:xfrm>
            <a:custGeom>
              <a:avLst/>
              <a:gdLst/>
              <a:ahLst/>
              <a:cxnLst/>
              <a:rect l="l" t="t" r="r" b="b"/>
              <a:pathLst>
                <a:path w="67628" h="70295">
                  <a:moveTo>
                    <a:pt x="67628" y="35147"/>
                  </a:moveTo>
                  <a:lnTo>
                    <a:pt x="0" y="702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8C94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067050" y="4857750"/>
              <a:ext cx="2095500" cy="1381125"/>
            </a:xfrm>
            <a:prstGeom prst="roundRect">
              <a:avLst>
                <a:gd name="adj" fmla="val 5517"/>
              </a:avLst>
            </a:prstGeom>
            <a:solidFill>
              <a:srgbClr val="F5F9FC"/>
            </a:solidFill>
            <a:ln w="9525">
              <a:solidFill>
                <a:srgbClr val="91BAD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472561" y="4953000"/>
              <a:ext cx="128447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多个提示词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82543" y="5362575"/>
              <a:ext cx="1064514" cy="818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提示词1</a:t>
              </a:r>
              <a:b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提示词2</a:t>
              </a:r>
              <a:b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其他提示词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238750" y="553402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47625">
              <a:solidFill>
                <a:srgbClr val="7F8C94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5437822" y="5498878"/>
              <a:ext cx="67628" cy="70295"/>
            </a:xfrm>
            <a:custGeom>
              <a:avLst/>
              <a:gdLst/>
              <a:ahLst/>
              <a:cxnLst/>
              <a:rect l="l" t="t" r="r" b="b"/>
              <a:pathLst>
                <a:path w="67628" h="70295">
                  <a:moveTo>
                    <a:pt x="67628" y="35147"/>
                  </a:moveTo>
                  <a:lnTo>
                    <a:pt x="0" y="702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8C94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610225" y="4857750"/>
              <a:ext cx="2047875" cy="1381125"/>
            </a:xfrm>
            <a:prstGeom prst="roundRect">
              <a:avLst>
                <a:gd name="adj" fmla="val 5517"/>
              </a:avLst>
            </a:prstGeom>
            <a:solidFill>
              <a:srgbClr val="F5F9FC"/>
            </a:solidFill>
            <a:ln w="9525">
              <a:solidFill>
                <a:srgbClr val="91BAD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18466" y="495300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多次回答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06680" y="5362575"/>
              <a:ext cx="854964" cy="818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回答1</a:t>
              </a:r>
              <a:b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回答2</a:t>
              </a:r>
              <a:b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6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其他回答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7734300" y="553402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47625">
              <a:solidFill>
                <a:srgbClr val="7F8C94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933372" y="5498878"/>
              <a:ext cx="67628" cy="70295"/>
            </a:xfrm>
            <a:custGeom>
              <a:avLst/>
              <a:gdLst/>
              <a:ahLst/>
              <a:cxnLst/>
              <a:rect l="l" t="t" r="r" b="b"/>
              <a:pathLst>
                <a:path w="67628" h="70295">
                  <a:moveTo>
                    <a:pt x="67628" y="35147"/>
                  </a:moveTo>
                  <a:lnTo>
                    <a:pt x="0" y="702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8C94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105775" y="4857750"/>
              <a:ext cx="3276600" cy="1381125"/>
            </a:xfrm>
            <a:prstGeom prst="roundRect">
              <a:avLst>
                <a:gd name="adj" fmla="val 5517"/>
              </a:avLst>
            </a:prstGeom>
            <a:solidFill>
              <a:srgbClr val="F5F9FC"/>
            </a:solidFill>
            <a:ln w="9525">
              <a:solidFill>
                <a:srgbClr val="91BAD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12881" y="4953000"/>
              <a:ext cx="166238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比较 EM / OF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79205" y="5311775"/>
              <a:ext cx="1729740" cy="950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5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EM ↑：精确匹配</a:t>
              </a:r>
              <a:br>
                <a:rPr lang="zh-CN" sz="15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5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衡量答案正确性</a:t>
              </a:r>
              <a:br>
                <a:rPr lang="zh-CN" sz="15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5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OF ↓：输出波动</a:t>
              </a:r>
              <a:br>
                <a:rPr lang="zh-CN" sz="15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5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反映扰动下输出变化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542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5078D-2242-7595-B97A-C0F880D23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7C78FB-60D2-02F9-6583-4F11CA8659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整体评估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0128FA-7E0E-3CAB-37B8-3DE8209590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C915D1-99A3-4911-90AE-A6C5E021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19-title"/>
          <p:cNvGrpSpPr/>
          <p:nvPr/>
        </p:nvGrpSpPr>
        <p:grpSpPr>
          <a:xfrm>
            <a:off x="794385" y="1212850"/>
            <a:ext cx="7252716" cy="586740"/>
            <a:chOff x="794385" y="1212850"/>
            <a:chExt cx="7252716" cy="586740"/>
          </a:xfrm>
        </p:grpSpPr>
        <p:sp>
          <p:nvSpPr>
            <p:cNvPr id="8" name="TextBox 8"/>
            <p:cNvSpPr txBox="1"/>
            <p:nvPr/>
          </p:nvSpPr>
          <p:spPr>
            <a:xfrm>
              <a:off x="794385" y="1212850"/>
              <a:ext cx="72527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所示模型中，较高 EM 通常伴随较低 OF</a:t>
              </a:r>
            </a:p>
          </p:txBody>
        </p:sp>
      </p:grpSp>
      <p:grpSp>
        <p:nvGrpSpPr>
          <p:cNvPr id="14" name="p19-results"/>
          <p:cNvGrpSpPr/>
          <p:nvPr/>
        </p:nvGrpSpPr>
        <p:grpSpPr>
          <a:xfrm>
            <a:off x="798957" y="1793875"/>
            <a:ext cx="10583418" cy="4413631"/>
            <a:chOff x="798957" y="1793875"/>
            <a:chExt cx="10583418" cy="4413631"/>
          </a:xfrm>
        </p:grpSpPr>
        <p:sp>
          <p:nvSpPr>
            <p:cNvPr id="10" name="TextBox 10"/>
            <p:cNvSpPr txBox="1"/>
            <p:nvPr/>
          </p:nvSpPr>
          <p:spPr>
            <a:xfrm>
              <a:off x="798957" y="1793875"/>
              <a:ext cx="49808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EM ↑：答案正确率；OF ↓：输出波动。</a:t>
              </a:r>
            </a:p>
          </p:txBody>
        </p:sp>
        <p:graphicFrame>
          <p:nvGraphicFramePr>
            <p:cNvPr id="11" name="p19-model-results"/>
            <p:cNvGraphicFramePr>
              <a:graphicFrameLocks noGrp="1"/>
            </p:cNvGraphicFramePr>
            <p:nvPr/>
          </p:nvGraphicFramePr>
          <p:xfrm>
            <a:off x="809625" y="2333625"/>
            <a:ext cx="10572750" cy="2876550"/>
          </p:xfrm>
          <a:graphic>
            <a:graphicData uri="http://schemas.openxmlformats.org/drawingml/2006/table">
              <a:tbl>
                <a:tblPr firstRow="1">
                  <a:tableStyleId>{5C22544A-7EE6-4342-B048-85BDC9FD1C3A}</a:tableStyleId>
                </a:tblPr>
                <a:tblGrid>
                  <a:gridCol w="192231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85824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025237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85824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025237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185824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1025237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479425">
                  <a:tc rowSpan="2">
                    <a:txBody>
                      <a:bodyPr/>
                      <a:lstStyle/>
                      <a:p>
                        <a:pPr algn="ctr"/>
                        <a:r>
                          <a:rPr lang="en-US" sz="1720" b="1">
                            <a:solidFill>
                              <a:srgbClr val="FFFFFF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Model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035679"/>
                      </a:solidFill>
                    </a:tcPr>
                  </a:tc>
                  <a:tc gridSpan="2">
                    <a:txBody>
                      <a:bodyPr/>
                      <a:lstStyle/>
                      <a:p>
                        <a:pPr algn="ctr"/>
                        <a:r>
                          <a:rPr lang="en-US" sz="1720" b="1">
                            <a:solidFill>
                              <a:srgbClr val="FFFFFF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MATH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035679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/>
                      </a:p>
                    </a:txBody>
                    <a:tcPr marL="47625" marR="47625" marT="47625" marB="47625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</a:tcPr>
                  </a:tc>
                  <a:tc gridSpan="2">
                    <a:txBody>
                      <a:bodyPr/>
                      <a:lstStyle/>
                      <a:p>
                        <a:pPr algn="ctr"/>
                        <a:r>
                          <a:rPr lang="en-US" sz="1720" b="1">
                            <a:solidFill>
                              <a:srgbClr val="FFFFFF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MMLU-Pro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035679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/>
                      </a:p>
                    </a:txBody>
                    <a:tcPr marL="47625" marR="47625" marT="47625" marB="47625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</a:tcPr>
                  </a:tc>
                  <a:tc gridSpan="2">
                    <a:txBody>
                      <a:bodyPr/>
                      <a:lstStyle/>
                      <a:p>
                        <a:pPr algn="ctr"/>
                        <a:r>
                          <a:rPr lang="en-US" sz="1720" b="1">
                            <a:solidFill>
                              <a:srgbClr val="FFFFFF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GPQA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035679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/>
                      </a:p>
                    </a:txBody>
                    <a:tcPr marL="47625" marR="47625" marT="47625" marB="47625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79425">
                  <a:tc vMerge="1">
                    <a:txBody>
                      <a:bodyPr/>
                      <a:lstStyle/>
                      <a:p>
                        <a:endParaRPr/>
                      </a:p>
                    </a:txBody>
                    <a:tcPr marL="47625" marR="47625" marT="47625" marB="47625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720" b="1">
                            <a:solidFill>
                              <a:srgbClr val="FFFFFF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EM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03567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720" b="1">
                            <a:solidFill>
                              <a:srgbClr val="FFFFFF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OF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03567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720" b="1">
                            <a:solidFill>
                              <a:srgbClr val="FFFFFF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EM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03567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720" b="1">
                            <a:solidFill>
                              <a:srgbClr val="FFFFFF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OF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03567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720" b="1">
                            <a:solidFill>
                              <a:srgbClr val="FFFFFF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EM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03567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720" b="1">
                            <a:solidFill>
                              <a:srgbClr val="FFFFFF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OF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035679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7942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Llama2-7b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14.2 ± 5.0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0.475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11.2 ± 5.7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0.622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17.5 ± 4.7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0.509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7942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Llama3.1-8b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45.8 ± 7.2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0.366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41.0 ± 10.7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0.350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26.6 ± 5.7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0.467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7942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Llama-R1-8b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64.8 ± 3.0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0.158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44.8 ± 8.3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0.292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28.5 ± 2.9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0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0.371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FFFFF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79425">
                  <a:tc>
                    <a:txBody>
                      <a:bodyPr/>
                      <a:lstStyle/>
                      <a:p>
                        <a:pPr algn="ctr"/>
                        <a:r>
                          <a:rPr lang="en-US" sz="1720" b="1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Qwen3-8b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E8F3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1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77.2 ± 1.6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E8F3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1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0.097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E8F3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1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46.9 ± 5.2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E8F3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1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0.162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E8F3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1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37.3 ± 1.9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E8F3FA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zh-CN" sz="1720" b="1">
                            <a:solidFill>
                              <a:srgbClr val="111111"/>
                            </a:solidFill>
                            <a:latin typeface="Times New Roman"/>
                            <a:ea typeface="SimSun"/>
                            <a:cs typeface="Times New Roman"/>
                          </a:rPr>
                          <a:t>0.214</a:t>
                        </a:r>
                      </a:p>
                    </a:txBody>
                    <a:tcPr marL="47625" marR="47625" marT="47625" marB="47625" anchor="ctr">
                      <a:lnL w="7620">
                        <a:solidFill>
                          <a:srgbClr val="83AFC5"/>
                        </a:solidFill>
                        <a:prstDash val="solid"/>
                      </a:lnL>
                      <a:lnR w="7620">
                        <a:solidFill>
                          <a:srgbClr val="83AFC5"/>
                        </a:solidFill>
                        <a:prstDash val="solid"/>
                      </a:lnR>
                      <a:lnT w="7620">
                        <a:solidFill>
                          <a:srgbClr val="83AFC5"/>
                        </a:solidFill>
                        <a:prstDash val="solid"/>
                      </a:lnT>
                      <a:lnB w="7620">
                        <a:solidFill>
                          <a:srgbClr val="83AFC5"/>
                        </a:solidFill>
                        <a:prstDash val="solid"/>
                      </a:lnB>
                      <a:solidFill>
                        <a:srgbClr val="E8F3FA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12" name="TextBox 12"/>
            <p:cNvSpPr txBox="1"/>
            <p:nvPr/>
          </p:nvSpPr>
          <p:spPr>
            <a:xfrm>
              <a:off x="799719" y="5426075"/>
              <a:ext cx="52179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10502" indent="-210502" algn="l">
                <a:buClr>
                  <a:srgbClr val="111111"/>
                </a:buClr>
                <a:buSzTx/>
                <a:buFontTx/>
                <a:buChar char="•"/>
              </a:pPr>
              <a:r>
                <a:rPr lang="zh-CN" sz="19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该趋势见于原稿所列四个模型和三个任务。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9719" y="5826125"/>
              <a:ext cx="57430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10502" indent="-210502" algn="l">
                <a:buClr>
                  <a:srgbClr val="111111"/>
                </a:buClr>
                <a:buSzTx/>
                <a:buFontTx/>
                <a:buChar char="•"/>
              </a:pPr>
              <a:r>
                <a:rPr lang="zh-CN" sz="19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此表不单独证明训练数据或推理长度导致差异。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677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B4D1-E093-0FB0-E8A3-A10346C24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CCBA8A-D5D2-7CC1-08D9-3E19F8BF57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整体评估</a:t>
            </a:r>
          </a:p>
          <a:p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03293D-2415-BF39-625A-E21F41B0E8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B9EDEFC-B6DF-74D9-11B0-8365BEBC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20-title"/>
          <p:cNvGrpSpPr/>
          <p:nvPr/>
        </p:nvGrpSpPr>
        <p:grpSpPr>
          <a:xfrm>
            <a:off x="792861" y="1174750"/>
            <a:ext cx="7141464" cy="645414"/>
            <a:chOff x="792861" y="1174750"/>
            <a:chExt cx="7141464" cy="645414"/>
          </a:xfrm>
        </p:grpSpPr>
        <p:sp>
          <p:nvSpPr>
            <p:cNvPr id="8" name="TextBox 8"/>
            <p:cNvSpPr txBox="1"/>
            <p:nvPr/>
          </p:nvSpPr>
          <p:spPr>
            <a:xfrm>
              <a:off x="792861" y="117475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输入扰动增大时，输出波动总体增加</a:t>
              </a:r>
            </a:p>
          </p:txBody>
        </p:sp>
      </p:grpSp>
      <p:grpSp>
        <p:nvGrpSpPr>
          <p:cNvPr id="23" name="p20-source-plot"/>
          <p:cNvGrpSpPr/>
          <p:nvPr/>
        </p:nvGrpSpPr>
        <p:grpSpPr>
          <a:xfrm>
            <a:off x="1574843" y="1876425"/>
            <a:ext cx="9597982" cy="4267200"/>
            <a:chOff x="1574843" y="1876425"/>
            <a:chExt cx="9597982" cy="4267200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843" y="1876425"/>
              <a:ext cx="9185186" cy="42672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3333750" y="2800350"/>
              <a:ext cx="2524125" cy="619125"/>
            </a:xfrm>
            <a:prstGeom prst="roundRect">
              <a:avLst>
                <a:gd name="adj" fmla="val 3077"/>
              </a:avLst>
            </a:prstGeom>
            <a:solidFill>
              <a:srgbClr val="F4F9FC"/>
            </a:solidFill>
            <a:ln w="13335">
              <a:solidFill>
                <a:srgbClr val="03567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20999" y="2857500"/>
              <a:ext cx="2359711" cy="5661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总体趋势：</a:t>
              </a:r>
              <a:br>
                <a:rPr lang="zh-CN" sz="15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5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输入扰动增加，OF 上升。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982075" y="2019300"/>
              <a:ext cx="2190750" cy="619125"/>
            </a:xfrm>
            <a:prstGeom prst="roundRect">
              <a:avLst>
                <a:gd name="adj" fmla="val 3077"/>
              </a:avLst>
            </a:prstGeom>
            <a:solidFill>
              <a:srgbClr val="F4F9FC"/>
            </a:solidFill>
            <a:ln w="13335">
              <a:solidFill>
                <a:srgbClr val="03567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9324" y="2076450"/>
              <a:ext cx="1757731" cy="5661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图示后段：</a:t>
              </a:r>
              <a:br>
                <a:rPr lang="zh-CN" sz="15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5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OF 变化趋于平缓。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05500" y="4667250"/>
              <a:ext cx="2543175" cy="619125"/>
            </a:xfrm>
            <a:prstGeom prst="roundRect">
              <a:avLst>
                <a:gd name="adj" fmla="val 3077"/>
              </a:avLst>
            </a:prstGeom>
            <a:solidFill>
              <a:srgbClr val="F4F9FC"/>
            </a:solidFill>
            <a:ln w="13335">
              <a:solidFill>
                <a:srgbClr val="03567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92749" y="4724400"/>
              <a:ext cx="2296001" cy="5661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图中约 0.2 附近的转折，</a:t>
              </a:r>
              <a:br>
                <a:rPr lang="zh-CN" sz="15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5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仅描述该采样区间。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524375" y="3419475"/>
              <a:ext cx="238125" cy="676275"/>
            </a:xfrm>
            <a:custGeom>
              <a:avLst/>
              <a:gdLst/>
              <a:ahLst/>
              <a:cxnLst/>
              <a:rect l="l" t="t" r="r" b="b"/>
              <a:pathLst>
                <a:path w="238125" h="676275">
                  <a:moveTo>
                    <a:pt x="238125" y="0"/>
                  </a:moveTo>
                  <a:lnTo>
                    <a:pt x="0" y="676275"/>
                  </a:lnTo>
                </a:path>
              </a:pathLst>
            </a:custGeom>
            <a:noFill/>
            <a:ln w="19050">
              <a:solidFill>
                <a:srgbClr val="035679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4513612" y="4020312"/>
              <a:ext cx="66389" cy="75438"/>
            </a:xfrm>
            <a:custGeom>
              <a:avLst/>
              <a:gdLst/>
              <a:ahLst/>
              <a:cxnLst/>
              <a:rect l="l" t="t" r="r" b="b"/>
              <a:pathLst>
                <a:path w="66389" h="75438">
                  <a:moveTo>
                    <a:pt x="10763" y="75438"/>
                  </a:moveTo>
                  <a:lnTo>
                    <a:pt x="0" y="0"/>
                  </a:lnTo>
                  <a:lnTo>
                    <a:pt x="66389" y="23336"/>
                  </a:lnTo>
                  <a:close/>
                </a:path>
              </a:pathLst>
            </a:custGeom>
            <a:solidFill>
              <a:srgbClr val="035679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9001125" y="2638425"/>
              <a:ext cx="152400" cy="952500"/>
            </a:xfrm>
            <a:custGeom>
              <a:avLst/>
              <a:gdLst/>
              <a:ahLst/>
              <a:cxnLst/>
              <a:rect l="l" t="t" r="r" b="b"/>
              <a:pathLst>
                <a:path w="152400" h="952500">
                  <a:moveTo>
                    <a:pt x="152400" y="0"/>
                  </a:moveTo>
                  <a:lnTo>
                    <a:pt x="0" y="952500"/>
                  </a:lnTo>
                </a:path>
              </a:pathLst>
            </a:custGeom>
            <a:noFill/>
            <a:ln w="19050">
              <a:solidFill>
                <a:srgbClr val="035679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8977027" y="3518630"/>
              <a:ext cx="69532" cy="72295"/>
            </a:xfrm>
            <a:custGeom>
              <a:avLst/>
              <a:gdLst/>
              <a:ahLst/>
              <a:cxnLst/>
              <a:rect l="l" t="t" r="r" b="b"/>
              <a:pathLst>
                <a:path w="69532" h="72295">
                  <a:moveTo>
                    <a:pt x="24098" y="72295"/>
                  </a:moveTo>
                  <a:lnTo>
                    <a:pt x="0" y="0"/>
                  </a:lnTo>
                  <a:lnTo>
                    <a:pt x="69532" y="11144"/>
                  </a:lnTo>
                  <a:close/>
                </a:path>
              </a:pathLst>
            </a:custGeom>
            <a:solidFill>
              <a:srgbClr val="035679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5143500" y="3657600"/>
              <a:ext cx="952500" cy="1009650"/>
            </a:xfrm>
            <a:custGeom>
              <a:avLst/>
              <a:gdLst/>
              <a:ahLst/>
              <a:cxnLst/>
              <a:rect l="l" t="t" r="r" b="b"/>
              <a:pathLst>
                <a:path w="952500" h="1009650">
                  <a:moveTo>
                    <a:pt x="952500" y="10096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35679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5143500" y="3657600"/>
              <a:ext cx="72009" cy="73342"/>
            </a:xfrm>
            <a:custGeom>
              <a:avLst/>
              <a:gdLst/>
              <a:ahLst/>
              <a:cxnLst/>
              <a:rect l="l" t="t" r="r" b="b"/>
              <a:pathLst>
                <a:path w="72009" h="73342">
                  <a:moveTo>
                    <a:pt x="0" y="0"/>
                  </a:moveTo>
                  <a:lnTo>
                    <a:pt x="72009" y="25051"/>
                  </a:lnTo>
                  <a:lnTo>
                    <a:pt x="20764" y="73342"/>
                  </a:lnTo>
                  <a:close/>
                </a:path>
              </a:pathLst>
            </a:custGeom>
            <a:solidFill>
              <a:srgbClr val="035679"/>
            </a:solidFill>
            <a:ln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81265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C18F6-BE5B-1C11-AC14-F2D98D5C2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485614" y="423862"/>
            <a:ext cx="3975354" cy="507968"/>
          </a:xfrm>
          <a:prstGeom prst="rect">
            <a:avLst/>
          </a:prstGeom>
          <a:noFill/>
          <a:ln>
            <a:noFill/>
          </a:ln>
        </p:spPr>
        <p:txBody>
          <a:bodyPr wrap="none" lIns="0" tIns="58406" rIns="0" bIns="0" anchor="t" anchorCtr="0">
            <a:noAutofit/>
          </a:bodyPr>
          <a:lstStyle/>
          <a:p>
            <a:pPr algn="ctr"/>
            <a:r>
              <a:rPr lang="zh-CN" sz="202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推理步数的影响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DA79FF-76E8-698D-F682-3D43C8631E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BA87B7-E267-113B-2BD2-4E7B9FC3F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450" y="6356350"/>
            <a:ext cx="2743200" cy="365125"/>
          </a:xfrm>
        </p:spPr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 dirty="0"/>
          </a:p>
        </p:txBody>
      </p:sp>
      <p:grpSp>
        <p:nvGrpSpPr>
          <p:cNvPr id="9" name="p21-title"/>
          <p:cNvGrpSpPr/>
          <p:nvPr/>
        </p:nvGrpSpPr>
        <p:grpSpPr>
          <a:xfrm>
            <a:off x="794385" y="1212850"/>
            <a:ext cx="7299960" cy="586740"/>
            <a:chOff x="794385" y="1212850"/>
            <a:chExt cx="7299960" cy="586740"/>
          </a:xfrm>
        </p:grpSpPr>
        <p:sp>
          <p:nvSpPr>
            <p:cNvPr id="8" name="TextBox 8"/>
            <p:cNvSpPr txBox="1"/>
            <p:nvPr/>
          </p:nvSpPr>
          <p:spPr>
            <a:xfrm>
              <a:off x="794385" y="121285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输出波动总体下降，正确率并不同步提高</a:t>
              </a:r>
            </a:p>
          </p:txBody>
        </p:sp>
      </p:grpSp>
      <p:grpSp>
        <p:nvGrpSpPr>
          <p:cNvPr id="16" name="p21-steps"/>
          <p:cNvGrpSpPr/>
          <p:nvPr/>
        </p:nvGrpSpPr>
        <p:grpSpPr>
          <a:xfrm>
            <a:off x="762000" y="1790700"/>
            <a:ext cx="10668000" cy="4425252"/>
            <a:chOff x="762000" y="1790700"/>
            <a:chExt cx="10668000" cy="4425252"/>
          </a:xfrm>
        </p:grpSpPr>
        <p:sp>
          <p:nvSpPr>
            <p:cNvPr id="10" name="TextBox 10"/>
            <p:cNvSpPr txBox="1"/>
            <p:nvPr/>
          </p:nvSpPr>
          <p:spPr>
            <a:xfrm>
              <a:off x="2829943" y="1790700"/>
              <a:ext cx="308660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80" b="1" dirty="0">
                  <a:solidFill>
                    <a:srgbClr val="E01924"/>
                  </a:solidFill>
                  <a:latin typeface="Microsoft YaHei"/>
                  <a:ea typeface="Microsoft YaHei"/>
                  <a:cs typeface="Microsoft YaHei"/>
                </a:rPr>
                <a:t>OF：红线，输出波动；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84951" y="1790700"/>
              <a:ext cx="279313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752D9"/>
                  </a:solidFill>
                  <a:latin typeface="Microsoft YaHei"/>
                  <a:ea typeface="Microsoft YaHei"/>
                  <a:cs typeface="Microsoft YaHei"/>
                </a:rPr>
                <a:t>EM：蓝线，正确率。</a:t>
              </a:r>
            </a:p>
          </p:txBody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" y="2633970"/>
              <a:ext cx="10668000" cy="2409206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846963" y="5368925"/>
              <a:ext cx="551832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❯ OF 存在局部上升与起伏，后段总体较低。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52463" y="5368925"/>
              <a:ext cx="395623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❯ 增加步数并不保证 EM 提高。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47874" y="5937250"/>
              <a:ext cx="6896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有限步实验不单独证明无穷步极限；左右图设置沿用原稿，未补充未标明的归属。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246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5CAD6-2253-AE8D-51A5-86785093D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384078" y="427006"/>
            <a:ext cx="4286536" cy="507968"/>
          </a:xfrm>
          <a:prstGeom prst="rect">
            <a:avLst/>
          </a:prstGeom>
          <a:noFill/>
          <a:ln>
            <a:noFill/>
          </a:ln>
        </p:spPr>
        <p:txBody>
          <a:bodyPr wrap="none" lIns="0" tIns="45751" rIns="95" bIns="0" anchor="t" anchorCtr="0">
            <a:noAutofit/>
          </a:bodyPr>
          <a:lstStyle/>
          <a:p>
            <a:pPr algn="ctr"/>
            <a:r>
              <a:rPr lang="zh-CN" sz="202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嵌入范数与输出波动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818C51A-0141-F777-D494-A2EC196CE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EB65BF-229A-1326-21CA-8322ACCE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650" y="6369050"/>
            <a:ext cx="2743200" cy="365125"/>
          </a:xfrm>
        </p:spPr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 dirty="0"/>
          </a:p>
        </p:txBody>
      </p:sp>
      <p:grpSp>
        <p:nvGrpSpPr>
          <p:cNvPr id="9" name="p22-title"/>
          <p:cNvGrpSpPr/>
          <p:nvPr/>
        </p:nvGrpSpPr>
        <p:grpSpPr>
          <a:xfrm>
            <a:off x="794385" y="1212850"/>
            <a:ext cx="8107680" cy="586740"/>
            <a:chOff x="794385" y="1212850"/>
            <a:chExt cx="8107680" cy="586740"/>
          </a:xfrm>
        </p:grpSpPr>
        <p:sp>
          <p:nvSpPr>
            <p:cNvPr id="8" name="TextBox 8"/>
            <p:cNvSpPr txBox="1"/>
            <p:nvPr/>
          </p:nvSpPr>
          <p:spPr>
            <a:xfrm>
              <a:off x="794385" y="1212850"/>
              <a:ext cx="81076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范数与输出波动相关，输入嵌入的趋势更明显</a:t>
              </a:r>
            </a:p>
          </p:txBody>
        </p:sp>
      </p:grpSp>
      <p:grpSp>
        <p:nvGrpSpPr>
          <p:cNvPr id="17" name="p22-norms"/>
          <p:cNvGrpSpPr/>
          <p:nvPr/>
        </p:nvGrpSpPr>
        <p:grpSpPr>
          <a:xfrm>
            <a:off x="762000" y="2067358"/>
            <a:ext cx="10668000" cy="4221492"/>
            <a:chOff x="762000" y="2067358"/>
            <a:chExt cx="10668000" cy="4221492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" y="2067358"/>
              <a:ext cx="10668000" cy="2485158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846963" y="4854575"/>
              <a:ext cx="215306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28962" indent="-228962" algn="l">
                <a:buClr>
                  <a:srgbClr val="035679"/>
                </a:buClr>
                <a:buSzTx/>
                <a:buFontTx/>
                <a:buChar char="▪"/>
              </a:pPr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输入嵌入范数：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4044" y="5235575"/>
              <a:ext cx="33512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OF 总体上升，局部有跃升。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14338" y="4854575"/>
              <a:ext cx="215306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28962" indent="-228962" algn="l">
                <a:buClr>
                  <a:srgbClr val="035679"/>
                </a:buClr>
                <a:buSzTx/>
                <a:buFontTx/>
                <a:buChar char="▪"/>
              </a:pPr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隐藏状态范数：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1419" y="5235575"/>
              <a:ext cx="25636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OF 的变化幅度较小。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9625" y="5800725"/>
              <a:ext cx="10572750" cy="485775"/>
            </a:xfrm>
            <a:prstGeom prst="roundRect">
              <a:avLst>
                <a:gd name="adj" fmla="val 13725"/>
              </a:avLst>
            </a:prstGeom>
            <a:solidFill>
              <a:srgbClr val="F5F9FC"/>
            </a:solidFill>
            <a:ln w="9525">
              <a:solidFill>
                <a:srgbClr val="03567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02355" y="5892800"/>
              <a:ext cx="518729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图示观察不单独确立普适阈值或因果机制。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665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7C4F9-1F34-8D11-9859-88C2BC508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485614" y="423862"/>
            <a:ext cx="4610386" cy="507968"/>
          </a:xfrm>
          <a:prstGeom prst="rect">
            <a:avLst/>
          </a:prstGeom>
          <a:noFill/>
          <a:ln>
            <a:noFill/>
          </a:ln>
        </p:spPr>
        <p:txBody>
          <a:bodyPr wrap="none" lIns="95" tIns="45705" rIns="0" bIns="0" anchor="t" anchorCtr="0">
            <a:noAutofit/>
          </a:bodyPr>
          <a:lstStyle/>
          <a:p>
            <a:pPr algn="ctr"/>
            <a:r>
              <a:rPr lang="zh-CN" sz="202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理论指导的提示词选择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169FD1-2EA3-79BE-C417-245C57844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AE2A2F-3027-1B03-17A2-AB0A6D20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23-title"/>
          <p:cNvGrpSpPr/>
          <p:nvPr/>
        </p:nvGrpSpPr>
        <p:grpSpPr>
          <a:xfrm>
            <a:off x="794385" y="1212850"/>
            <a:ext cx="6896100" cy="586740"/>
            <a:chOff x="794385" y="1212850"/>
            <a:chExt cx="6896100" cy="586740"/>
          </a:xfrm>
        </p:grpSpPr>
        <p:sp>
          <p:nvSpPr>
            <p:cNvPr id="8" name="TextBox 8"/>
            <p:cNvSpPr txBox="1"/>
            <p:nvPr/>
          </p:nvSpPr>
          <p:spPr>
            <a:xfrm>
              <a:off x="794385" y="121285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按理论界选择提示词，并比较任务得分</a:t>
              </a:r>
            </a:p>
          </p:txBody>
        </p:sp>
      </p:grpSp>
      <p:grpSp>
        <p:nvGrpSpPr>
          <p:cNvPr id="18" name="p23-prompt-scores"/>
          <p:cNvGrpSpPr/>
          <p:nvPr/>
        </p:nvGrpSpPr>
        <p:grpSpPr>
          <a:xfrm>
            <a:off x="809625" y="1768475"/>
            <a:ext cx="10572750" cy="4279900"/>
            <a:chOff x="809625" y="1768475"/>
            <a:chExt cx="10572750" cy="4279900"/>
          </a:xfrm>
        </p:grpSpPr>
        <p:sp>
          <p:nvSpPr>
            <p:cNvPr id="10" name="TextBox 10"/>
            <p:cNvSpPr txBox="1"/>
            <p:nvPr/>
          </p:nvSpPr>
          <p:spPr>
            <a:xfrm>
              <a:off x="847344" y="1768475"/>
              <a:ext cx="68921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10502" indent="-210502" algn="l">
                <a:buClr>
                  <a:srgbClr val="111111"/>
                </a:buClr>
                <a:buSzTx/>
                <a:buFontTx/>
                <a:buChar char="•"/>
              </a:pPr>
              <a:r>
                <a:rPr lang="zh-CN" sz="19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理论启发：在原文条件下，选择具有较大 A⁻¹ 的提示词。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6963" y="2282825"/>
              <a:ext cx="17013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•</a:t>
              </a:r>
            </a:p>
          </p:txBody>
        </p:sp>
        <p:sp>
          <p:nvSpPr>
            <p:cNvPr id="12" name="p23-score-A"/>
            <p:cNvSpPr txBox="1">
              <a:spLocks noGrp="1"/>
            </p:cNvSpPr>
            <p:nvPr/>
          </p:nvSpPr>
          <p:spPr>
            <a:xfrm>
              <a:off x="1066800" y="2162175"/>
              <a:ext cx="3905250" cy="647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l"/>
              <a14:m xmlns:a14="http://schemas.microsoft.com/office/drawing/2010/main">
                <m:oMathPara xmlns:m="http://schemas.openxmlformats.org/officeDocument/2006/math">
                  <m:oMathParaPr>
                    <m:jc m:val="left"/>
                  </m:oMathParaPr>
                  <m:oMath>
                    <m:r>
                      <a:rPr lang="zh-CN" sz="22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𝐴</m:t>
                    </m:r>
                    <m:r>
                      <a:rPr lang="zh-CN" sz="2250" dirty="0">
                        <a:solidFill>
                          <a:srgbClr val="111111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sSup>
                      <m:sSupPr>
                        <m:ctrlPr>
                          <a:rPr lang="zh-CN" sz="2250" i="1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sz="2250" i="1" dirty="0">
                                <a:solidFill>
                                  <a:srgbClr val="11111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sz="22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zh-CN" sz="22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zh-CN" sz="22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sz="22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sSubPr>
                              <m:e>
                                <m:r>
                                  <a:rPr lang="zh-CN" sz="22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zh-CN" sz="2250" dirty="0">
                                    <a:solidFill>
                                      <a:srgbClr val="11111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ℎ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zh-CN" sz="2250" dirty="0">
                            <a:solidFill>
                              <a:srgbClr val="11111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sup>
                    </m:sSup>
                  </m:oMath>
                </m:oMathPara>
              </a14:m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7344" y="2730500"/>
              <a:ext cx="54804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210502" indent="-210502" algn="l">
                <a:buClr>
                  <a:srgbClr val="111111"/>
                </a:buClr>
                <a:buSzTx/>
                <a:buFontTx/>
                <a:buChar char="•"/>
              </a:pPr>
              <a:r>
                <a:rPr lang="zh-CN" sz="19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表格展示任务得分，不直接度量输入鲁棒性。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7438" y="3222625"/>
              <a:ext cx="16326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035679"/>
                  </a:solidFill>
                  <a:latin typeface="Times New Roman"/>
                  <a:ea typeface="Times New Roman"/>
                  <a:cs typeface="Times New Roman"/>
                </a:rPr>
                <a:t>Llama3.1-8b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5" name="p23-scores-0"/>
                <p:cNvGraphicFramePr>
                  <a:graphicFrameLocks noGrp="1"/>
                </p:cNvGraphicFramePr>
                <p:nvPr/>
              </p:nvGraphicFramePr>
              <p:xfrm>
                <a:off x="809625" y="3657600"/>
                <a:ext cx="5095875" cy="2390775"/>
              </p:xfrm>
              <a:graphic>
                <a:graphicData uri="http://schemas.openxmlformats.org/drawingml/2006/table">
                  <a:tbl>
                    <a:tblPr firstRow="1">
                      <a:tableStyleId>{5C22544A-7EE6-4342-B048-85BDC9FD1C3A}</a:tableStyleId>
                    </a:tblPr>
                    <a:tblGrid>
                      <a:gridCol w="1446427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112637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24174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112637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</a:tblGrid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Method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MATH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MMLU-Pro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GPQA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Baseline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46.8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45.7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23.7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TextGrad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45.2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47.4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27.6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OPRO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44.6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47.1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27.1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CFPO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47.0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48.1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27.6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Ours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47.2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49.0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32.3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</a:tbl>
                </a:graphicData>
              </a:graphic>
            </p:graphicFrame>
          </mc:Choice>
          <mc:Fallback>
            <p:graphicFrame>
              <p:nvGraphicFramePr>
                <p:cNvPr id="15" name="p23-scores-0"/>
                <p:cNvGraphicFramePr>
                  <a:graphicFrameLocks noGrp="1"/>
                </p:cNvGraphicFramePr>
                <p:nvPr/>
              </p:nvGraphicFramePr>
              <p:xfrm>
                <a:off x="809625" y="3657600"/>
                <a:ext cx="5095875" cy="2390775"/>
              </p:xfrm>
              <a:graphic>
                <a:graphicData uri="http://schemas.openxmlformats.org/drawingml/2006/table">
                  <a:tbl>
                    <a:tblPr firstRow="1">
                      <a:tableStyleId>{5C22544A-7EE6-4342-B048-85BDC9FD1C3A}</a:tableStyleId>
                    </a:tblPr>
                    <a:tblGrid>
                      <a:gridCol w="1446427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112637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24174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112637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</a:tblGrid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Method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MATH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MMLU-Pro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GPQA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Baseline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46.8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45.7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23.7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TextGrad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45.2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47.4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27.6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OPRO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44.6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47.1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27.1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CFPO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47.0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48.1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27.6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Ours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47.2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49.0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32.3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</a:tbl>
                </a:graphicData>
              </a:graphic>
            </p:graphicFrame>
          </mc:Fallback>
        </mc:AlternateContent>
        <p:sp>
          <p:nvSpPr>
            <p:cNvPr id="16" name="TextBox 16"/>
            <p:cNvSpPr txBox="1"/>
            <p:nvPr/>
          </p:nvSpPr>
          <p:spPr>
            <a:xfrm>
              <a:off x="6314313" y="3222625"/>
              <a:ext cx="133574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035679"/>
                  </a:solidFill>
                  <a:latin typeface="Times New Roman"/>
                  <a:ea typeface="Times New Roman"/>
                  <a:cs typeface="Times New Roman"/>
                </a:rPr>
                <a:t>Qwen3-8b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17" name="p23-scores-1"/>
                <p:cNvGraphicFramePr>
                  <a:graphicFrameLocks noGrp="1"/>
                </p:cNvGraphicFramePr>
                <p:nvPr/>
              </p:nvGraphicFramePr>
              <p:xfrm>
                <a:off x="6286500" y="3657600"/>
                <a:ext cx="5095875" cy="2390775"/>
              </p:xfrm>
              <a:graphic>
                <a:graphicData uri="http://schemas.openxmlformats.org/drawingml/2006/table">
                  <a:tbl>
                    <a:tblPr firstRow="1">
                      <a:tableStyleId>{5C22544A-7EE6-4342-B048-85BDC9FD1C3A}</a:tableStyleId>
                    </a:tblPr>
                    <a:tblGrid>
                      <a:gridCol w="1446427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112637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24174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112637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</a:tblGrid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Method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MATH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MMLU-Pro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GPQA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Baseline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77.4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42.3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37.1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TextGrad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77.6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44.9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38.4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OPRO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77.2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45.9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37.4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CFPO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77.0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45.8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38.4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Ours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77.6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49.2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38.4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</a:tbl>
                </a:graphicData>
              </a:graphic>
            </p:graphicFrame>
          </mc:Choice>
          <mc:Fallback>
            <p:graphicFrame>
              <p:nvGraphicFramePr>
                <p:cNvPr id="17" name="p23-scores-1"/>
                <p:cNvGraphicFramePr>
                  <a:graphicFrameLocks noGrp="1"/>
                </p:cNvGraphicFramePr>
                <p:nvPr/>
              </p:nvGraphicFramePr>
              <p:xfrm>
                <a:off x="6286500" y="3657600"/>
                <a:ext cx="5095875" cy="2390775"/>
              </p:xfrm>
              <a:graphic>
                <a:graphicData uri="http://schemas.openxmlformats.org/drawingml/2006/table">
                  <a:tbl>
                    <a:tblPr firstRow="1">
                      <a:tableStyleId>{5C22544A-7EE6-4342-B048-85BDC9FD1C3A}</a:tableStyleId>
                    </a:tblPr>
                    <a:tblGrid>
                      <a:gridCol w="1446427">
                        <a:extLst>
                          <a:ext uri="{9D8B030D-6E8A-4147-A177-3AD203B41FA5}">
                            <a16:colId xmlns:a16="http://schemas.microsoft.com/office/drawing/2014/main" val="20000"/>
                          </a:ext>
                        </a:extLst>
                      </a:gridCol>
                      <a:gridCol w="1112637">
                        <a:extLst>
                          <a:ext uri="{9D8B030D-6E8A-4147-A177-3AD203B41FA5}">
                            <a16:colId xmlns:a16="http://schemas.microsoft.com/office/drawing/2014/main" val="20001"/>
                          </a:ext>
                        </a:extLst>
                      </a:gridCol>
                      <a:gridCol w="1424174">
                        <a:extLst>
                          <a:ext uri="{9D8B030D-6E8A-4147-A177-3AD203B41FA5}">
                            <a16:colId xmlns:a16="http://schemas.microsoft.com/office/drawing/2014/main" val="20002"/>
                          </a:ext>
                        </a:extLst>
                      </a:gridCol>
                      <a:gridCol w="1112637">
                        <a:extLst>
                          <a:ext uri="{9D8B030D-6E8A-4147-A177-3AD203B41FA5}">
                            <a16:colId xmlns:a16="http://schemas.microsoft.com/office/drawing/2014/main" val="20003"/>
                          </a:ext>
                        </a:extLst>
                      </a:gridCol>
                    </a:tblGrid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Method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MATH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MMLU-Pro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GPQA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0"/>
                        </a:ext>
                      </a:extLst>
                    </a:tr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Baseline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77.4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42.3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37.1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1"/>
                        </a:ext>
                      </a:extLst>
                    </a:tr>
                    <a:tr h="398463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TextGrad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77.6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44.9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38.4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2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OPRO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77.2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45.9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37.4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3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CFPO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77.0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45.8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0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38.4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FFFFFF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4"/>
                        </a:ext>
                      </a:extLst>
                    </a:tr>
                    <a:tr h="398462"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en-US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Ours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77.6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49.2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tc>
                        <a:txBody>
                          <a:bodyPr/>
                          <a:lstStyle/>
                          <a:p>
                            <a:pPr algn="ctr"/>
                            <a:r>
                              <a:rPr lang="zh-CN" sz="1720" b="1">
                                <a:solidFill>
                                  <a:srgbClr val="111111"/>
                                </a:solidFill>
                                <a:latin typeface="Times New Roman"/>
                                <a:ea typeface="SimSun"/>
                                <a:cs typeface="Times New Roman"/>
                              </a:rPr>
                              <a:t>38.4</a:t>
                            </a:r>
                          </a:p>
                        </a:txBody>
                        <a:tcPr marL="47625" marR="47625" marT="46323" marB="46323" anchor="ctr">
                          <a:lnL>
                            <a:noFill/>
                          </a:lnL>
                          <a:lnR>
                            <a:noFill/>
                          </a:lnR>
                          <a:lnT w="7620">
                            <a:solidFill>
                              <a:srgbClr val="444444"/>
                            </a:solidFill>
                            <a:prstDash val="solid"/>
                          </a:lnT>
                          <a:lnB w="7620">
                            <a:solidFill>
                              <a:srgbClr val="444444"/>
                            </a:solidFill>
                            <a:prstDash val="solid"/>
                          </a:lnB>
                          <a:solidFill>
                            <a:srgbClr val="E8F3FA"/>
                          </a:solidFill>
                        </a:tcPr>
                      </a:tc>
                      <a:extLst>
                        <a:ext uri="{0D108BD9-81ED-4DB2-BD59-A6C34878D82A}">
                          <a16:rowId xmlns:a16="http://schemas.microsoft.com/office/drawing/2014/main" val="10005"/>
                        </a:ext>
                      </a:extLst>
                    </a:tr>
                  </a:tbl>
                </a:graphicData>
              </a:graphic>
            </p:graphicFrame>
          </mc:Fallback>
        </mc:AlternateContent>
      </p:grpSp>
    </p:spTree>
    <p:extLst>
      <p:ext uri="{BB962C8B-B14F-4D97-AF65-F5344CB8AC3E}">
        <p14:creationId xmlns:p14="http://schemas.microsoft.com/office/powerpoint/2010/main" val="2774636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E39B33E-D8E5-861A-2BDA-12D767281AC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0B8E23-9ACD-C29D-954D-435E8448E3D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595701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4805E-4ABD-1396-424C-9ED05DCC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485614" y="423862"/>
            <a:ext cx="2761678" cy="507968"/>
          </a:xfrm>
          <a:prstGeom prst="rect">
            <a:avLst/>
          </a:prstGeom>
          <a:noFill/>
          <a:ln>
            <a:noFill/>
          </a:ln>
        </p:spPr>
        <p:txBody>
          <a:bodyPr wrap="none" lIns="191" tIns="58406" rIns="0" bIns="0" anchor="t" anchorCtr="0">
            <a:noAutofit/>
          </a:bodyPr>
          <a:lstStyle/>
          <a:p>
            <a:pPr algn="ctr"/>
            <a:r>
              <a:rPr lang="zh-CN" sz="2020" b="1" dirty="0">
                <a:solidFill>
                  <a:srgbClr val="035679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6AC3B1-69B2-662F-78CC-15F918D5A6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0588DE-33EA-6386-EBF5-8307F01C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9" name="p25-title"/>
          <p:cNvGrpSpPr/>
          <p:nvPr/>
        </p:nvGrpSpPr>
        <p:grpSpPr>
          <a:xfrm>
            <a:off x="2442972" y="1384300"/>
            <a:ext cx="7306056" cy="704088"/>
            <a:chOff x="2442972" y="1384300"/>
            <a:chExt cx="7306056" cy="704088"/>
          </a:xfrm>
        </p:grpSpPr>
        <p:sp>
          <p:nvSpPr>
            <p:cNvPr id="8" name="TextBox 8"/>
            <p:cNvSpPr txBox="1"/>
            <p:nvPr/>
          </p:nvSpPr>
          <p:spPr>
            <a:xfrm>
              <a:off x="2442972" y="1384300"/>
              <a:ext cx="730605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理论给出边界，实验检验相关趋势</a:t>
              </a:r>
            </a:p>
          </p:txBody>
        </p:sp>
      </p:grpSp>
      <p:grpSp>
        <p:nvGrpSpPr>
          <p:cNvPr id="33" name="p25-summary"/>
          <p:cNvGrpSpPr/>
          <p:nvPr/>
        </p:nvGrpSpPr>
        <p:grpSpPr>
          <a:xfrm>
            <a:off x="333375" y="2200275"/>
            <a:ext cx="11563350" cy="3990975"/>
            <a:chOff x="333375" y="2200275"/>
            <a:chExt cx="11563350" cy="3990975"/>
          </a:xfrm>
        </p:grpSpPr>
        <p:sp>
          <p:nvSpPr>
            <p:cNvPr id="10" name="Rectangle 10"/>
            <p:cNvSpPr/>
            <p:nvPr/>
          </p:nvSpPr>
          <p:spPr>
            <a:xfrm>
              <a:off x="333375" y="2200275"/>
              <a:ext cx="11525250" cy="952500"/>
            </a:xfrm>
            <a:prstGeom prst="roundRect">
              <a:avLst>
                <a:gd name="adj" fmla="val 7000"/>
              </a:avLst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36445" y="2428875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问题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429000" y="2447925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9050">
              <a:solidFill>
                <a:srgbClr val="03567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29634" y="2470150"/>
              <a:ext cx="56012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输入扰动如何影响多步 CoT 推理？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3375" y="3419475"/>
              <a:ext cx="3562350" cy="1828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C6E1F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3375" y="3419475"/>
              <a:ext cx="3562350" cy="542925"/>
            </a:xfrm>
            <a:prstGeom prst="roundRect">
              <a:avLst>
                <a:gd name="adj" fmla="val 12281"/>
              </a:avLst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68119" y="3505200"/>
              <a:ext cx="692861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理论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1688" y="4048125"/>
              <a:ext cx="3099054" cy="805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通过递推与 LSA 分析，</a:t>
              </a:r>
              <a:b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给出带条件的扰动保证界。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000500" y="433387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76200">
              <a:solidFill>
                <a:srgbClr val="73ADC8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4180522" y="4298728"/>
              <a:ext cx="67628" cy="70294"/>
            </a:xfrm>
            <a:custGeom>
              <a:avLst/>
              <a:gdLst/>
              <a:ahLst/>
              <a:cxnLst/>
              <a:rect l="l" t="t" r="r" b="b"/>
              <a:pathLst>
                <a:path w="67628" h="70294">
                  <a:moveTo>
                    <a:pt x="67628" y="35147"/>
                  </a:moveTo>
                  <a:lnTo>
                    <a:pt x="0" y="70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ADC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33875" y="3419475"/>
              <a:ext cx="3562350" cy="1828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C6E1F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33875" y="3419475"/>
              <a:ext cx="3562350" cy="542925"/>
            </a:xfrm>
            <a:prstGeom prst="roundRect">
              <a:avLst>
                <a:gd name="adj" fmla="val 12281"/>
              </a:avLst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68619" y="3505200"/>
              <a:ext cx="692861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实验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52188" y="4048125"/>
              <a:ext cx="3099054" cy="805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四个模型、三个任务，</a:t>
              </a:r>
              <a:b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检验步数与范数相关趋势。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001000" y="433387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76200">
              <a:solidFill>
                <a:srgbClr val="73ADC8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8181022" y="4298728"/>
              <a:ext cx="67628" cy="70294"/>
            </a:xfrm>
            <a:custGeom>
              <a:avLst/>
              <a:gdLst/>
              <a:ahLst/>
              <a:cxnLst/>
              <a:rect l="l" t="t" r="r" b="b"/>
              <a:pathLst>
                <a:path w="67628" h="70294">
                  <a:moveTo>
                    <a:pt x="67628" y="35147"/>
                  </a:moveTo>
                  <a:lnTo>
                    <a:pt x="0" y="70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ADC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334375" y="3419475"/>
              <a:ext cx="3562350" cy="18288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9525">
              <a:solidFill>
                <a:srgbClr val="C6E1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334375" y="3419475"/>
              <a:ext cx="3562350" cy="542925"/>
            </a:xfrm>
            <a:prstGeom prst="roundRect">
              <a:avLst>
                <a:gd name="adj" fmla="val 12281"/>
              </a:avLst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769119" y="3505200"/>
              <a:ext cx="692861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应用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52688" y="4048125"/>
              <a:ext cx="2329434" cy="8056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用理论界启发提示词</a:t>
              </a:r>
              <a:b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202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选择。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33375" y="5572125"/>
              <a:ext cx="11525250" cy="619125"/>
            </a:xfrm>
            <a:prstGeom prst="roundRect">
              <a:avLst>
                <a:gd name="adj" fmla="val 10769"/>
              </a:avLst>
            </a:prstGeom>
            <a:solidFill>
              <a:srgbClr val="E8F3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21350"/>
              <a:ext cx="627501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局限：实验检验相关趋势，不能单独建立因果机制。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39125" y="5734050"/>
              <a:ext cx="317840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后续：验证 Γ 与 η 的影响。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950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zh-CN" altLang="en-US" dirty="0"/>
              <a:t>思维链鲁棒性的边界：推理步数、嵌入范数及其他</a:t>
            </a:r>
          </a:p>
          <a:p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  <p:grpSp>
        <p:nvGrpSpPr>
          <p:cNvPr id="7" name="p26-title"/>
          <p:cNvGrpSpPr/>
          <p:nvPr/>
        </p:nvGrpSpPr>
        <p:grpSpPr>
          <a:xfrm>
            <a:off x="792861" y="1174750"/>
            <a:ext cx="5364480" cy="645414"/>
            <a:chOff x="792861" y="1174750"/>
            <a:chExt cx="5364480" cy="645414"/>
          </a:xfrm>
        </p:grpSpPr>
        <p:sp>
          <p:nvSpPr>
            <p:cNvPr id="6" name="TextBox 6"/>
            <p:cNvSpPr txBox="1"/>
            <p:nvPr/>
          </p:nvSpPr>
          <p:spPr>
            <a:xfrm>
              <a:off x="792861" y="1174750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研究启发与仍待验证的问题</a:t>
              </a:r>
            </a:p>
          </p:txBody>
        </p:sp>
      </p:grpSp>
      <p:grpSp>
        <p:nvGrpSpPr>
          <p:cNvPr id="11" name="p26-approved-logo"/>
          <p:cNvGrpSpPr/>
          <p:nvPr/>
        </p:nvGrpSpPr>
        <p:grpSpPr>
          <a:xfrm>
            <a:off x="762000" y="247650"/>
            <a:ext cx="762000" cy="762000"/>
            <a:chOff x="762000" y="247650"/>
            <a:chExt cx="762000" cy="762000"/>
          </a:xfrm>
        </p:grpSpPr>
        <p:sp>
          <p:nvSpPr>
            <p:cNvPr id="8" name="Rectangle 8"/>
            <p:cNvSpPr/>
            <p:nvPr/>
          </p:nvSpPr>
          <p:spPr>
            <a:xfrm>
              <a:off x="762000" y="247650"/>
              <a:ext cx="762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2463" y="278797"/>
              <a:ext cx="703259" cy="648367"/>
            </a:xfrm>
            <a:prstGeom prst="rect">
              <a:avLst/>
            </a:prstGeom>
          </p:spPr>
        </p:pic>
        <p:sp>
          <p:nvSpPr>
            <p:cNvPr id="10" name="Line 10"/>
            <p:cNvSpPr/>
            <p:nvPr/>
          </p:nvSpPr>
          <p:spPr>
            <a:xfrm>
              <a:off x="782288" y="960787"/>
              <a:ext cx="741712" cy="9525"/>
            </a:xfrm>
            <a:custGeom>
              <a:avLst/>
              <a:gdLst/>
              <a:ahLst/>
              <a:cxnLst/>
              <a:rect l="l" t="t" r="r" b="b"/>
              <a:pathLst>
                <a:path w="741712" h="9525">
                  <a:moveTo>
                    <a:pt x="0" y="0"/>
                  </a:moveTo>
                  <a:lnTo>
                    <a:pt x="741712" y="0"/>
                  </a:lnTo>
                </a:path>
              </a:pathLst>
            </a:custGeom>
            <a:noFill/>
            <a:ln w="19050">
              <a:solidFill>
                <a:srgbClr val="035679"/>
              </a:solidFill>
            </a:ln>
          </p:spPr>
        </p:sp>
      </p:grpSp>
      <p:grpSp>
        <p:nvGrpSpPr>
          <p:cNvPr id="35" name="p26-implications"/>
          <p:cNvGrpSpPr/>
          <p:nvPr/>
        </p:nvGrpSpPr>
        <p:grpSpPr>
          <a:xfrm>
            <a:off x="428625" y="2000250"/>
            <a:ext cx="11334750" cy="4238625"/>
            <a:chOff x="428625" y="2000250"/>
            <a:chExt cx="11334750" cy="4238625"/>
          </a:xfrm>
        </p:grpSpPr>
        <p:sp>
          <p:nvSpPr>
            <p:cNvPr id="12" name="Rectangle 12"/>
            <p:cNvSpPr/>
            <p:nvPr/>
          </p:nvSpPr>
          <p:spPr>
            <a:xfrm>
              <a:off x="428625" y="2000250"/>
              <a:ext cx="11334750" cy="828675"/>
            </a:xfrm>
            <a:prstGeom prst="roundRect">
              <a:avLst>
                <a:gd name="adj" fmla="val 9195"/>
              </a:avLst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609600" y="2162175"/>
              <a:ext cx="514350" cy="514350"/>
            </a:xfrm>
            <a:prstGeom prst="ellipse">
              <a:avLst/>
            </a:prstGeom>
            <a:solidFill>
              <a:srgbClr val="03567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4699" y="2206625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352550" y="22098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2382">
              <a:solidFill>
                <a:srgbClr val="5C94B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53921" y="2216150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建模：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06446" y="2216150"/>
              <a:ext cx="35882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用 LSA 简化分析对象。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8625" y="3067050"/>
              <a:ext cx="11334750" cy="828675"/>
            </a:xfrm>
            <a:prstGeom prst="roundRect">
              <a:avLst>
                <a:gd name="adj" fmla="val 9195"/>
              </a:avLst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09600" y="3228975"/>
              <a:ext cx="514350" cy="514350"/>
            </a:xfrm>
            <a:prstGeom prst="ellipse">
              <a:avLst/>
            </a:prstGeom>
            <a:solidFill>
              <a:srgbClr val="03567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4699" y="3273425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352550" y="32766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2382">
              <a:solidFill>
                <a:srgbClr val="5C94B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53921" y="3282950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分析：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06446" y="3282950"/>
              <a:ext cx="52031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以 Lipschitz 系数刻画扰动传播。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28625" y="4133850"/>
              <a:ext cx="11334750" cy="828675"/>
            </a:xfrm>
            <a:prstGeom prst="roundRect">
              <a:avLst>
                <a:gd name="adj" fmla="val 9195"/>
              </a:avLst>
            </a:prstGeom>
            <a:solidFill>
              <a:srgbClr val="F5F9FC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09600" y="4295775"/>
              <a:ext cx="514350" cy="514350"/>
            </a:xfrm>
            <a:prstGeom prst="ellipse">
              <a:avLst/>
            </a:prstGeom>
            <a:solidFill>
              <a:srgbClr val="03567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4699" y="4340225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352550" y="43434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2382">
              <a:solidFill>
                <a:srgbClr val="5C94B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53921" y="4349750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35679"/>
                  </a:solidFill>
                  <a:latin typeface="Microsoft YaHei"/>
                  <a:ea typeface="Microsoft YaHei"/>
                  <a:cs typeface="Microsoft YaHei"/>
                </a:rPr>
                <a:t>应用：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06446" y="4349750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理论界为提示词选择提供启发。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28625" y="5353050"/>
              <a:ext cx="11334750" cy="885825"/>
            </a:xfrm>
            <a:prstGeom prst="roundRect">
              <a:avLst>
                <a:gd name="adj" fmla="val 6452"/>
              </a:avLst>
            </a:prstGeom>
            <a:solidFill>
              <a:srgbClr val="FFF5F5"/>
            </a:solidFill>
            <a:ln w="11430">
              <a:solidFill>
                <a:srgbClr val="E04242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09600" y="5534025"/>
              <a:ext cx="514350" cy="51435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4699" y="5578475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36014" y="5616575"/>
              <a:ext cx="158521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DC2626"/>
                  </a:solidFill>
                  <a:latin typeface="Microsoft YaHei"/>
                  <a:ea typeface="Microsoft YaHei"/>
                  <a:cs typeface="Microsoft YaHei"/>
                </a:rPr>
                <a:t>仍待验证：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99282" y="5480050"/>
              <a:ext cx="4288536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1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训练数据相关矩阵 Γ 与残差系数 η，</a:t>
              </a:r>
              <a:br>
                <a:rPr lang="zh-CN" sz="21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2100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如何影响真实 LLM 的输入鲁棒性？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en-US" sz="5400" dirty="0"/>
              <a:t>恳请大家批评指正</a:t>
            </a:r>
            <a:r>
              <a:rPr lang="zh-CN" altLang="en-US" dirty="0"/>
              <a:t>！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4"/>
          </p:nvPr>
        </p:nvSpPr>
        <p:spPr>
          <a:xfrm>
            <a:off x="3210877" y="4800599"/>
            <a:ext cx="5770245" cy="558165"/>
          </a:xfrm>
        </p:spPr>
        <p:txBody>
          <a:bodyPr/>
          <a:lstStyle/>
          <a:p>
            <a:r>
              <a:rPr lang="zh-CN" altLang="en-US" dirty="0"/>
              <a:t>讲解人：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4294967295"/>
          </p:nvPr>
        </p:nvSpPr>
        <p:spPr>
          <a:xfrm>
            <a:off x="0" y="6356350"/>
            <a:ext cx="2743200" cy="365125"/>
          </a:xfrm>
        </p:spPr>
        <p:txBody>
          <a:bodyPr/>
          <a:lstStyle/>
          <a:p>
            <a:fld id="{77AA533F-6942-7C4D-B33F-2CDAE2E7EB70}" type="datetime1">
              <a:rPr kumimoji="1" lang="zh-CN" altLang="en-US" smtClean="0"/>
              <a:t>2026/10/21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5198</Words>
  <Application>Microsoft Office PowerPoint</Application>
  <PresentationFormat>宽屏</PresentationFormat>
  <Paragraphs>404</Paragraphs>
  <Slides>27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Kata Bold</vt:lpstr>
      <vt:lpstr>Microsoft YaHei Bold</vt:lpstr>
      <vt:lpstr>Oxford Regular</vt:lpstr>
      <vt:lpstr>等线</vt:lpstr>
      <vt:lpstr>等线 Light</vt:lpstr>
      <vt:lpstr>微软雅黑</vt:lpstr>
      <vt:lpstr>微软雅黑</vt:lpstr>
      <vt:lpstr>Arial</vt:lpstr>
      <vt:lpstr>Calibri</vt:lpstr>
      <vt:lpstr>Cambria Math</vt:lpstr>
      <vt:lpstr>DejaVu Math TeX Gyre</vt:lpstr>
      <vt:lpstr>Sitka Heading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Yongheng Zhang</dc:creator>
  <cp:lastModifiedBy>誉铭 黄</cp:lastModifiedBy>
  <cp:revision>1140</cp:revision>
  <dcterms:created xsi:type="dcterms:W3CDTF">2024-03-20T04:37:00Z</dcterms:created>
  <dcterms:modified xsi:type="dcterms:W3CDTF">2026-10-21T08:51:40Z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AD55EC46CB3447C981186C8461C90A03_12</vt:lpwstr>
  </property>
</Properties>
</file>