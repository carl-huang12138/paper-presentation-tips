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34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clustered"/>
        <c:varyColors val="1"/>
        <c:ser>
          <c:idx val="0"/>
          <c:order val="0"/>
          <c:tx>
            <c:strRef>
              <c:f>Sheet1!$B$1</c:f>
              <c:strCache>
                <c:ptCount val="1"/>
                <c:pt idx="0">
                  <c:v>菜系平均排放</c:v>
                </c:pt>
              </c:strCache>
            </c:strRef>
          </c:tx>
          <c:spPr>
            <a:solidFill>
              <a:schemeClr val="accent1"/>
            </a:solidFill>
            <a:ln>
              <a:solidFill>
                <a:schemeClr val="accent1"/>
              </a:solidFill>
            </a:ln>
          </c:spPr>
          <c:invertIfNegative val="0"/>
          <c:dPt>
            <c:idx val="0"/>
            <c:invertIfNegative val="0"/>
            <c:bubble3D val="0"/>
            <c:extLst>
              <c:ext xmlns:c16="http://schemas.microsoft.com/office/drawing/2014/chart" uri="{C3380CC4-5D6E-409C-BE32-E72D297353CC}">
                <c16:uniqueId val="{00000001-17F0-4D96-976A-AAC566101B5C}"/>
              </c:ext>
            </c:extLst>
          </c:dPt>
          <c:dPt>
            <c:idx val="1"/>
            <c:invertIfNegative val="0"/>
            <c:bubble3D val="0"/>
            <c:extLst>
              <c:ext xmlns:c16="http://schemas.microsoft.com/office/drawing/2014/chart" uri="{C3380CC4-5D6E-409C-BE32-E72D297353CC}">
                <c16:uniqueId val="{00000003-17F0-4D96-976A-AAC566101B5C}"/>
              </c:ext>
            </c:extLst>
          </c:dPt>
          <c:dPt>
            <c:idx val="2"/>
            <c:invertIfNegative val="0"/>
            <c:bubble3D val="0"/>
            <c:extLst>
              <c:ext xmlns:c16="http://schemas.microsoft.com/office/drawing/2014/chart" uri="{C3380CC4-5D6E-409C-BE32-E72D297353CC}">
                <c16:uniqueId val="{00000005-17F0-4D96-976A-AAC566101B5C}"/>
              </c:ext>
            </c:extLst>
          </c:dPt>
          <c:dPt>
            <c:idx val="3"/>
            <c:invertIfNegative val="0"/>
            <c:bubble3D val="0"/>
            <c:extLst>
              <c:ext xmlns:c16="http://schemas.microsoft.com/office/drawing/2014/chart" uri="{C3380CC4-5D6E-409C-BE32-E72D297353CC}">
                <c16:uniqueId val="{00000007-17F0-4D96-976A-AAC566101B5C}"/>
              </c:ext>
            </c:extLst>
          </c:dPt>
          <c:dPt>
            <c:idx val="4"/>
            <c:invertIfNegative val="0"/>
            <c:bubble3D val="0"/>
            <c:extLst>
              <c:ext xmlns:c16="http://schemas.microsoft.com/office/drawing/2014/chart" uri="{C3380CC4-5D6E-409C-BE32-E72D297353CC}">
                <c16:uniqueId val="{00000009-17F0-4D96-976A-AAC566101B5C}"/>
              </c:ext>
            </c:extLst>
          </c:dPt>
          <c:dPt>
            <c:idx val="5"/>
            <c:invertIfNegative val="0"/>
            <c:bubble3D val="0"/>
            <c:spPr>
              <a:solidFill>
                <a:schemeClr val="accent2"/>
              </a:solidFill>
              <a:ln>
                <a:solidFill>
                  <a:schemeClr val="accent2"/>
                </a:solidFill>
              </a:ln>
            </c:spPr>
            <c:extLst>
              <c:ext xmlns:c16="http://schemas.microsoft.com/office/drawing/2014/chart" uri="{C3380CC4-5D6E-409C-BE32-E72D297353CC}">
                <c16:uniqueId val="{0000000B-17F0-4D96-976A-AAC566101B5C}"/>
              </c:ext>
            </c:extLst>
          </c:dPt>
          <c:dPt>
            <c:idx val="6"/>
            <c:invertIfNegative val="0"/>
            <c:bubble3D val="0"/>
            <c:spPr>
              <a:solidFill>
                <a:schemeClr val="accent2"/>
              </a:solidFill>
              <a:ln>
                <a:solidFill>
                  <a:schemeClr val="accent2"/>
                </a:solidFill>
              </a:ln>
            </c:spPr>
            <c:extLst>
              <c:ext xmlns:c16="http://schemas.microsoft.com/office/drawing/2014/chart" uri="{C3380CC4-5D6E-409C-BE32-E72D297353CC}">
                <c16:uniqueId val="{0000000D-17F0-4D96-976A-AAC566101B5C}"/>
              </c:ext>
            </c:extLst>
          </c:dPt>
          <c:dPt>
            <c:idx val="7"/>
            <c:invertIfNegative val="0"/>
            <c:bubble3D val="0"/>
            <c:spPr>
              <a:solidFill>
                <a:schemeClr val="accent2"/>
              </a:solidFill>
              <a:ln>
                <a:solidFill>
                  <a:schemeClr val="accent2"/>
                </a:solidFill>
              </a:ln>
            </c:spPr>
            <c:extLst>
              <c:ext xmlns:c16="http://schemas.microsoft.com/office/drawing/2014/chart" uri="{C3380CC4-5D6E-409C-BE32-E72D297353CC}">
                <c16:uniqueId val="{0000000F-17F0-4D96-976A-AAC566101B5C}"/>
              </c:ext>
            </c:extLst>
          </c:dPt>
          <c:dPt>
            <c:idx val="8"/>
            <c:invertIfNegative val="0"/>
            <c:bubble3D val="0"/>
            <c:spPr>
              <a:solidFill>
                <a:schemeClr val="accent2"/>
              </a:solidFill>
              <a:ln>
                <a:solidFill>
                  <a:schemeClr val="accent2"/>
                </a:solidFill>
              </a:ln>
            </c:spPr>
            <c:extLst>
              <c:ext xmlns:c16="http://schemas.microsoft.com/office/drawing/2014/chart" uri="{C3380CC4-5D6E-409C-BE32-E72D297353CC}">
                <c16:uniqueId val="{00000011-17F0-4D96-976A-AAC566101B5C}"/>
              </c:ext>
            </c:extLst>
          </c:dPt>
          <c:dPt>
            <c:idx val="9"/>
            <c:invertIfNegative val="0"/>
            <c:bubble3D val="0"/>
            <c:spPr>
              <a:solidFill>
                <a:schemeClr val="accent2"/>
              </a:solidFill>
              <a:ln>
                <a:solidFill>
                  <a:schemeClr val="accent2"/>
                </a:solidFill>
              </a:ln>
            </c:spPr>
            <c:extLst>
              <c:ext xmlns:c16="http://schemas.microsoft.com/office/drawing/2014/chart" uri="{C3380CC4-5D6E-409C-BE32-E72D297353CC}">
                <c16:uniqueId val="{00000013-17F0-4D96-976A-AAC566101B5C}"/>
              </c:ext>
            </c:extLst>
          </c:dPt>
          <c:cat>
            <c:strRef>
              <c:f>Sheet1!$A$2:$A$11</c:f>
              <c:strCache>
                <c:ptCount val="10"/>
                <c:pt idx="0">
                  <c:v>藏菜</c:v>
                </c:pt>
                <c:pt idx="1">
                  <c:v>西北菜</c:v>
                </c:pt>
                <c:pt idx="2">
                  <c:v>内蒙古菜</c:v>
                </c:pt>
                <c:pt idx="3">
                  <c:v>新疆菜</c:v>
                </c:pt>
                <c:pt idx="4">
                  <c:v>山西菜</c:v>
                </c:pt>
                <c:pt idx="5">
                  <c:v>海南菜</c:v>
                </c:pt>
                <c:pt idx="6">
                  <c:v>苏菜</c:v>
                </c:pt>
                <c:pt idx="7">
                  <c:v>小吃</c:v>
                </c:pt>
                <c:pt idx="8">
                  <c:v>面包甜点</c:v>
                </c:pt>
                <c:pt idx="9">
                  <c:v>素食</c:v>
                </c:pt>
              </c:strCache>
            </c:strRef>
          </c:cat>
          <c:val>
            <c:numRef>
              <c:f>Sheet1!$B$2:$B$11</c:f>
              <c:numCache>
                <c:formatCode>General</c:formatCode>
                <c:ptCount val="10"/>
                <c:pt idx="0">
                  <c:v>23.42</c:v>
                </c:pt>
                <c:pt idx="1">
                  <c:v>18.63</c:v>
                </c:pt>
                <c:pt idx="2">
                  <c:v>16.04</c:v>
                </c:pt>
                <c:pt idx="3">
                  <c:v>15.76</c:v>
                </c:pt>
                <c:pt idx="4">
                  <c:v>13.11</c:v>
                </c:pt>
                <c:pt idx="5">
                  <c:v>4.34</c:v>
                </c:pt>
                <c:pt idx="6">
                  <c:v>4.21</c:v>
                </c:pt>
                <c:pt idx="7">
                  <c:v>3.79</c:v>
                </c:pt>
                <c:pt idx="8">
                  <c:v>3.11</c:v>
                </c:pt>
                <c:pt idx="9">
                  <c:v>0.82</c:v>
                </c:pt>
              </c:numCache>
            </c:numRef>
          </c:val>
          <c:extLst>
            <c:ext xmlns:c16="http://schemas.microsoft.com/office/drawing/2014/chart" uri="{C3380CC4-5D6E-409C-BE32-E72D297353CC}">
              <c16:uniqueId val="{00000014-17F0-4D96-976A-AAC566101B5C}"/>
            </c:ext>
          </c:extLst>
        </c:ser>
        <c:dLbls>
          <c:showLegendKey val="0"/>
          <c:showVal val="0"/>
          <c:showCatName val="0"/>
          <c:showSerName val="0"/>
          <c:showPercent val="0"/>
          <c:showBubbleSize val="0"/>
        </c:dLbls>
        <c:gapWidth val="68"/>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25"/>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食材生命周期</c:v>
                </c:pt>
              </c:strCache>
            </c:strRef>
          </c:tx>
          <c:spPr>
            <a:solidFill>
              <a:schemeClr val="accent2"/>
            </a:solidFill>
            <a:ln>
              <a:solidFill>
                <a:schemeClr val="accent2"/>
              </a:solidFill>
            </a:ln>
          </c:spPr>
          <c:invertIfNegative val="0"/>
          <c:cat>
            <c:strRef>
              <c:f>Sheet1!$A$2:$A$2</c:f>
              <c:strCache>
                <c:ptCount val="1"/>
                <c:pt idx="0">
                  <c:v>平均单道菜</c:v>
                </c:pt>
              </c:strCache>
            </c:strRef>
          </c:cat>
          <c:val>
            <c:numRef>
              <c:f>Sheet1!$B$2:$B$2</c:f>
              <c:numCache>
                <c:formatCode>General</c:formatCode>
                <c:ptCount val="1"/>
                <c:pt idx="0">
                  <c:v>7.94</c:v>
                </c:pt>
              </c:numCache>
            </c:numRef>
          </c:val>
          <c:extLst>
            <c:ext xmlns:c16="http://schemas.microsoft.com/office/drawing/2014/chart" uri="{C3380CC4-5D6E-409C-BE32-E72D297353CC}">
              <c16:uniqueId val="{00000000-146F-47C6-AF48-AD2690A5D607}"/>
            </c:ext>
          </c:extLst>
        </c:ser>
        <c:ser>
          <c:idx val="1"/>
          <c:order val="1"/>
          <c:tx>
            <c:strRef>
              <c:f>Sheet1!$C$1</c:f>
              <c:strCache>
                <c:ptCount val="1"/>
                <c:pt idx="0">
                  <c:v>烹饪</c:v>
                </c:pt>
              </c:strCache>
            </c:strRef>
          </c:tx>
          <c:spPr>
            <a:solidFill>
              <a:schemeClr val="accent3"/>
            </a:solidFill>
            <a:ln>
              <a:solidFill>
                <a:schemeClr val="accent3"/>
              </a:solidFill>
            </a:ln>
          </c:spPr>
          <c:invertIfNegative val="0"/>
          <c:cat>
            <c:strRef>
              <c:f>Sheet1!$A$2:$A$2</c:f>
              <c:strCache>
                <c:ptCount val="1"/>
                <c:pt idx="0">
                  <c:v>平均单道菜</c:v>
                </c:pt>
              </c:strCache>
            </c:strRef>
          </c:cat>
          <c:val>
            <c:numRef>
              <c:f>Sheet1!$C$2:$C$2</c:f>
              <c:numCache>
                <c:formatCode>General</c:formatCode>
                <c:ptCount val="1"/>
                <c:pt idx="0">
                  <c:v>0.5</c:v>
                </c:pt>
              </c:numCache>
            </c:numRef>
          </c:val>
          <c:extLst>
            <c:ext xmlns:c16="http://schemas.microsoft.com/office/drawing/2014/chart" uri="{C3380CC4-5D6E-409C-BE32-E72D297353CC}">
              <c16:uniqueId val="{00000001-146F-47C6-AF48-AD2690A5D607}"/>
            </c:ext>
          </c:extLst>
        </c:ser>
        <c:dLbls>
          <c:showLegendKey val="0"/>
          <c:showVal val="0"/>
          <c:showCatName val="0"/>
          <c:showSerName val="0"/>
          <c:showPercent val="0"/>
          <c:showBubbleSize val="0"/>
        </c:dLbls>
        <c:gapWidth val="0"/>
        <c:overlap val="100"/>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8.44"/>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clustered"/>
        <c:varyColors val="0"/>
        <c:ser>
          <c:idx val="0"/>
          <c:order val="0"/>
          <c:tx>
            <c:strRef>
              <c:f>Sheet1!$B$1</c:f>
              <c:strCache>
                <c:ptCount val="1"/>
                <c:pt idx="0">
                  <c:v>消费占比</c:v>
                </c:pt>
              </c:strCache>
            </c:strRef>
          </c:tx>
          <c:spPr>
            <a:solidFill>
              <a:schemeClr val="accent2"/>
            </a:solidFill>
            <a:ln>
              <a:solidFill>
                <a:schemeClr val="accent2"/>
              </a:solidFill>
            </a:ln>
          </c:spPr>
          <c:invertIfNegative val="0"/>
          <c:cat>
            <c:strRef>
              <c:f>Sheet1!$A$2:$A$6</c:f>
              <c:strCache>
                <c:ptCount val="5"/>
                <c:pt idx="0">
                  <c:v>火锅</c:v>
                </c:pt>
                <c:pt idx="1">
                  <c:v>川菜</c:v>
                </c:pt>
                <c:pt idx="2">
                  <c:v>西餐</c:v>
                </c:pt>
                <c:pt idx="3">
                  <c:v>小吃</c:v>
                </c:pt>
                <c:pt idx="4">
                  <c:v>串类</c:v>
                </c:pt>
              </c:strCache>
            </c:strRef>
          </c:cat>
          <c:val>
            <c:numRef>
              <c:f>Sheet1!$B$2:$B$6</c:f>
              <c:numCache>
                <c:formatCode>General</c:formatCode>
                <c:ptCount val="5"/>
                <c:pt idx="0">
                  <c:v>17.39</c:v>
                </c:pt>
                <c:pt idx="1">
                  <c:v>7.77</c:v>
                </c:pt>
                <c:pt idx="2">
                  <c:v>7.12</c:v>
                </c:pt>
                <c:pt idx="3">
                  <c:v>14.27</c:v>
                </c:pt>
                <c:pt idx="4">
                  <c:v>5.09</c:v>
                </c:pt>
              </c:numCache>
            </c:numRef>
          </c:val>
          <c:extLst>
            <c:ext xmlns:c16="http://schemas.microsoft.com/office/drawing/2014/chart" uri="{C3380CC4-5D6E-409C-BE32-E72D297353CC}">
              <c16:uniqueId val="{00000000-C7CF-4E7C-9967-13B766E66848}"/>
            </c:ext>
          </c:extLst>
        </c:ser>
        <c:ser>
          <c:idx val="1"/>
          <c:order val="1"/>
          <c:tx>
            <c:strRef>
              <c:f>Sheet1!$C$1</c:f>
              <c:strCache>
                <c:ptCount val="1"/>
                <c:pt idx="0">
                  <c:v>排放占比</c:v>
                </c:pt>
              </c:strCache>
            </c:strRef>
          </c:tx>
          <c:spPr>
            <a:solidFill>
              <a:schemeClr val="accent1"/>
            </a:solidFill>
            <a:ln>
              <a:solidFill>
                <a:schemeClr val="accent1"/>
              </a:solidFill>
            </a:ln>
          </c:spPr>
          <c:invertIfNegative val="0"/>
          <c:cat>
            <c:strRef>
              <c:f>Sheet1!$A$2:$A$6</c:f>
              <c:strCache>
                <c:ptCount val="5"/>
                <c:pt idx="0">
                  <c:v>火锅</c:v>
                </c:pt>
                <c:pt idx="1">
                  <c:v>川菜</c:v>
                </c:pt>
                <c:pt idx="2">
                  <c:v>西餐</c:v>
                </c:pt>
                <c:pt idx="3">
                  <c:v>小吃</c:v>
                </c:pt>
                <c:pt idx="4">
                  <c:v>串类</c:v>
                </c:pt>
              </c:strCache>
            </c:strRef>
          </c:cat>
          <c:val>
            <c:numRef>
              <c:f>Sheet1!$C$2:$C$6</c:f>
              <c:numCache>
                <c:formatCode>General</c:formatCode>
                <c:ptCount val="5"/>
                <c:pt idx="0">
                  <c:v>18.829999999999998</c:v>
                </c:pt>
                <c:pt idx="1">
                  <c:v>13.22</c:v>
                </c:pt>
                <c:pt idx="2">
                  <c:v>11.83</c:v>
                </c:pt>
                <c:pt idx="3">
                  <c:v>6.03</c:v>
                </c:pt>
                <c:pt idx="4">
                  <c:v>5.65</c:v>
                </c:pt>
              </c:numCache>
            </c:numRef>
          </c:val>
          <c:extLst>
            <c:ext xmlns:c16="http://schemas.microsoft.com/office/drawing/2014/chart" uri="{C3380CC4-5D6E-409C-BE32-E72D297353CC}">
              <c16:uniqueId val="{00000001-C7CF-4E7C-9967-13B766E66848}"/>
            </c:ext>
          </c:extLst>
        </c:ser>
        <c:dLbls>
          <c:showLegendKey val="0"/>
          <c:showVal val="0"/>
          <c:showCatName val="0"/>
          <c:showSerName val="0"/>
          <c:showPercent val="0"/>
          <c:showBubbleSize val="0"/>
        </c:dLbls>
        <c:gapWidth val="140"/>
        <c:overlap val="-35"/>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20"/>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菜品</c:v>
                </c:pt>
              </c:strCache>
            </c:strRef>
          </c:tx>
          <c:spPr>
            <a:solidFill>
              <a:schemeClr val="accent2"/>
            </a:solidFill>
            <a:ln>
              <a:solidFill>
                <a:schemeClr val="accent2"/>
              </a:solidFill>
            </a:ln>
          </c:spPr>
          <c:invertIfNegative val="0"/>
          <c:cat>
            <c:strRef>
              <c:f>Sheet1!$A$2:$A$2</c:f>
              <c:strCache>
                <c:ptCount val="1"/>
                <c:pt idx="0">
                  <c:v>2020年食物系统</c:v>
                </c:pt>
              </c:strCache>
            </c:strRef>
          </c:cat>
          <c:val>
            <c:numRef>
              <c:f>Sheet1!$B$2:$B$2</c:f>
              <c:numCache>
                <c:formatCode>General</c:formatCode>
                <c:ptCount val="1"/>
                <c:pt idx="0">
                  <c:v>4.22</c:v>
                </c:pt>
              </c:numCache>
            </c:numRef>
          </c:val>
          <c:extLst>
            <c:ext xmlns:c16="http://schemas.microsoft.com/office/drawing/2014/chart" uri="{C3380CC4-5D6E-409C-BE32-E72D297353CC}">
              <c16:uniqueId val="{00000000-D73D-4DA4-9E2D-DC6D17ADE14E}"/>
            </c:ext>
          </c:extLst>
        </c:ser>
        <c:ser>
          <c:idx val="1"/>
          <c:order val="1"/>
          <c:tx>
            <c:strRef>
              <c:f>Sheet1!$C$1</c:f>
              <c:strCache>
                <c:ptCount val="1"/>
                <c:pt idx="0">
                  <c:v>谷物</c:v>
                </c:pt>
              </c:strCache>
            </c:strRef>
          </c:tx>
          <c:spPr>
            <a:solidFill>
              <a:schemeClr val="accent3"/>
            </a:solidFill>
            <a:ln>
              <a:solidFill>
                <a:schemeClr val="accent3"/>
              </a:solidFill>
            </a:ln>
          </c:spPr>
          <c:invertIfNegative val="0"/>
          <c:cat>
            <c:strRef>
              <c:f>Sheet1!$A$2:$A$2</c:f>
              <c:strCache>
                <c:ptCount val="1"/>
                <c:pt idx="0">
                  <c:v>2020年食物系统</c:v>
                </c:pt>
              </c:strCache>
            </c:strRef>
          </c:cat>
          <c:val>
            <c:numRef>
              <c:f>Sheet1!$C$2:$C$2</c:f>
              <c:numCache>
                <c:formatCode>General</c:formatCode>
                <c:ptCount val="1"/>
                <c:pt idx="0">
                  <c:v>0.42</c:v>
                </c:pt>
              </c:numCache>
            </c:numRef>
          </c:val>
          <c:extLst>
            <c:ext xmlns:c16="http://schemas.microsoft.com/office/drawing/2014/chart" uri="{C3380CC4-5D6E-409C-BE32-E72D297353CC}">
              <c16:uniqueId val="{00000001-D73D-4DA4-9E2D-DC6D17ADE14E}"/>
            </c:ext>
          </c:extLst>
        </c:ser>
        <c:dLbls>
          <c:showLegendKey val="0"/>
          <c:showVal val="0"/>
          <c:showCatName val="0"/>
          <c:showSerName val="0"/>
          <c:showPercent val="0"/>
          <c:showBubbleSize val="0"/>
        </c:dLbls>
        <c:gapWidth val="0"/>
        <c:overlap val="100"/>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4.6399999999999997"/>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clustered"/>
        <c:varyColors val="1"/>
        <c:ser>
          <c:idx val="0"/>
          <c:order val="0"/>
          <c:tx>
            <c:strRef>
              <c:f>Sheet1!$B$1</c:f>
              <c:strCache>
                <c:ptCount val="1"/>
                <c:pt idx="0">
                  <c:v>累计食物系统排放</c:v>
                </c:pt>
              </c:strCache>
            </c:strRef>
          </c:tx>
          <c:spPr>
            <a:solidFill>
              <a:srgbClr val="52685E"/>
            </a:solidFill>
            <a:ln>
              <a:solidFill>
                <a:srgbClr val="52685E"/>
              </a:solidFill>
            </a:ln>
          </c:spPr>
          <c:invertIfNegative val="0"/>
          <c:dPt>
            <c:idx val="0"/>
            <c:invertIfNegative val="0"/>
            <c:bubble3D val="0"/>
            <c:extLst>
              <c:ext xmlns:c16="http://schemas.microsoft.com/office/drawing/2014/chart" uri="{C3380CC4-5D6E-409C-BE32-E72D297353CC}">
                <c16:uniqueId val="{00000001-4A64-4F19-8B51-F2A4CA810F01}"/>
              </c:ext>
            </c:extLst>
          </c:dPt>
          <c:dPt>
            <c:idx val="1"/>
            <c:invertIfNegative val="0"/>
            <c:bubble3D val="0"/>
            <c:extLst>
              <c:ext xmlns:c16="http://schemas.microsoft.com/office/drawing/2014/chart" uri="{C3380CC4-5D6E-409C-BE32-E72D297353CC}">
                <c16:uniqueId val="{00000003-4A64-4F19-8B51-F2A4CA810F01}"/>
              </c:ext>
            </c:extLst>
          </c:dPt>
          <c:dPt>
            <c:idx val="2"/>
            <c:invertIfNegative val="0"/>
            <c:bubble3D val="0"/>
            <c:extLst>
              <c:ext xmlns:c16="http://schemas.microsoft.com/office/drawing/2014/chart" uri="{C3380CC4-5D6E-409C-BE32-E72D297353CC}">
                <c16:uniqueId val="{00000005-4A64-4F19-8B51-F2A4CA810F01}"/>
              </c:ext>
            </c:extLst>
          </c:dPt>
          <c:dPt>
            <c:idx val="3"/>
            <c:invertIfNegative val="0"/>
            <c:bubble3D val="0"/>
            <c:extLst>
              <c:ext xmlns:c16="http://schemas.microsoft.com/office/drawing/2014/chart" uri="{C3380CC4-5D6E-409C-BE32-E72D297353CC}">
                <c16:uniqueId val="{00000007-4A64-4F19-8B51-F2A4CA810F01}"/>
              </c:ext>
            </c:extLst>
          </c:dPt>
          <c:dPt>
            <c:idx val="4"/>
            <c:invertIfNegative val="0"/>
            <c:bubble3D val="0"/>
            <c:extLst>
              <c:ext xmlns:c16="http://schemas.microsoft.com/office/drawing/2014/chart" uri="{C3380CC4-5D6E-409C-BE32-E72D297353CC}">
                <c16:uniqueId val="{00000009-4A64-4F19-8B51-F2A4CA810F01}"/>
              </c:ext>
            </c:extLst>
          </c:dPt>
          <c:dPt>
            <c:idx val="5"/>
            <c:invertIfNegative val="0"/>
            <c:bubble3D val="0"/>
            <c:extLst>
              <c:ext xmlns:c16="http://schemas.microsoft.com/office/drawing/2014/chart" uri="{C3380CC4-5D6E-409C-BE32-E72D297353CC}">
                <c16:uniqueId val="{0000000B-4A64-4F19-8B51-F2A4CA810F01}"/>
              </c:ext>
            </c:extLst>
          </c:dPt>
          <c:dPt>
            <c:idx val="6"/>
            <c:invertIfNegative val="0"/>
            <c:bubble3D val="0"/>
            <c:spPr>
              <a:solidFill>
                <a:schemeClr val="accent2"/>
              </a:solidFill>
              <a:ln>
                <a:solidFill>
                  <a:schemeClr val="accent2"/>
                </a:solidFill>
              </a:ln>
            </c:spPr>
            <c:extLst>
              <c:ext xmlns:c16="http://schemas.microsoft.com/office/drawing/2014/chart" uri="{C3380CC4-5D6E-409C-BE32-E72D297353CC}">
                <c16:uniqueId val="{0000000D-4A64-4F19-8B51-F2A4CA810F01}"/>
              </c:ext>
            </c:extLst>
          </c:dPt>
          <c:cat>
            <c:strRef>
              <c:f>Sheet1!$A$2:$A$8</c:f>
              <c:strCache>
                <c:ptCount val="7"/>
                <c:pt idx="0">
                  <c:v>BAU</c:v>
                </c:pt>
                <c:pt idx="1">
                  <c:v>减少食物浪费</c:v>
                </c:pt>
                <c:pt idx="2">
                  <c:v>城市消费模式转型</c:v>
                </c:pt>
                <c:pt idx="3">
                  <c:v>菜系转型</c:v>
                </c:pt>
                <c:pt idx="4">
                  <c:v>菜品转型</c:v>
                </c:pt>
                <c:pt idx="5">
                  <c:v>培养肉替代</c:v>
                </c:pt>
                <c:pt idx="6">
                  <c:v>综合策略</c:v>
                </c:pt>
              </c:strCache>
            </c:strRef>
          </c:cat>
          <c:val>
            <c:numRef>
              <c:f>Sheet1!$B$2:$B$8</c:f>
              <c:numCache>
                <c:formatCode>General</c:formatCode>
                <c:ptCount val="7"/>
                <c:pt idx="0">
                  <c:v>340.63</c:v>
                </c:pt>
                <c:pt idx="1">
                  <c:v>303.85000000000002</c:v>
                </c:pt>
                <c:pt idx="2">
                  <c:v>310.27999999999997</c:v>
                </c:pt>
                <c:pt idx="3">
                  <c:v>243.51</c:v>
                </c:pt>
                <c:pt idx="4">
                  <c:v>209.5</c:v>
                </c:pt>
                <c:pt idx="5">
                  <c:v>142.31</c:v>
                </c:pt>
                <c:pt idx="6">
                  <c:v>106.31</c:v>
                </c:pt>
              </c:numCache>
            </c:numRef>
          </c:val>
          <c:extLst>
            <c:ext xmlns:c16="http://schemas.microsoft.com/office/drawing/2014/chart" uri="{C3380CC4-5D6E-409C-BE32-E72D297353CC}">
              <c16:uniqueId val="{0000000E-4A64-4F19-8B51-F2A4CA810F01}"/>
            </c:ext>
          </c:extLst>
        </c:ser>
        <c:dLbls>
          <c:showLegendKey val="0"/>
          <c:showVal val="0"/>
          <c:showCatName val="0"/>
          <c:showSerName val="0"/>
          <c:showPercent val="0"/>
          <c:showBubbleSize val="0"/>
        </c:dLbls>
        <c:gapWidth val="86"/>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350"/>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食物系统</c:v>
                </c:pt>
              </c:strCache>
            </c:strRef>
          </c:tx>
          <c:spPr>
            <a:solidFill>
              <a:schemeClr val="accent1"/>
            </a:solidFill>
            <a:ln>
              <a:solidFill>
                <a:schemeClr val="accent1"/>
              </a:solidFill>
            </a:ln>
          </c:spPr>
          <c:invertIfNegative val="0"/>
          <c:cat>
            <c:strRef>
              <c:f>Sheet1!$A$2:$A$4</c:f>
              <c:strCache>
                <c:ptCount val="3"/>
                <c:pt idx="0">
                  <c:v>BAU</c:v>
                </c:pt>
                <c:pt idx="1">
                  <c:v>菜品转型</c:v>
                </c:pt>
                <c:pt idx="2">
                  <c:v>综合策略</c:v>
                </c:pt>
              </c:strCache>
            </c:strRef>
          </c:cat>
          <c:val>
            <c:numRef>
              <c:f>Sheet1!$B$2:$B$4</c:f>
              <c:numCache>
                <c:formatCode>General</c:formatCode>
                <c:ptCount val="3"/>
                <c:pt idx="0">
                  <c:v>340.63</c:v>
                </c:pt>
                <c:pt idx="1">
                  <c:v>209.5</c:v>
                </c:pt>
                <c:pt idx="2">
                  <c:v>106.31</c:v>
                </c:pt>
              </c:numCache>
            </c:numRef>
          </c:val>
          <c:extLst>
            <c:ext xmlns:c16="http://schemas.microsoft.com/office/drawing/2014/chart" uri="{C3380CC4-5D6E-409C-BE32-E72D297353CC}">
              <c16:uniqueId val="{00000000-AB9F-41A6-ABCC-F4AF731B7BF9}"/>
            </c:ext>
          </c:extLst>
        </c:ser>
        <c:ser>
          <c:idx val="1"/>
          <c:order val="1"/>
          <c:tx>
            <c:strRef>
              <c:f>Sheet1!$C$1</c:f>
              <c:strCache>
                <c:ptCount val="1"/>
                <c:pt idx="0">
                  <c:v>非食物系统</c:v>
                </c:pt>
              </c:strCache>
            </c:strRef>
          </c:tx>
          <c:spPr>
            <a:solidFill>
              <a:srgbClr val="D6E0D9"/>
            </a:solidFill>
            <a:ln>
              <a:solidFill>
                <a:srgbClr val="D6E0D9"/>
              </a:solidFill>
            </a:ln>
          </c:spPr>
          <c:invertIfNegative val="0"/>
          <c:cat>
            <c:strRef>
              <c:f>Sheet1!$A$2:$A$4</c:f>
              <c:strCache>
                <c:ptCount val="3"/>
                <c:pt idx="0">
                  <c:v>BAU</c:v>
                </c:pt>
                <c:pt idx="1">
                  <c:v>菜品转型</c:v>
                </c:pt>
                <c:pt idx="2">
                  <c:v>综合策略</c:v>
                </c:pt>
              </c:strCache>
            </c:strRef>
          </c:cat>
          <c:val>
            <c:numRef>
              <c:f>Sheet1!$C$2:$C$4</c:f>
              <c:numCache>
                <c:formatCode>General</c:formatCode>
                <c:ptCount val="3"/>
                <c:pt idx="0">
                  <c:v>75.98</c:v>
                </c:pt>
                <c:pt idx="1">
                  <c:v>75.98</c:v>
                </c:pt>
                <c:pt idx="2">
                  <c:v>75.98</c:v>
                </c:pt>
              </c:numCache>
            </c:numRef>
          </c:val>
          <c:extLst>
            <c:ext xmlns:c16="http://schemas.microsoft.com/office/drawing/2014/chart" uri="{C3380CC4-5D6E-409C-BE32-E72D297353CC}">
              <c16:uniqueId val="{00000001-AB9F-41A6-ABCC-F4AF731B7BF9}"/>
            </c:ext>
          </c:extLst>
        </c:ser>
        <c:dLbls>
          <c:showLegendKey val="0"/>
          <c:showVal val="0"/>
          <c:showCatName val="0"/>
          <c:showSerName val="0"/>
          <c:showPercent val="0"/>
          <c:showBubbleSize val="0"/>
        </c:dLbls>
        <c:gapWidth val="153"/>
        <c:overlap val="100"/>
        <c:axId val="2068027336"/>
        <c:axId val="2113994440"/>
      </c:barChart>
      <c:catAx>
        <c:axId val="2068027336"/>
        <c:scaling>
          <c:orientation val="maxMin"/>
        </c:scaling>
        <c:delete val="1"/>
        <c:axPos val="l"/>
        <c:numFmt formatCode="General" sourceLinked="0"/>
        <c:majorTickMark val="none"/>
        <c:minorTickMark val="none"/>
        <c:tickLblPos val="none"/>
        <c:crossAx val="2113994440"/>
        <c:crosses val="autoZero"/>
        <c:auto val="1"/>
        <c:lblAlgn val="ctr"/>
        <c:lblOffset val="100"/>
        <c:noMultiLvlLbl val="0"/>
      </c:catAx>
      <c:valAx>
        <c:axId val="2113994440"/>
        <c:scaling>
          <c:orientation val="minMax"/>
          <c:max val="450"/>
          <c:min val="0"/>
        </c:scaling>
        <c:delete val="1"/>
        <c:axPos val="b"/>
        <c:numFmt formatCode="General" sourceLinked="1"/>
        <c:majorTickMark val="none"/>
        <c:minorTickMark val="none"/>
        <c:tickLblPos val="none"/>
        <c:crossAx val="2068027336"/>
        <c:crosses val="max"/>
        <c:crossBetween val="between"/>
      </c:valAx>
      <c:spPr>
        <a:noFill/>
        <a:ln>
          <a:noFill/>
        </a:ln>
      </c:spPr>
    </c:plotArea>
    <c:plotVisOnly val="1"/>
    <c:dispBlanksAs val="gap"/>
    <c:showDLblsOverMax val="1"/>
  </c:chart>
  <c:spPr>
    <a:noFill/>
    <a:ln>
      <a:noFill/>
    </a:ln>
  </c:spPr>
  <c:txPr>
    <a:bodyPr/>
    <a:lstStyle/>
    <a:p>
      <a:pPr>
        <a:defRPr lang="zh-CN" sz="900">
          <a:solidFill>
            <a:srgbClr val="203430"/>
          </a:solidFill>
          <a:latin typeface="Microsoft YaHei"/>
          <a:ea typeface="Microsoft YaHei"/>
          <a:cs typeface="Microsoft YaHei"/>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zh-CN"/>
          </a:p>
        </p:txBody>
      </p:sp>
    </p:spTree>
  </p:cSld>
  <p:clrMap bg1="lt1" tx1="dk1" bg2="lt2" tx2="dk2" accent1="accent1" accent2="accent2" accent3="accent3" accent4="accent4" accent5="accent5" accent6="accent6" hlink="hlink" folHlink="folHlink"/>
  <p:hf/>
  <p:notesStyle>
    <a:lvl1pPr marL="0" algn="l">
      <a:defRPr lang="zh-C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今天汇报一篇二〇二四年发表在《自然·食品》上的论文，由 Xian Yang 等人撰写，研究中国多样化菜品消费与温室气体减排之间的关系。我们沿着三个问题阅读：一道菜的排放怎样核算，居民的消费偏好怎样进入总量估计，以及改变菜品消费能为气候目标提供多大的减排空间。论文把这些问题连接起来，形成从微观菜品到全国长期情景的分析。接下来先看一个具体案例，再进入方法、结果和结论边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论文样本中，乾隆白菜的单道菜排放约为零点零九千克二氧化碳当量，牛骨约为一百零一点八六千克，两个极值相差超过一千倍。这里比较的是两道最终菜品。它们的配方、食材重量和烹饪方式不同，因此这个对比不能直接解释为等重量或等营养条件下的差异。</a:t>
            </a:r>
          </a:p>
          <a:p>
            <a:endParaRPr lang="zh-CN" dirty="0"/>
          </a:p>
          <a:p>
            <a:r>
              <a:rPr lang="zh-CN" dirty="0"/>
              <a:t>这个案例说明，食材大类只能提供部分信息。落实到具体的一道菜，还要知道用了什么、用了多少、怎样烹饪，才能估算消费所对应的排放。图中的白菜和骨头用于帮助识别菜品，两幅示意图的大小没有表示真实份量。论文因此选择菜品作为基本核算对象，再研究这些菜品被消费多少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整个研究可以分成三个相连的层级。第一层是菜品核算：作者选择三十六类菜系，每类十五道代表菜，共五百四十道菜，分别估算食材和烹饪带来的排放。第二层是城市消费：研究覆盖三十四座城市和八十万零四百八十八家餐厅，把菜品排放强度与估计消费量结合起来。</a:t>
            </a:r>
          </a:p>
          <a:p>
            <a:endParaRPr lang="zh-CN" dirty="0"/>
          </a:p>
          <a:p>
            <a:r>
              <a:rPr lang="zh-CN" dirty="0"/>
              <a:t>第三层再结合城乡消费、人口和谷物消费，外推全国食物系统排放。这里的数据规模表示研究覆盖范围，不能理解为每家餐厅、每道菜都有完整实测销量。最后进行温控预算比较时，还要把食物排放和非食物排放相加。因此，右下角比较的是国家层面的累计排放与预算，不能把食物系统的结果直接当成国家总量。下面分别解释菜品强度和消费量这两个输入。</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单道菜的核算由两个部分相加构成。左侧是食材生命周期排放：对每一种食材，用它的重量乘以相应的生命周期排放因子，再把各项相加。排放因子覆盖生产、包装、运输和零售等环节，所以食材的影响不只来自厨房内部。</a:t>
            </a:r>
          </a:p>
          <a:p>
            <a:endParaRPr lang="zh-CN" dirty="0"/>
          </a:p>
          <a:p>
            <a:r>
              <a:rPr lang="zh-CN" dirty="0"/>
              <a:t>右侧是烹饪排放，结合烹饪时间、能源消耗和能源排放因子进行估计，并考虑能源结构。下面的公式只是把这两个分支写成数学表达：菜品总排放等于食材排放加上烹饪排放，上标分别区分这三项。生产、包装、运输和零售的图示帮助理解生命周期范围，锅、时间和能源图示帮助理解烹饪输入。</a:t>
            </a:r>
          </a:p>
          <a:p>
            <a:endParaRPr lang="zh-CN" dirty="0"/>
          </a:p>
          <a:p>
            <a:r>
              <a:rPr lang="zh-CN" dirty="0"/>
              <a:t>回到上一页的两个极值，配方、份量以及烹饪过程都可能带来差异。得到单道菜的强度以后，还需要估计居民选择这些菜品的频次，才能进入消费总量核算。</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作者通过在线评论估计菜品消费偏好。首先把同一菜品的不同名称归并，再统计评论中相关菜名出现的频次。每类菜系抽取一百家餐厅的评论，评论频次被用来代理销量，而不是直接观测到的完整点单记录。</a:t>
            </a:r>
          </a:p>
          <a:p>
            <a:endParaRPr lang="zh-CN" dirty="0"/>
          </a:p>
          <a:p>
            <a:r>
              <a:rPr lang="zh-CN" dirty="0"/>
              <a:t>这些频次进入贝叶斯推断，用于估计菜品选择及消费量，之后进行城市汇总和全国外推。页面下面的求和关系强调，总排放需要把单菜排放和估计消费量相乘后汇总；一道菜排放高，并不自动意味着它对总排放的贡献最高。</a:t>
            </a:r>
          </a:p>
          <a:p>
            <a:endParaRPr lang="zh-CN" dirty="0"/>
          </a:p>
          <a:p>
            <a:r>
              <a:rPr lang="zh-CN" dirty="0"/>
              <a:t>外推还依赖一项关键假设：家庭消费和餐馆消费具有一致的偏好，并结合城乡消费差异进行修正。因此，后面的城市和全国结果应理解为基于评论代理与这些假设得到的估计。我们在结果部分会持续区分排放强度、消费频次和总量。</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页从完整的三十六类菜系中，选出均值最高和最低的各五类。横轴从零开始，单位是每道菜的千克二氧化碳当量。最高的藏菜约为二十三点四二，之后是西北菜、内蒙古菜、新疆菜和山西菜。低均值组包括海南菜、苏菜、小吃、面包甜点和素食，其中素食约为零点八二。</a:t>
            </a:r>
          </a:p>
          <a:p>
            <a:endParaRPr lang="zh-CN" dirty="0"/>
          </a:p>
          <a:p>
            <a:r>
              <a:rPr lang="zh-CN" dirty="0"/>
              <a:t>虚线标出全部代表菜的总体均值八点四四。可以看到，菜系之间的代表菜均值差异很大，这支持了在较细的消费层面开展核算的价值。但这张图只展示高低各五类，并不是完整排名，也没有在等份量或等营养条件下比较菜系。</a:t>
            </a:r>
          </a:p>
          <a:p>
            <a:endParaRPr lang="zh-CN" dirty="0"/>
          </a:p>
          <a:p>
            <a:r>
              <a:rPr lang="zh-CN" dirty="0"/>
              <a:t>这些均值可以帮助我们识别差异及其潜在来源。进一步解释时，需要回到食材组成、食材重量和烹饪过程，不能把一个菜系内部的所有菜品都当成同一种排放水平。</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在平均单道菜八点四四千克二氧化碳当量中，食材生命周期部分约为七点九四，二者之差约为零点五，可用于近似表示平均烹饪贡献。食材份额由七点九四除以八点四四计算，约为百分之九十四点一。这里的零点五是两个经过舍入的原文均值之差，百分之九十四点一也是据此计算的近似份额。</a:t>
            </a:r>
          </a:p>
          <a:p>
            <a:endParaRPr lang="zh-CN" dirty="0"/>
          </a:p>
          <a:p>
            <a:r>
              <a:rPr lang="zh-CN" dirty="0"/>
              <a:t>总体上，食材是平均菜品排放的主要来源。不过，不同菜系的组成并不一致。论文给出的烹饪占比在素食中约为百分之二十八，在火锅中约为百分之十五，均高于总体平均的烹饪份额。占比还受到分母大小影响，较高占比不一定意味着更高的烹饪绝对排放。</a:t>
            </a:r>
          </a:p>
          <a:p>
            <a:endParaRPr lang="zh-CN" dirty="0"/>
          </a:p>
          <a:p>
            <a:r>
              <a:rPr lang="zh-CN" dirty="0"/>
              <a:t>因此，理解减排措施时既要关注主要来源，也要保留菜品和菜系之间的具体差异。</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入城市层面后，需要把每餐强度和城市总量分开看。这张图保留了论文原始城市地图、城市名称和两套图例。点的大小表示每餐排放，颜色深浅表示餐饮消费的总排放。两个视觉编码回答的是不同问题：一餐消费的强度有多高，以及一座城市的消费规模累积出多少排放。</a:t>
            </a:r>
          </a:p>
          <a:p>
            <a:endParaRPr lang="zh-CN" dirty="0"/>
          </a:p>
          <a:p>
            <a:r>
              <a:rPr lang="zh-CN" dirty="0"/>
              <a:t>论文指出，上海、北京、成都、广州和杭州五座城市合计贡献样本城市餐饮总排放的约百分之五十五。这一比例使用的是样本城市的餐饮消费口径，不能扩大解释为这些城市的全行业温室气体排放份额。</a:t>
            </a:r>
          </a:p>
          <a:p>
            <a:endParaRPr lang="zh-CN" dirty="0"/>
          </a:p>
          <a:p>
            <a:r>
              <a:rPr lang="zh-CN" dirty="0"/>
              <a:t>因此，城市总排放较高可能同时受到消费规模和消费结构影响。只比较每餐强度，或者只看城市总量，都不足以解释全部差异。下一页进一步用菜系的消费占比和排放占比说明这一点。</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里比较五类菜系在样本餐饮消费中的消费占比和排放占比，两组数据都是百分比，使用同一横轴。火锅的消费占比约为百分之十七点三九，排放占比约为百分之十八点八三，两者都较高。川菜和西餐的排放占比明显高于各自的消费占比：川菜约为百分之十三点二二，对应消费占比百分之七点七七；西餐约为百分之十一点八三，对应消费占比百分之七点一二。</a:t>
            </a:r>
          </a:p>
          <a:p>
            <a:endParaRPr lang="zh-CN" dirty="0"/>
          </a:p>
          <a:p>
            <a:r>
              <a:rPr lang="zh-CN" dirty="0"/>
              <a:t>小吃呈现另一种关系，消费占比约为百分之十四点二七，排放占比约为百分之六点零三。串类的两项占比则比较接近。可以看到，消费频次和单菜强度共同决定总量贡献，高频消费与高单菜强度也不总是出现在同一类菜系。</a:t>
            </a:r>
          </a:p>
          <a:p>
            <a:endParaRPr lang="zh-CN" dirty="0"/>
          </a:p>
          <a:p>
            <a:r>
              <a:rPr lang="zh-CN" dirty="0"/>
              <a:t>这说明，分析需求侧减排需要同时关注菜品排放与居民的实际选择结构。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在城市结果基础上，作者结合全国城乡消费与人口进行外推。论文给出的二〇二〇年全国食物系统排放估计为四点六四吉吨二氧化碳当量，其中菜品约为四点二二，谷物约为零点四二；按论文的核算口径，约占全国总排放的百分之三十七。</a:t>
            </a:r>
          </a:p>
          <a:p>
            <a:endParaRPr lang="zh-CN" dirty="0"/>
          </a:p>
          <a:p>
            <a:r>
              <a:rPr lang="zh-CN" dirty="0"/>
              <a:t>这里要把核算边界和时间说清楚。这是二〇二〇年基年的消费侧估计，包含进口农产品相关的排放，与只计算国内生产排放的清单口径有所不同。它也不能作为当前年份的直接观测值使用。</a:t>
            </a:r>
          </a:p>
          <a:p>
            <a:endParaRPr lang="zh-CN" dirty="0"/>
          </a:p>
          <a:p>
            <a:r>
              <a:rPr lang="zh-CN" dirty="0"/>
              <a:t>这页的作用是建立后续情景分析的基年认识。接下来讨论二〇二〇年至二一〇〇年的累计排放时，时间窗和单位都会变化，我们需要在同一累计范围内比较不同转型路径。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作者构造了五类单项干预，并将它们组合成综合情景，统一与基准情景比较。可以按作用环节理解这些干预：减少食物浪费主要作用于消费量；城市、菜系和菜品转型主要作用于消费选择；培养肉替代主要作用于动物性食材。</a:t>
            </a:r>
          </a:p>
          <a:p>
            <a:endParaRPr lang="zh-CN" dirty="0"/>
          </a:p>
          <a:p>
            <a:r>
              <a:rPr lang="zh-CN" dirty="0"/>
              <a:t>城市转型采用低排放城市的消费模式，菜系转型调整不同菜系之间的选择，菜品转型进一步改变同一菜系内部的菜品选择。因此，三个选择层级相互关联，但干预对象有所不同。培养肉替代则改变食材层面的排放来源。</a:t>
            </a:r>
          </a:p>
          <a:p>
            <a:endParaRPr lang="zh-CN" dirty="0"/>
          </a:p>
          <a:p>
            <a:r>
              <a:rPr lang="zh-CN" dirty="0"/>
              <a:t>综合策略将上述五类干预共同纳入模型，并不等于把五个减排百分比直接相加。这些都是作者设定的情景，减排结果取决于相应的转型假设与参数。有关原文两类低排放情景的概率方向措辞问题，我在备份页保留了核对说明。</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页比较二〇二〇年至二一〇〇年累计食物系统排放，单位是吉吨二氧化碳当量。基准情景为三百四十点六三。减少浪费和城市转型分别降到三百零三点八五、三百一十点二八，对应相对基准约百分之十点八和八点九的减排。菜系转型为二百四十三点五一，菜品转型为二百零九点五零，对应约百分之二十八点五和三十八点五。</a:t>
            </a:r>
          </a:p>
          <a:p>
            <a:endParaRPr lang="zh-CN" dirty="0"/>
          </a:p>
          <a:p>
            <a:r>
              <a:rPr lang="zh-CN" dirty="0"/>
              <a:t>培养肉替代情景降到一百四十二点三一，综合策略进一步降到一百零六点三一。综合减排率由基准值与综合值的差额除以基准值计算，约为百分之六十八点八，也就是标题所说的约百分之六十九。</a:t>
            </a:r>
          </a:p>
          <a:p>
            <a:endParaRPr lang="zh-CN" dirty="0"/>
          </a:p>
          <a:p>
            <a:r>
              <a:rPr lang="zh-CN" dirty="0"/>
              <a:t>这些数值来自论文报告的累计结果，右侧减排率由相同基准计算。它们体现模型条件下的转型潜力，还不能直接回答国家是否满足某个温控预算，因为国家总排放还包括非食物部分。</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进行国家预算比较时，需要在相同时间窗内加上非食物累计排放七十五点九八。因此，基准、菜品转型和综合策略的食物加非食物总量分别为四百一十六点六一、二百八十五点四八和一百八十二点二九。</a:t>
            </a:r>
          </a:p>
          <a:p>
            <a:endParaRPr lang="zh-CN" dirty="0"/>
          </a:p>
          <a:p>
            <a:r>
              <a:rPr lang="zh-CN" dirty="0"/>
              <a:t>论文采用的国家预算中，一点五摄氏度目标在百分之六十七和百分之五十概率条件下分别对应一百零八、一百五十二；二摄氏度目标则对应三百零二、三百九十。在这些模型假设下，菜品转型的合计排放低于二摄氏度、百分之六十七条件的预算，而综合策略的合计排放仍高于一点五摄氏度、百分之五十条件的预算。</a:t>
            </a:r>
          </a:p>
          <a:p>
            <a:endParaRPr lang="zh-CN" dirty="0"/>
          </a:p>
          <a:p>
            <a:r>
              <a:rPr lang="zh-CN" dirty="0"/>
              <a:t>这里的概率描述气候预算的构造条件，并不是减排情景的置信区间。比较结果也依赖论文采用的食物与非食物路径。因此，较大的食物系统减排潜力，并不自动等同于对国家温控目标的达标保证。</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理解潜力之后，还需要回到三项关键依赖。首先是观察代理：在线评论频次被用于代理销量，偏好估计受到平台评论行为的影响。其次是家庭外推：研究假设家庭与餐馆偏好一致，再结合城乡消费差异修正。餐馆消费能在多大程度上代表家庭，是解释全国结果时需要讨论的边界。</a:t>
            </a:r>
          </a:p>
          <a:p>
            <a:endParaRPr lang="zh-CN" dirty="0"/>
          </a:p>
          <a:p>
            <a:r>
              <a:rPr lang="zh-CN" dirty="0"/>
              <a:t>第三项是长期路径。排放因子、非食物排放路径，以及培养肉替代和推广的节奏，都会影响累计减排和预算比较。我们看到的长期数值，应当在这些假设下理解。</a:t>
            </a:r>
          </a:p>
          <a:p>
            <a:endParaRPr lang="zh-CN" dirty="0"/>
          </a:p>
          <a:p>
            <a:r>
              <a:rPr lang="zh-CN" dirty="0"/>
              <a:t>这页是基于论文方法的汇报解读。它提示我们，把模型结果用于后续研究时，可以优先检验评论代理的代表性、家庭外推是否成立，以及关键参数变化会怎样影响结论。</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作者在政策讨论中提出，把排放信息连接到具体菜品和消费选择。第一类是碳标签，让消费者看见菜品的排放信息。第二类是菜单供给，通过增加低排放菜品的多样性和可选性，为消费选择提供更具体的条件。</a:t>
            </a:r>
          </a:p>
          <a:p>
            <a:endParaRPr lang="zh-CN" dirty="0"/>
          </a:p>
          <a:p>
            <a:r>
              <a:rPr lang="zh-CN" dirty="0"/>
              <a:t>第三类是数字管理，将排放信息接入能源和销售管理，使经营端能够结合自身数据识别改进空间。第四类是公共引导，结合地方饮食文化开展标准、激励和教育。四项行动分别涉及信息、供给、经营管理和公共支持，共同服务于菜品级管理。</a:t>
            </a:r>
          </a:p>
          <a:p>
            <a:endParaRPr lang="zh-CN" dirty="0"/>
          </a:p>
          <a:p>
            <a:r>
              <a:rPr lang="zh-CN" dirty="0"/>
              <a:t>这些内容是作者提出的政策建议。论文通过核算与情景分析支持讨论其潜在方向，并没有逐项验证这些政策实施后的实际因果效果。对后续研究来说，真实菜单、点单和能源数据可以帮助检验这些建议。</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用三点回扣研究主线。第一，核算对象进一步具体到三十六类菜系、五百四十道代表菜，把最终消费纳入排放分析。第二，总排放需要结合单菜强度与消费偏好理解，排放较高与消费较多是两个相连但不同的问题。第三，综合情景展示了约百分之六十九的累计食物系统减排潜力，而一点五摄氏度目标在论文假设下仍具挑战。</a:t>
            </a:r>
          </a:p>
          <a:p>
            <a:endParaRPr lang="zh-CN" dirty="0"/>
          </a:p>
          <a:p>
            <a:r>
              <a:rPr lang="zh-CN" dirty="0"/>
              <a:t>因此，菜品核算、消费偏好和情景边界要放在同一条证据链里理解。我的讨论问题是，怎样用真实菜单与消费数据检验这些转型路径？可以进一步比较实际点单与评论代理之间的差异，并记录份量、食材与烹饪条件，让排放变化与消费变化在一致口径下得到验证。</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页用于问答时查阅。代表菜平均重量为零点六零七千克；培养肉替代采用的排放因子为每千克二点零七千克二氧化碳当量。非食物累计排放七十五点九八吉吨，以及两组国家预算，都对应二〇二〇年至二一〇〇年的比较范围，百分之六十七与百分之五十对应预算构造条件。</a:t>
            </a:r>
          </a:p>
          <a:p>
            <a:endParaRPr lang="zh-CN" dirty="0"/>
          </a:p>
          <a:p>
            <a:r>
              <a:rPr lang="zh-CN" dirty="0"/>
              <a:t>还有一处需要明确披露的原文问题。论文第三百七十六页描述低排放菜系和低排放菜品情景时，文字写的是高排放选择概率加倍、低排放选择概率减半，与低排放转型的叙述及报告的减排方向不一致。本汇报保留原图的报告结果，没有自行反转参数，也不能据此断言实际代码采用了哪一个方向。进一步复现时，需要核对作者实现、补充材料或相关说明。</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页保留论文第二幅图的完整原图，供近距离放大查阅全部三十六类菜系的均值、标签和图例。每类菜系选择十五道代表菜，全部代表菜的整体均值为每道菜八点四四千克二氧化碳当量，前面的高低各五类比较就来自这张完整证据图。</a:t>
            </a:r>
          </a:p>
          <a:p>
            <a:endParaRPr lang="zh-CN" dirty="0"/>
          </a:p>
          <a:p>
            <a:r>
              <a:rPr lang="zh-CN" dirty="0"/>
              <a:t>论文由 Xian Yang、Qian Gao、Hongbo Duan、Muhua Zhu 和 Shouyang Wang 署名，发表在二〇二四年《自然·食品》第五卷，第三百六十五至三百七十七页。右侧提供了论文的数字对象标识符链接。原图作为独立图片保留，图外的标题、说明和引用文字可继续编辑。</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ghg-dish-c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ltLang="zh-CN" smtClean="0"/>
              <a:t>10/20/2026</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hg-dish-c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zh-CN" sz="1200">
                <a:solidFill>
                  <a:schemeClr val="tx1">
                    <a:tint val="75000"/>
                  </a:schemeClr>
                </a:solidFill>
              </a:defRPr>
            </a:lvl1pPr>
          </a:lstStyle>
          <a:p>
            <a:fld id="{5BCAD085-E8A6-8845-BD4E-CB4CCA059FC4}" type="datetimeFigureOut">
              <a:rPr lang="en-US" altLang="zh-CN" smtClean="0"/>
              <a:t>10/20/2026</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zh-CN"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zh-CN"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zh-CN"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zh-CN"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zh-CN"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zh-CN"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zh-CN"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zh-CN"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zh-CN"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zh-CN"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zh-CN"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zh-CN" sz="1200" kern="1200">
          <a:solidFill>
            <a:schemeClr val="tx1"/>
          </a:solidFill>
          <a:latin typeface="+mn-lt"/>
          <a:ea typeface="+mn-ea"/>
          <a:cs typeface="+mn-cs"/>
        </a:defRPr>
      </a:lvl9pPr>
    </p:bodyStyle>
    <p:otherStyle>
      <a:defPPr>
        <a:defRPr lang="zh-CN"/>
      </a:defPPr>
      <a:lvl1pPr marL="0" algn="l" defTabSz="457200" rtl="0" eaLnBrk="1" latinLnBrk="0" hangingPunct="1">
        <a:defRPr lang="zh-CN" sz="2400" kern="1200">
          <a:solidFill>
            <a:schemeClr val="tx1"/>
          </a:solidFill>
          <a:latin typeface="+mn-lt"/>
          <a:ea typeface="+mn-ea"/>
          <a:cs typeface="+mn-cs"/>
        </a:defRPr>
      </a:lvl1pPr>
      <a:lvl2pPr marL="457200" algn="l" defTabSz="457200" rtl="0" eaLnBrk="1" latinLnBrk="0" hangingPunct="1">
        <a:defRPr lang="zh-CN" sz="2250" kern="1200">
          <a:solidFill>
            <a:schemeClr val="tx1"/>
          </a:solidFill>
          <a:latin typeface="+mn-lt"/>
          <a:ea typeface="+mn-ea"/>
          <a:cs typeface="+mn-cs"/>
        </a:defRPr>
      </a:lvl2pPr>
      <a:lvl3pPr marL="914400" algn="l" defTabSz="457200" rtl="0" eaLnBrk="1" latinLnBrk="0" hangingPunct="1">
        <a:defRPr lang="zh-CN" sz="2100" kern="1200">
          <a:solidFill>
            <a:schemeClr val="tx1"/>
          </a:solidFill>
          <a:latin typeface="+mn-lt"/>
          <a:ea typeface="+mn-ea"/>
          <a:cs typeface="+mn-cs"/>
        </a:defRPr>
      </a:lvl3pPr>
      <a:lvl4pPr marL="1371600" algn="l" defTabSz="457200" rtl="0" eaLnBrk="1" latinLnBrk="0" hangingPunct="1">
        <a:defRPr lang="zh-CN" sz="195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650" kern="1200">
          <a:solidFill>
            <a:schemeClr val="tx1"/>
          </a:solidFill>
          <a:latin typeface="+mn-lt"/>
          <a:ea typeface="+mn-ea"/>
          <a:cs typeface="+mn-cs"/>
        </a:defRPr>
      </a:lvl6pPr>
      <a:lvl7pPr marL="2743200" algn="l" defTabSz="457200" rtl="0" eaLnBrk="1" latinLnBrk="0" hangingPunct="1">
        <a:defRPr lang="zh-CN" sz="1500" kern="1200">
          <a:solidFill>
            <a:schemeClr val="tx1"/>
          </a:solidFill>
          <a:latin typeface="+mn-lt"/>
          <a:ea typeface="+mn-ea"/>
          <a:cs typeface="+mn-cs"/>
        </a:defRPr>
      </a:lvl7pPr>
      <a:lvl8pPr marL="3200400" algn="l" defTabSz="457200" rtl="0" eaLnBrk="1" latinLnBrk="0" hangingPunct="1">
        <a:defRPr lang="zh-CN" sz="1350" kern="1200">
          <a:solidFill>
            <a:schemeClr val="tx1"/>
          </a:solidFill>
          <a:latin typeface="+mn-lt"/>
          <a:ea typeface="+mn-ea"/>
          <a:cs typeface="+mn-cs"/>
        </a:defRPr>
      </a:lvl8pPr>
      <a:lvl9pPr marL="3657600" algn="l" defTabSz="457200" rtl="0" eaLnBrk="1" latinLnBrk="0" hangingPunct="1">
        <a:defRPr lang="zh-CN"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doi.org/10.1038/s43016-024-00978-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26542" y="339725"/>
            <a:ext cx="279532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文献精读 / NATURE FOOD · 2024</a:t>
            </a:r>
          </a:p>
        </p:txBody>
      </p:sp>
      <p:grpSp>
        <p:nvGrpSpPr>
          <p:cNvPr id="5" name="slide-title"/>
          <p:cNvGrpSpPr/>
          <p:nvPr/>
        </p:nvGrpSpPr>
        <p:grpSpPr>
          <a:xfrm>
            <a:off x="514350" y="673100"/>
            <a:ext cx="5372100" cy="2439416"/>
            <a:chOff x="514350" y="673100"/>
            <a:chExt cx="5372100" cy="2439416"/>
          </a:xfrm>
        </p:grpSpPr>
        <p:sp>
          <p:nvSpPr>
            <p:cNvPr id="3" name="TextBox 3"/>
            <p:cNvSpPr txBox="1"/>
            <p:nvPr/>
          </p:nvSpPr>
          <p:spPr>
            <a:xfrm>
              <a:off x="514350" y="673100"/>
              <a:ext cx="5372100" cy="2076450"/>
            </a:xfrm>
            <a:prstGeom prst="rect">
              <a:avLst/>
            </a:prstGeom>
            <a:noFill/>
            <a:ln>
              <a:noFill/>
            </a:ln>
          </p:spPr>
          <p:txBody>
            <a:bodyPr wrap="none" lIns="0" tIns="0" rIns="0" bIns="0" anchor="t" anchorCtr="0">
              <a:spAutoFit/>
            </a:bodyPr>
            <a:lstStyle/>
            <a:p>
              <a:pPr algn="l">
                <a:lnSpc>
                  <a:spcPts val="7200"/>
                </a:lnSpc>
              </a:pPr>
              <a:r>
                <a:rPr lang="zh-CN" sz="6000" b="1" dirty="0">
                  <a:solidFill>
                    <a:schemeClr val="accent1"/>
                  </a:solidFill>
                  <a:latin typeface="Microsoft YaHei"/>
                  <a:ea typeface="Microsoft YaHei"/>
                  <a:cs typeface="Microsoft YaHei"/>
                </a:rPr>
                <a:t>中国菜品消费</a:t>
              </a:r>
              <a:br>
                <a:rPr lang="zh-CN" sz="6000" b="1" dirty="0">
                  <a:solidFill>
                    <a:schemeClr val="accent1"/>
                  </a:solidFill>
                  <a:latin typeface="Microsoft YaHei"/>
                  <a:ea typeface="Microsoft YaHei"/>
                  <a:cs typeface="Microsoft YaHei"/>
                </a:rPr>
              </a:br>
              <a:r>
                <a:rPr lang="zh-CN" sz="6000" b="1" dirty="0">
                  <a:solidFill>
                    <a:schemeClr val="accent1"/>
                  </a:solidFill>
                  <a:latin typeface="Microsoft YaHei"/>
                  <a:ea typeface="Microsoft YaHei"/>
                  <a:cs typeface="Microsoft YaHei"/>
                </a:rPr>
                <a:t>与温室气体减排</a:t>
              </a:r>
            </a:p>
          </p:txBody>
        </p:sp>
        <p:sp>
          <p:nvSpPr>
            <p:cNvPr id="4" name="TextBox 4"/>
            <p:cNvSpPr txBox="1"/>
            <p:nvPr/>
          </p:nvSpPr>
          <p:spPr>
            <a:xfrm>
              <a:off x="519684" y="2584450"/>
              <a:ext cx="5266910" cy="528066"/>
            </a:xfrm>
            <a:prstGeom prst="rect">
              <a:avLst/>
            </a:prstGeom>
            <a:noFill/>
            <a:ln>
              <a:noFill/>
            </a:ln>
          </p:spPr>
          <p:txBody>
            <a:bodyPr wrap="none" lIns="0" tIns="0" rIns="0" bIns="0" anchor="t" anchorCtr="0">
              <a:spAutoFit/>
            </a:bodyPr>
            <a:lstStyle/>
            <a:p>
              <a:pPr algn="l"/>
              <a:r>
                <a:rPr lang="zh-CN" sz="2700" b="1" dirty="0">
                  <a:solidFill>
                    <a:schemeClr val="accent2"/>
                  </a:solidFill>
                  <a:latin typeface="Microsoft YaHei"/>
                  <a:ea typeface="Microsoft YaHei"/>
                  <a:cs typeface="Microsoft YaHei"/>
                </a:rPr>
                <a:t>菜品核算 · 消费偏好 · 气候目标</a:t>
              </a:r>
            </a:p>
          </p:txBody>
        </p:sp>
      </p:grpSp>
      <p:grpSp>
        <p:nvGrpSpPr>
          <p:cNvPr id="37" name="p01-illustrated-exposition"/>
          <p:cNvGrpSpPr/>
          <p:nvPr/>
        </p:nvGrpSpPr>
        <p:grpSpPr>
          <a:xfrm>
            <a:off x="809625" y="3143250"/>
            <a:ext cx="10572750" cy="2533650"/>
            <a:chOff x="809625" y="3143250"/>
            <a:chExt cx="10572750" cy="2533650"/>
          </a:xfrm>
        </p:grpSpPr>
        <p:sp>
          <p:nvSpPr>
            <p:cNvPr id="6" name="Ellipse 6"/>
            <p:cNvSpPr/>
            <p:nvPr/>
          </p:nvSpPr>
          <p:spPr>
            <a:xfrm>
              <a:off x="809625" y="3143250"/>
              <a:ext cx="2533650" cy="2533650"/>
            </a:xfrm>
            <a:prstGeom prst="ellipse">
              <a:avLst/>
            </a:prstGeom>
            <a:solidFill>
              <a:schemeClr val="accent2">
                <a:alpha val="11000"/>
              </a:schemeClr>
            </a:solidFill>
            <a:ln>
              <a:noFill/>
            </a:ln>
          </p:spPr>
        </p:sp>
        <p:grpSp>
          <p:nvGrpSpPr>
            <p:cNvPr id="13" name="Group 13"/>
            <p:cNvGrpSpPr/>
            <p:nvPr/>
          </p:nvGrpSpPr>
          <p:grpSpPr>
            <a:xfrm>
              <a:off x="1640586" y="3333750"/>
              <a:ext cx="812292" cy="911352"/>
              <a:chOff x="1640586" y="3333750"/>
              <a:chExt cx="812292" cy="911352"/>
            </a:xfrm>
          </p:grpSpPr>
          <p:sp>
            <p:nvSpPr>
              <p:cNvPr id="7" name="Freeform 7"/>
              <p:cNvSpPr/>
              <p:nvPr/>
            </p:nvSpPr>
            <p:spPr>
              <a:xfrm>
                <a:off x="1700022" y="3838956"/>
                <a:ext cx="752856" cy="406146"/>
              </a:xfrm>
              <a:custGeom>
                <a:avLst/>
                <a:gdLst/>
                <a:ahLst/>
                <a:cxnLst/>
                <a:rect l="l" t="t" r="r" b="b"/>
                <a:pathLst>
                  <a:path w="752856" h="406146">
                    <a:moveTo>
                      <a:pt x="0" y="0"/>
                    </a:moveTo>
                    <a:cubicBezTo>
                      <a:pt x="250952" y="66040"/>
                      <a:pt x="501904" y="66040"/>
                      <a:pt x="752856" y="0"/>
                    </a:cubicBezTo>
                    <a:cubicBezTo>
                      <a:pt x="713232" y="287274"/>
                      <a:pt x="574548" y="406146"/>
                      <a:pt x="376428" y="406146"/>
                    </a:cubicBezTo>
                    <a:cubicBezTo>
                      <a:pt x="178308" y="406146"/>
                      <a:pt x="39624" y="287274"/>
                      <a:pt x="0" y="0"/>
                    </a:cubicBezTo>
                    <a:close/>
                  </a:path>
                </a:pathLst>
              </a:custGeom>
              <a:solidFill>
                <a:schemeClr val="accent1"/>
              </a:solidFill>
              <a:ln>
                <a:noFill/>
              </a:ln>
            </p:spPr>
          </p:sp>
          <p:sp>
            <p:nvSpPr>
              <p:cNvPr id="8" name="Freeform 8"/>
              <p:cNvSpPr/>
              <p:nvPr/>
            </p:nvSpPr>
            <p:spPr>
              <a:xfrm>
                <a:off x="1640586" y="3432810"/>
                <a:ext cx="733044" cy="406146"/>
              </a:xfrm>
              <a:custGeom>
                <a:avLst/>
                <a:gdLst/>
                <a:ahLst/>
                <a:cxnLst/>
                <a:rect l="l" t="t" r="r" b="b"/>
                <a:pathLst>
                  <a:path w="733044" h="406146">
                    <a:moveTo>
                      <a:pt x="99060" y="406146"/>
                    </a:moveTo>
                    <a:cubicBezTo>
                      <a:pt x="0" y="178308"/>
                      <a:pt x="217932" y="89154"/>
                      <a:pt x="326898" y="326898"/>
                    </a:cubicBezTo>
                    <a:cubicBezTo>
                      <a:pt x="237744" y="39624"/>
                      <a:pt x="485394" y="0"/>
                      <a:pt x="505206" y="247650"/>
                    </a:cubicBezTo>
                    <a:cubicBezTo>
                      <a:pt x="525018" y="69342"/>
                      <a:pt x="733044" y="138684"/>
                      <a:pt x="683514" y="376428"/>
                    </a:cubicBezTo>
                    <a:close/>
                  </a:path>
                </a:pathLst>
              </a:custGeom>
              <a:solidFill>
                <a:schemeClr val="accent2"/>
              </a:solidFill>
              <a:ln>
                <a:noFill/>
              </a:ln>
            </p:spPr>
          </p:sp>
          <p:sp>
            <p:nvSpPr>
              <p:cNvPr id="9" name="Freeform 9"/>
              <p:cNvSpPr/>
              <p:nvPr/>
            </p:nvSpPr>
            <p:spPr>
              <a:xfrm>
                <a:off x="2106168" y="3561588"/>
                <a:ext cx="307086" cy="277368"/>
              </a:xfrm>
              <a:custGeom>
                <a:avLst/>
                <a:gdLst/>
                <a:ahLst/>
                <a:cxnLst/>
                <a:rect l="l" t="t" r="r" b="b"/>
                <a:pathLst>
                  <a:path w="307086" h="277368">
                    <a:moveTo>
                      <a:pt x="0" y="257556"/>
                    </a:moveTo>
                    <a:cubicBezTo>
                      <a:pt x="19812" y="39624"/>
                      <a:pt x="168402" y="0"/>
                      <a:pt x="227838" y="108966"/>
                    </a:cubicBezTo>
                    <a:lnTo>
                      <a:pt x="307086" y="277368"/>
                    </a:lnTo>
                    <a:close/>
                  </a:path>
                </a:pathLst>
              </a:custGeom>
              <a:solidFill>
                <a:schemeClr val="accent3"/>
              </a:solidFill>
              <a:ln>
                <a:noFill/>
              </a:ln>
            </p:spPr>
          </p:sp>
          <p:sp>
            <p:nvSpPr>
              <p:cNvPr id="10" name="Freeform 10"/>
              <p:cNvSpPr/>
              <p:nvPr/>
            </p:nvSpPr>
            <p:spPr>
              <a:xfrm>
                <a:off x="1828800" y="3611118"/>
                <a:ext cx="445770" cy="227838"/>
              </a:xfrm>
              <a:custGeom>
                <a:avLst/>
                <a:gdLst/>
                <a:ahLst/>
                <a:cxnLst/>
                <a:rect l="l" t="t" r="r" b="b"/>
                <a:pathLst>
                  <a:path w="445770" h="227838">
                    <a:moveTo>
                      <a:pt x="0" y="99060"/>
                    </a:moveTo>
                    <a:lnTo>
                      <a:pt x="49530" y="227838"/>
                    </a:lnTo>
                    <a:moveTo>
                      <a:pt x="208026" y="0"/>
                    </a:moveTo>
                    <a:lnTo>
                      <a:pt x="208026" y="227838"/>
                    </a:lnTo>
                    <a:moveTo>
                      <a:pt x="445770" y="79248"/>
                    </a:moveTo>
                    <a:lnTo>
                      <a:pt x="386334" y="227838"/>
                    </a:lnTo>
                  </a:path>
                </a:pathLst>
              </a:custGeom>
              <a:noFill/>
              <a:ln w="19812" cap="rnd">
                <a:solidFill>
                  <a:srgbClr val="FFFFFF"/>
                </a:solidFill>
                <a:round/>
              </a:ln>
            </p:spPr>
          </p:sp>
          <p:sp>
            <p:nvSpPr>
              <p:cNvPr id="11" name="Freeform 11"/>
              <p:cNvSpPr/>
              <p:nvPr/>
            </p:nvSpPr>
            <p:spPr>
              <a:xfrm>
                <a:off x="1700022" y="3838956"/>
                <a:ext cx="752856" cy="66040"/>
              </a:xfrm>
              <a:custGeom>
                <a:avLst/>
                <a:gdLst/>
                <a:ahLst/>
                <a:cxnLst/>
                <a:rect l="l" t="t" r="r" b="b"/>
                <a:pathLst>
                  <a:path w="752856" h="66040">
                    <a:moveTo>
                      <a:pt x="0" y="0"/>
                    </a:moveTo>
                    <a:cubicBezTo>
                      <a:pt x="250952" y="66040"/>
                      <a:pt x="501904" y="66040"/>
                      <a:pt x="752856" y="0"/>
                    </a:cubicBezTo>
                  </a:path>
                </a:pathLst>
              </a:custGeom>
              <a:noFill/>
              <a:ln w="19812" cap="rnd">
                <a:solidFill>
                  <a:srgbClr val="FFFFFF"/>
                </a:solidFill>
                <a:round/>
              </a:ln>
            </p:spPr>
          </p:sp>
          <p:sp>
            <p:nvSpPr>
              <p:cNvPr id="12" name="Freeform 12"/>
              <p:cNvSpPr/>
              <p:nvPr/>
            </p:nvSpPr>
            <p:spPr>
              <a:xfrm>
                <a:off x="1848612" y="3333750"/>
                <a:ext cx="475488" cy="168402"/>
              </a:xfrm>
              <a:custGeom>
                <a:avLst/>
                <a:gdLst/>
                <a:ahLst/>
                <a:cxnLst/>
                <a:rect l="l" t="t" r="r" b="b"/>
                <a:pathLst>
                  <a:path w="475488" h="168402">
                    <a:moveTo>
                      <a:pt x="59436" y="148590"/>
                    </a:moveTo>
                    <a:cubicBezTo>
                      <a:pt x="0" y="89154"/>
                      <a:pt x="128778" y="59436"/>
                      <a:pt x="79248" y="0"/>
                    </a:cubicBezTo>
                    <a:moveTo>
                      <a:pt x="237744" y="138684"/>
                    </a:moveTo>
                    <a:cubicBezTo>
                      <a:pt x="178308" y="79248"/>
                      <a:pt x="297180" y="39624"/>
                      <a:pt x="237744" y="0"/>
                    </a:cubicBezTo>
                    <a:moveTo>
                      <a:pt x="416052" y="168402"/>
                    </a:moveTo>
                    <a:cubicBezTo>
                      <a:pt x="356616" y="108966"/>
                      <a:pt x="475488" y="59436"/>
                      <a:pt x="416052" y="19812"/>
                    </a:cubicBezTo>
                  </a:path>
                </a:pathLst>
              </a:custGeom>
              <a:noFill/>
              <a:ln w="24765" cap="rnd">
                <a:solidFill>
                  <a:schemeClr val="accent1"/>
                </a:solidFill>
                <a:round/>
              </a:ln>
            </p:spPr>
          </p:sp>
        </p:grpSp>
        <p:sp>
          <p:nvSpPr>
            <p:cNvPr id="14" name="TextBox 14"/>
            <p:cNvSpPr txBox="1"/>
            <p:nvPr/>
          </p:nvSpPr>
          <p:spPr>
            <a:xfrm>
              <a:off x="1418082" y="4489450"/>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菜品核算</a:t>
              </a:r>
            </a:p>
          </p:txBody>
        </p:sp>
        <p:sp>
          <p:nvSpPr>
            <p:cNvPr id="15" name="TextBox 15"/>
            <p:cNvSpPr txBox="1"/>
            <p:nvPr/>
          </p:nvSpPr>
          <p:spPr>
            <a:xfrm>
              <a:off x="1267206" y="4953000"/>
              <a:ext cx="1618488" cy="656844"/>
            </a:xfrm>
            <a:prstGeom prst="rect">
              <a:avLst/>
            </a:prstGeom>
            <a:noFill/>
            <a:ln>
              <a:noFill/>
            </a:ln>
          </p:spPr>
          <p:txBody>
            <a:bodyPr wrap="none" lIns="0" tIns="0" rIns="0" bIns="0" anchor="t" anchorCtr="0">
              <a:spAutoFit/>
            </a:bodyPr>
            <a:lstStyle/>
            <a:p>
              <a:pPr algn="ctr">
                <a:lnSpc>
                  <a:spcPts val="2400"/>
                </a:lnSpc>
              </a:pPr>
              <a:r>
                <a:rPr lang="zh-CN" sz="1800" dirty="0">
                  <a:solidFill>
                    <a:schemeClr val="dk1"/>
                  </a:solidFill>
                  <a:latin typeface="Microsoft YaHei"/>
                  <a:ea typeface="Microsoft YaHei"/>
                  <a:cs typeface="Microsoft YaHei"/>
                </a:rPr>
                <a:t>量化不同菜品的</a:t>
              </a:r>
              <a:br>
                <a:rPr lang="zh-CN" sz="1800" dirty="0">
                  <a:solidFill>
                    <a:schemeClr val="dk1"/>
                  </a:solidFill>
                  <a:latin typeface="Microsoft YaHei"/>
                  <a:ea typeface="Microsoft YaHei"/>
                  <a:cs typeface="Microsoft YaHei"/>
                </a:rPr>
              </a:br>
              <a:r>
                <a:rPr lang="zh-CN" sz="1800" dirty="0">
                  <a:solidFill>
                    <a:schemeClr val="dk1"/>
                  </a:solidFill>
                  <a:latin typeface="Microsoft YaHei"/>
                  <a:ea typeface="Microsoft YaHei"/>
                  <a:cs typeface="Microsoft YaHei"/>
                </a:rPr>
                <a:t>温室气体排放</a:t>
              </a:r>
            </a:p>
          </p:txBody>
        </p:sp>
        <p:sp>
          <p:nvSpPr>
            <p:cNvPr id="16" name="Ellipse 16"/>
            <p:cNvSpPr/>
            <p:nvPr/>
          </p:nvSpPr>
          <p:spPr>
            <a:xfrm>
              <a:off x="4829175" y="3143250"/>
              <a:ext cx="2533650" cy="2533650"/>
            </a:xfrm>
            <a:prstGeom prst="ellipse">
              <a:avLst/>
            </a:prstGeom>
            <a:solidFill>
              <a:schemeClr val="accent3">
                <a:alpha val="11000"/>
              </a:schemeClr>
            </a:solidFill>
            <a:ln>
              <a:noFill/>
            </a:ln>
          </p:spPr>
        </p:sp>
        <p:grpSp>
          <p:nvGrpSpPr>
            <p:cNvPr id="21" name="Group 21"/>
            <p:cNvGrpSpPr/>
            <p:nvPr/>
          </p:nvGrpSpPr>
          <p:grpSpPr>
            <a:xfrm>
              <a:off x="5709666" y="3462528"/>
              <a:ext cx="792480" cy="792099"/>
              <a:chOff x="5709666" y="3462528"/>
              <a:chExt cx="792480" cy="792099"/>
            </a:xfrm>
          </p:grpSpPr>
          <p:sp>
            <p:nvSpPr>
              <p:cNvPr id="17" name="Rectangle 17"/>
              <p:cNvSpPr/>
              <p:nvPr/>
            </p:nvSpPr>
            <p:spPr>
              <a:xfrm>
                <a:off x="5729478" y="3888486"/>
                <a:ext cx="178308" cy="316992"/>
              </a:xfrm>
              <a:prstGeom prst="roundRect">
                <a:avLst>
                  <a:gd name="adj" fmla="val 11111"/>
                </a:avLst>
              </a:prstGeom>
              <a:solidFill>
                <a:schemeClr val="accent3"/>
              </a:solidFill>
              <a:ln>
                <a:noFill/>
              </a:ln>
            </p:spPr>
          </p:sp>
          <p:sp>
            <p:nvSpPr>
              <p:cNvPr id="18" name="Rectangle 18"/>
              <p:cNvSpPr/>
              <p:nvPr/>
            </p:nvSpPr>
            <p:spPr>
              <a:xfrm>
                <a:off x="6006846" y="3690366"/>
                <a:ext cx="178308" cy="515112"/>
              </a:xfrm>
              <a:prstGeom prst="roundRect">
                <a:avLst>
                  <a:gd name="adj" fmla="val 11111"/>
                </a:avLst>
              </a:prstGeom>
              <a:solidFill>
                <a:schemeClr val="accent3"/>
              </a:solidFill>
              <a:ln>
                <a:noFill/>
              </a:ln>
            </p:spPr>
          </p:sp>
          <p:sp>
            <p:nvSpPr>
              <p:cNvPr id="19" name="Rectangle 19"/>
              <p:cNvSpPr/>
              <p:nvPr/>
            </p:nvSpPr>
            <p:spPr>
              <a:xfrm>
                <a:off x="6284214" y="3462528"/>
                <a:ext cx="178308" cy="742950"/>
              </a:xfrm>
              <a:prstGeom prst="roundRect">
                <a:avLst>
                  <a:gd name="adj" fmla="val 11111"/>
                </a:avLst>
              </a:prstGeom>
              <a:solidFill>
                <a:schemeClr val="accent3"/>
              </a:solidFill>
              <a:ln>
                <a:noFill/>
              </a:ln>
            </p:spPr>
          </p:sp>
          <p:sp>
            <p:nvSpPr>
              <p:cNvPr id="20" name="Freeform 20"/>
              <p:cNvSpPr/>
              <p:nvPr/>
            </p:nvSpPr>
            <p:spPr>
              <a:xfrm>
                <a:off x="5709666" y="4245102"/>
                <a:ext cx="792480" cy="9525"/>
              </a:xfrm>
              <a:custGeom>
                <a:avLst/>
                <a:gdLst/>
                <a:ahLst/>
                <a:cxnLst/>
                <a:rect l="l" t="t" r="r" b="b"/>
                <a:pathLst>
                  <a:path w="792480" h="9525">
                    <a:moveTo>
                      <a:pt x="0" y="0"/>
                    </a:moveTo>
                    <a:lnTo>
                      <a:pt x="792480" y="0"/>
                    </a:lnTo>
                  </a:path>
                </a:pathLst>
              </a:custGeom>
              <a:noFill/>
              <a:ln w="29718" cap="rnd">
                <a:solidFill>
                  <a:schemeClr val="accent1"/>
                </a:solidFill>
                <a:round/>
              </a:ln>
            </p:spPr>
          </p:sp>
        </p:grpSp>
        <p:sp>
          <p:nvSpPr>
            <p:cNvPr id="22" name="TextBox 22"/>
            <p:cNvSpPr txBox="1"/>
            <p:nvPr/>
          </p:nvSpPr>
          <p:spPr>
            <a:xfrm>
              <a:off x="5437632" y="4489450"/>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消费偏好</a:t>
              </a:r>
            </a:p>
          </p:txBody>
        </p:sp>
        <p:sp>
          <p:nvSpPr>
            <p:cNvPr id="23" name="TextBox 23"/>
            <p:cNvSpPr txBox="1"/>
            <p:nvPr/>
          </p:nvSpPr>
          <p:spPr>
            <a:xfrm>
              <a:off x="5286756" y="4953000"/>
              <a:ext cx="1618488" cy="656844"/>
            </a:xfrm>
            <a:prstGeom prst="rect">
              <a:avLst/>
            </a:prstGeom>
            <a:noFill/>
            <a:ln>
              <a:noFill/>
            </a:ln>
          </p:spPr>
          <p:txBody>
            <a:bodyPr wrap="none" lIns="0" tIns="0" rIns="0" bIns="0" anchor="t" anchorCtr="0">
              <a:spAutoFit/>
            </a:bodyPr>
            <a:lstStyle/>
            <a:p>
              <a:pPr algn="ctr">
                <a:lnSpc>
                  <a:spcPts val="2400"/>
                </a:lnSpc>
              </a:pPr>
              <a:r>
                <a:rPr lang="zh-CN" sz="1800" dirty="0">
                  <a:solidFill>
                    <a:schemeClr val="dk1"/>
                  </a:solidFill>
                  <a:latin typeface="Microsoft YaHei"/>
                  <a:ea typeface="Microsoft YaHei"/>
                  <a:cs typeface="Microsoft YaHei"/>
                </a:rPr>
                <a:t>识别居民的</a:t>
              </a:r>
              <a:br>
                <a:rPr lang="zh-CN" sz="1800" dirty="0">
                  <a:solidFill>
                    <a:schemeClr val="dk1"/>
                  </a:solidFill>
                  <a:latin typeface="Microsoft YaHei"/>
                  <a:ea typeface="Microsoft YaHei"/>
                  <a:cs typeface="Microsoft YaHei"/>
                </a:rPr>
              </a:br>
              <a:r>
                <a:rPr lang="zh-CN" sz="1800" dirty="0">
                  <a:solidFill>
                    <a:schemeClr val="dk1"/>
                  </a:solidFill>
                  <a:latin typeface="Microsoft YaHei"/>
                  <a:ea typeface="Microsoft YaHei"/>
                  <a:cs typeface="Microsoft YaHei"/>
                </a:rPr>
                <a:t>菜品选择与需求</a:t>
              </a:r>
            </a:p>
          </p:txBody>
        </p:sp>
        <p:sp>
          <p:nvSpPr>
            <p:cNvPr id="24" name="Ellipse 24"/>
            <p:cNvSpPr/>
            <p:nvPr/>
          </p:nvSpPr>
          <p:spPr>
            <a:xfrm>
              <a:off x="8848725" y="3143250"/>
              <a:ext cx="2533650" cy="2533650"/>
            </a:xfrm>
            <a:prstGeom prst="ellipse">
              <a:avLst/>
            </a:prstGeom>
            <a:solidFill>
              <a:schemeClr val="accent2">
                <a:alpha val="11000"/>
              </a:schemeClr>
            </a:solidFill>
            <a:ln>
              <a:noFill/>
            </a:ln>
          </p:spPr>
        </p:sp>
        <p:grpSp>
          <p:nvGrpSpPr>
            <p:cNvPr id="32" name="Group 32"/>
            <p:cNvGrpSpPr/>
            <p:nvPr/>
          </p:nvGrpSpPr>
          <p:grpSpPr>
            <a:xfrm>
              <a:off x="9709404" y="3403092"/>
              <a:ext cx="861822" cy="891540"/>
              <a:chOff x="9709404" y="3403092"/>
              <a:chExt cx="861822" cy="891540"/>
            </a:xfrm>
          </p:grpSpPr>
          <p:sp>
            <p:nvSpPr>
              <p:cNvPr id="25" name="Ellipse 25"/>
              <p:cNvSpPr/>
              <p:nvPr/>
            </p:nvSpPr>
            <p:spPr>
              <a:xfrm>
                <a:off x="9709404" y="3403092"/>
                <a:ext cx="752856" cy="752856"/>
              </a:xfrm>
              <a:prstGeom prst="ellipse">
                <a:avLst/>
              </a:prstGeom>
              <a:solidFill>
                <a:schemeClr val="accent2"/>
              </a:solidFill>
              <a:ln>
                <a:noFill/>
              </a:ln>
            </p:spPr>
          </p:sp>
          <p:sp>
            <p:nvSpPr>
              <p:cNvPr id="26" name="Freeform 26"/>
              <p:cNvSpPr/>
              <p:nvPr/>
            </p:nvSpPr>
            <p:spPr>
              <a:xfrm>
                <a:off x="9739122" y="3432810"/>
                <a:ext cx="316992" cy="257556"/>
              </a:xfrm>
              <a:custGeom>
                <a:avLst/>
                <a:gdLst/>
                <a:ahLst/>
                <a:cxnLst/>
                <a:rect l="l" t="t" r="r" b="b"/>
                <a:pathLst>
                  <a:path w="316992" h="257556">
                    <a:moveTo>
                      <a:pt x="69342" y="69342"/>
                    </a:moveTo>
                    <a:cubicBezTo>
                      <a:pt x="138684" y="0"/>
                      <a:pt x="227838" y="0"/>
                      <a:pt x="287274" y="39624"/>
                    </a:cubicBezTo>
                    <a:lnTo>
                      <a:pt x="247650" y="99060"/>
                    </a:lnTo>
                    <a:lnTo>
                      <a:pt x="316992" y="138684"/>
                    </a:lnTo>
                    <a:lnTo>
                      <a:pt x="247650" y="188214"/>
                    </a:lnTo>
                    <a:lnTo>
                      <a:pt x="168402" y="168402"/>
                    </a:lnTo>
                    <a:lnTo>
                      <a:pt x="128778" y="247650"/>
                    </a:lnTo>
                    <a:lnTo>
                      <a:pt x="59436" y="257556"/>
                    </a:lnTo>
                    <a:lnTo>
                      <a:pt x="0" y="178308"/>
                    </a:lnTo>
                    <a:cubicBezTo>
                      <a:pt x="9906" y="128778"/>
                      <a:pt x="29718" y="99060"/>
                      <a:pt x="69342" y="69342"/>
                    </a:cubicBezTo>
                    <a:close/>
                  </a:path>
                </a:pathLst>
              </a:custGeom>
              <a:solidFill>
                <a:schemeClr val="lt2"/>
              </a:solidFill>
              <a:ln>
                <a:noFill/>
              </a:ln>
            </p:spPr>
          </p:sp>
          <p:sp>
            <p:nvSpPr>
              <p:cNvPr id="27" name="Freeform 27"/>
              <p:cNvSpPr/>
              <p:nvPr/>
            </p:nvSpPr>
            <p:spPr>
              <a:xfrm>
                <a:off x="9877806" y="3710178"/>
                <a:ext cx="267462" cy="406146"/>
              </a:xfrm>
              <a:custGeom>
                <a:avLst/>
                <a:gdLst/>
                <a:ahLst/>
                <a:cxnLst/>
                <a:rect l="l" t="t" r="r" b="b"/>
                <a:pathLst>
                  <a:path w="267462" h="406146">
                    <a:moveTo>
                      <a:pt x="59436" y="39624"/>
                    </a:moveTo>
                    <a:cubicBezTo>
                      <a:pt x="148590" y="0"/>
                      <a:pt x="267462" y="59436"/>
                      <a:pt x="217932" y="158496"/>
                    </a:cubicBezTo>
                    <a:lnTo>
                      <a:pt x="178308" y="208026"/>
                    </a:lnTo>
                    <a:lnTo>
                      <a:pt x="158496" y="316992"/>
                    </a:lnTo>
                    <a:lnTo>
                      <a:pt x="99060" y="406146"/>
                    </a:lnTo>
                    <a:lnTo>
                      <a:pt x="49530" y="316992"/>
                    </a:lnTo>
                    <a:lnTo>
                      <a:pt x="59436" y="237744"/>
                    </a:lnTo>
                    <a:lnTo>
                      <a:pt x="0" y="158496"/>
                    </a:lnTo>
                    <a:lnTo>
                      <a:pt x="9906" y="89154"/>
                    </a:lnTo>
                    <a:close/>
                  </a:path>
                </a:pathLst>
              </a:custGeom>
              <a:solidFill>
                <a:schemeClr val="lt2"/>
              </a:solidFill>
              <a:ln>
                <a:noFill/>
              </a:ln>
            </p:spPr>
          </p:sp>
          <p:sp>
            <p:nvSpPr>
              <p:cNvPr id="28" name="Freeform 28"/>
              <p:cNvSpPr/>
              <p:nvPr/>
            </p:nvSpPr>
            <p:spPr>
              <a:xfrm>
                <a:off x="10095738" y="3452622"/>
                <a:ext cx="336804" cy="237744"/>
              </a:xfrm>
              <a:custGeom>
                <a:avLst/>
                <a:gdLst/>
                <a:ahLst/>
                <a:cxnLst/>
                <a:rect l="l" t="t" r="r" b="b"/>
                <a:pathLst>
                  <a:path w="336804" h="237744">
                    <a:moveTo>
                      <a:pt x="99060" y="0"/>
                    </a:moveTo>
                    <a:cubicBezTo>
                      <a:pt x="198120" y="19812"/>
                      <a:pt x="307086" y="128778"/>
                      <a:pt x="336804" y="217932"/>
                    </a:cubicBezTo>
                    <a:lnTo>
                      <a:pt x="257556" y="237744"/>
                    </a:lnTo>
                    <a:lnTo>
                      <a:pt x="188214" y="188214"/>
                    </a:lnTo>
                    <a:lnTo>
                      <a:pt x="138684" y="237744"/>
                    </a:lnTo>
                    <a:lnTo>
                      <a:pt x="99060" y="188214"/>
                    </a:lnTo>
                    <a:lnTo>
                      <a:pt x="29718" y="198120"/>
                    </a:lnTo>
                    <a:lnTo>
                      <a:pt x="0" y="128778"/>
                    </a:lnTo>
                    <a:lnTo>
                      <a:pt x="59436" y="79248"/>
                    </a:lnTo>
                    <a:close/>
                  </a:path>
                </a:pathLst>
              </a:custGeom>
              <a:solidFill>
                <a:schemeClr val="lt2"/>
              </a:solidFill>
              <a:ln>
                <a:noFill/>
              </a:ln>
            </p:spPr>
          </p:sp>
          <p:sp>
            <p:nvSpPr>
              <p:cNvPr id="29" name="Freeform 29"/>
              <p:cNvSpPr/>
              <p:nvPr/>
            </p:nvSpPr>
            <p:spPr>
              <a:xfrm>
                <a:off x="10095738" y="3690366"/>
                <a:ext cx="267462" cy="316992"/>
              </a:xfrm>
              <a:custGeom>
                <a:avLst/>
                <a:gdLst/>
                <a:ahLst/>
                <a:cxnLst/>
                <a:rect l="l" t="t" r="r" b="b"/>
                <a:pathLst>
                  <a:path w="267462" h="316992">
                    <a:moveTo>
                      <a:pt x="79248" y="49530"/>
                    </a:moveTo>
                    <a:cubicBezTo>
                      <a:pt x="158496" y="0"/>
                      <a:pt x="247650" y="59436"/>
                      <a:pt x="267462" y="118872"/>
                    </a:cubicBezTo>
                    <a:lnTo>
                      <a:pt x="208026" y="227838"/>
                    </a:lnTo>
                    <a:lnTo>
                      <a:pt x="158496" y="316992"/>
                    </a:lnTo>
                    <a:lnTo>
                      <a:pt x="89154" y="287274"/>
                    </a:lnTo>
                    <a:lnTo>
                      <a:pt x="49530" y="198120"/>
                    </a:lnTo>
                    <a:lnTo>
                      <a:pt x="0" y="118872"/>
                    </a:lnTo>
                    <a:close/>
                  </a:path>
                </a:pathLst>
              </a:custGeom>
              <a:solidFill>
                <a:schemeClr val="lt2"/>
              </a:solidFill>
              <a:ln>
                <a:noFill/>
              </a:ln>
            </p:spPr>
          </p:sp>
          <p:sp>
            <p:nvSpPr>
              <p:cNvPr id="30" name="Freeform 30"/>
              <p:cNvSpPr/>
              <p:nvPr/>
            </p:nvSpPr>
            <p:spPr>
              <a:xfrm>
                <a:off x="10125456" y="3898392"/>
                <a:ext cx="445770" cy="396240"/>
              </a:xfrm>
              <a:custGeom>
                <a:avLst/>
                <a:gdLst/>
                <a:ahLst/>
                <a:cxnLst/>
                <a:rect l="l" t="t" r="r" b="b"/>
                <a:pathLst>
                  <a:path w="445770" h="396240">
                    <a:moveTo>
                      <a:pt x="9906" y="287274"/>
                    </a:moveTo>
                    <a:cubicBezTo>
                      <a:pt x="0" y="59436"/>
                      <a:pt x="188214" y="19812"/>
                      <a:pt x="445770" y="0"/>
                    </a:cubicBezTo>
                    <a:cubicBezTo>
                      <a:pt x="435864" y="237744"/>
                      <a:pt x="307086" y="396240"/>
                      <a:pt x="108966" y="356616"/>
                    </a:cubicBezTo>
                    <a:close/>
                  </a:path>
                </a:pathLst>
              </a:custGeom>
              <a:solidFill>
                <a:schemeClr val="accent1"/>
              </a:solidFill>
              <a:ln w="19812" cap="rnd">
                <a:solidFill>
                  <a:srgbClr val="FFFFFF"/>
                </a:solidFill>
                <a:round/>
              </a:ln>
            </p:spPr>
          </p:sp>
          <p:sp>
            <p:nvSpPr>
              <p:cNvPr id="31" name="Freeform 31"/>
              <p:cNvSpPr/>
              <p:nvPr/>
            </p:nvSpPr>
            <p:spPr>
              <a:xfrm>
                <a:off x="10214610" y="4017264"/>
                <a:ext cx="247650" cy="227838"/>
              </a:xfrm>
              <a:custGeom>
                <a:avLst/>
                <a:gdLst/>
                <a:ahLst/>
                <a:cxnLst/>
                <a:rect l="l" t="t" r="r" b="b"/>
                <a:pathLst>
                  <a:path w="247650" h="227838">
                    <a:moveTo>
                      <a:pt x="0" y="227838"/>
                    </a:moveTo>
                    <a:lnTo>
                      <a:pt x="247650" y="0"/>
                    </a:lnTo>
                  </a:path>
                </a:pathLst>
              </a:custGeom>
              <a:noFill/>
              <a:ln w="24765" cap="rnd">
                <a:solidFill>
                  <a:srgbClr val="FFFFFF"/>
                </a:solidFill>
                <a:round/>
              </a:ln>
            </p:spPr>
          </p:sp>
        </p:grpSp>
        <p:sp>
          <p:nvSpPr>
            <p:cNvPr id="33" name="TextBox 33"/>
            <p:cNvSpPr txBox="1"/>
            <p:nvPr/>
          </p:nvSpPr>
          <p:spPr>
            <a:xfrm>
              <a:off x="9457182" y="4489450"/>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气候目标</a:t>
              </a:r>
            </a:p>
          </p:txBody>
        </p:sp>
        <p:sp>
          <p:nvSpPr>
            <p:cNvPr id="34" name="TextBox 34"/>
            <p:cNvSpPr txBox="1"/>
            <p:nvPr/>
          </p:nvSpPr>
          <p:spPr>
            <a:xfrm>
              <a:off x="9306306" y="4953000"/>
              <a:ext cx="1618488" cy="656844"/>
            </a:xfrm>
            <a:prstGeom prst="rect">
              <a:avLst/>
            </a:prstGeom>
            <a:noFill/>
            <a:ln>
              <a:noFill/>
            </a:ln>
          </p:spPr>
          <p:txBody>
            <a:bodyPr wrap="none" lIns="0" tIns="0" rIns="0" bIns="0" anchor="t" anchorCtr="0">
              <a:spAutoFit/>
            </a:bodyPr>
            <a:lstStyle/>
            <a:p>
              <a:pPr algn="ctr">
                <a:lnSpc>
                  <a:spcPts val="2400"/>
                </a:lnSpc>
              </a:pPr>
              <a:r>
                <a:rPr lang="zh-CN" sz="1800" dirty="0">
                  <a:solidFill>
                    <a:schemeClr val="dk1"/>
                  </a:solidFill>
                  <a:latin typeface="Microsoft YaHei"/>
                  <a:ea typeface="Microsoft YaHei"/>
                  <a:cs typeface="Microsoft YaHei"/>
                </a:rPr>
                <a:t>评估需求侧的</a:t>
              </a:r>
              <a:br>
                <a:rPr lang="zh-CN" sz="1800" dirty="0">
                  <a:solidFill>
                    <a:schemeClr val="dk1"/>
                  </a:solidFill>
                  <a:latin typeface="Microsoft YaHei"/>
                  <a:ea typeface="Microsoft YaHei"/>
                  <a:cs typeface="Microsoft YaHei"/>
                </a:rPr>
              </a:br>
              <a:r>
                <a:rPr lang="zh-CN" sz="1800" dirty="0">
                  <a:solidFill>
                    <a:schemeClr val="dk1"/>
                  </a:solidFill>
                  <a:latin typeface="Microsoft YaHei"/>
                  <a:ea typeface="Microsoft YaHei"/>
                  <a:cs typeface="Microsoft YaHei"/>
                </a:rPr>
                <a:t>减排潜力与路径</a:t>
              </a:r>
            </a:p>
          </p:txBody>
        </p:sp>
        <p:sp>
          <p:nvSpPr>
            <p:cNvPr id="35" name="Freeform 35"/>
            <p:cNvSpPr/>
            <p:nvPr/>
          </p:nvSpPr>
          <p:spPr>
            <a:xfrm>
              <a:off x="3390900" y="4200525"/>
              <a:ext cx="1438275" cy="419100"/>
            </a:xfrm>
            <a:custGeom>
              <a:avLst/>
              <a:gdLst/>
              <a:ahLst/>
              <a:cxnLst/>
              <a:rect l="l" t="t" r="r" b="b"/>
              <a:pathLst>
                <a:path w="1438275" h="419100">
                  <a:moveTo>
                    <a:pt x="0" y="123825"/>
                  </a:moveTo>
                  <a:lnTo>
                    <a:pt x="1219200" y="123825"/>
                  </a:lnTo>
                  <a:lnTo>
                    <a:pt x="1219200" y="0"/>
                  </a:lnTo>
                  <a:lnTo>
                    <a:pt x="1438275" y="209550"/>
                  </a:lnTo>
                  <a:lnTo>
                    <a:pt x="1219200" y="419100"/>
                  </a:lnTo>
                  <a:lnTo>
                    <a:pt x="1219200" y="295275"/>
                  </a:lnTo>
                  <a:lnTo>
                    <a:pt x="0" y="295275"/>
                  </a:lnTo>
                  <a:close/>
                </a:path>
              </a:pathLst>
            </a:custGeom>
            <a:solidFill>
              <a:schemeClr val="accent2">
                <a:alpha val="66000"/>
              </a:schemeClr>
            </a:solidFill>
            <a:ln>
              <a:noFill/>
            </a:ln>
          </p:spPr>
        </p:sp>
        <p:sp>
          <p:nvSpPr>
            <p:cNvPr id="36" name="Freeform 36"/>
            <p:cNvSpPr/>
            <p:nvPr/>
          </p:nvSpPr>
          <p:spPr>
            <a:xfrm>
              <a:off x="7410450" y="4200525"/>
              <a:ext cx="1438275" cy="419100"/>
            </a:xfrm>
            <a:custGeom>
              <a:avLst/>
              <a:gdLst/>
              <a:ahLst/>
              <a:cxnLst/>
              <a:rect l="l" t="t" r="r" b="b"/>
              <a:pathLst>
                <a:path w="1438275" h="419100">
                  <a:moveTo>
                    <a:pt x="0" y="123825"/>
                  </a:moveTo>
                  <a:lnTo>
                    <a:pt x="1219200" y="123825"/>
                  </a:lnTo>
                  <a:lnTo>
                    <a:pt x="1219200" y="0"/>
                  </a:lnTo>
                  <a:lnTo>
                    <a:pt x="1438275" y="209550"/>
                  </a:lnTo>
                  <a:lnTo>
                    <a:pt x="1219200" y="419100"/>
                  </a:lnTo>
                  <a:lnTo>
                    <a:pt x="1219200" y="295275"/>
                  </a:lnTo>
                  <a:lnTo>
                    <a:pt x="0" y="295275"/>
                  </a:lnTo>
                  <a:close/>
                </a:path>
              </a:pathLst>
            </a:custGeom>
            <a:solidFill>
              <a:schemeClr val="accent3">
                <a:alpha val="66000"/>
              </a:schemeClr>
            </a:solidFill>
            <a:ln>
              <a:noFill/>
            </a:ln>
          </p:spPr>
        </p:sp>
      </p:grpSp>
      <p:grpSp>
        <p:nvGrpSpPr>
          <p:cNvPr id="42" name="source-and-page"/>
          <p:cNvGrpSpPr/>
          <p:nvPr/>
        </p:nvGrpSpPr>
        <p:grpSpPr>
          <a:xfrm>
            <a:off x="525780" y="5851525"/>
            <a:ext cx="11139678" cy="867283"/>
            <a:chOff x="525780" y="5851525"/>
            <a:chExt cx="11139678" cy="867283"/>
          </a:xfrm>
        </p:grpSpPr>
        <p:sp>
          <p:nvSpPr>
            <p:cNvPr id="38" name="TextBox 38"/>
            <p:cNvSpPr txBox="1"/>
            <p:nvPr/>
          </p:nvSpPr>
          <p:spPr>
            <a:xfrm>
              <a:off x="525780" y="5851525"/>
              <a:ext cx="63435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icrosoft YaHei"/>
                  <a:ea typeface="Microsoft YaHei"/>
                  <a:cs typeface="Microsoft YaHei"/>
                </a:rPr>
                <a:t>Xian Yang · Qian Gao · Hongbo Duan · Muhua Zhu · Shouyang Wang</a:t>
              </a:r>
            </a:p>
          </p:txBody>
        </p:sp>
        <p:sp>
          <p:nvSpPr>
            <p:cNvPr id="39" name="TextBox 39"/>
            <p:cNvSpPr txBox="1"/>
            <p:nvPr/>
          </p:nvSpPr>
          <p:spPr>
            <a:xfrm>
              <a:off x="525780" y="6156325"/>
              <a:ext cx="3068269"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icrosoft YaHei"/>
                  <a:ea typeface="Microsoft YaHei"/>
                  <a:cs typeface="Microsoft YaHei"/>
                </a:rPr>
                <a:t>Nature Food 5, 365–377 (2024)</a:t>
              </a:r>
            </a:p>
          </p:txBody>
        </p:sp>
        <p:sp>
          <p:nvSpPr>
            <p:cNvPr id="40" name="TextBox 40"/>
            <p:cNvSpPr txBox="1"/>
            <p:nvPr/>
          </p:nvSpPr>
          <p:spPr>
            <a:xfrm>
              <a:off x="526542" y="6454775"/>
              <a:ext cx="26125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icrosoft YaHei"/>
                  <a:ea typeface="Microsoft YaHei"/>
                  <a:cs typeface="Microsoft YaHei"/>
                </a:rPr>
                <a:t>10.1038/s43016-024-00978-z</a:t>
              </a:r>
            </a:p>
          </p:txBody>
        </p:sp>
        <p:sp>
          <p:nvSpPr>
            <p:cNvPr id="41" name="TextBox 41"/>
            <p:cNvSpPr txBox="1"/>
            <p:nvPr/>
          </p:nvSpPr>
          <p:spPr>
            <a:xfrm>
              <a:off x="11042923" y="645477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01 / 18</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01 / 问题与方法</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02 / 18</a:t>
              </a:r>
            </a:p>
          </p:txBody>
        </p:sp>
      </p:grpSp>
      <p:grpSp>
        <p:nvGrpSpPr>
          <p:cNvPr id="6" name="slide-title"/>
          <p:cNvGrpSpPr/>
          <p:nvPr/>
        </p:nvGrpSpPr>
        <p:grpSpPr>
          <a:xfrm>
            <a:off x="515112" y="622300"/>
            <a:ext cx="5367528" cy="704088"/>
            <a:chOff x="515112" y="622300"/>
            <a:chExt cx="5367528" cy="704088"/>
          </a:xfrm>
        </p:grpSpPr>
        <p:sp>
          <p:nvSpPr>
            <p:cNvPr id="5" name="TextBox 5"/>
            <p:cNvSpPr txBox="1"/>
            <p:nvPr/>
          </p:nvSpPr>
          <p:spPr>
            <a:xfrm>
              <a:off x="515112" y="622300"/>
              <a:ext cx="5367528"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菜品排放为何相差千倍？</a:t>
              </a:r>
            </a:p>
          </p:txBody>
        </p:sp>
      </p:grpSp>
      <p:grpSp>
        <p:nvGrpSpPr>
          <p:cNvPr id="27" name="p02-main-evidence"/>
          <p:cNvGrpSpPr/>
          <p:nvPr/>
        </p:nvGrpSpPr>
        <p:grpSpPr>
          <a:xfrm>
            <a:off x="521208" y="1520825"/>
            <a:ext cx="11147298" cy="4581906"/>
            <a:chOff x="521208" y="1520825"/>
            <a:chExt cx="11147298" cy="4581906"/>
          </a:xfrm>
        </p:grpSpPr>
        <p:sp>
          <p:nvSpPr>
            <p:cNvPr id="7" name="TextBox 7"/>
            <p:cNvSpPr txBox="1"/>
            <p:nvPr/>
          </p:nvSpPr>
          <p:spPr>
            <a:xfrm>
              <a:off x="523494" y="1520825"/>
              <a:ext cx="264490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论文样本中的两个极值</a:t>
              </a:r>
            </a:p>
          </p:txBody>
        </p:sp>
        <p:sp>
          <p:nvSpPr>
            <p:cNvPr id="8" name="TextBox 8"/>
            <p:cNvSpPr txBox="1"/>
            <p:nvPr/>
          </p:nvSpPr>
          <p:spPr>
            <a:xfrm>
              <a:off x="9600625" y="1520825"/>
              <a:ext cx="2067881" cy="381381"/>
            </a:xfrm>
            <a:prstGeom prst="rect">
              <a:avLst/>
            </a:prstGeom>
            <a:noFill/>
            <a:ln>
              <a:noFill/>
            </a:ln>
          </p:spPr>
          <p:txBody>
            <a:bodyPr wrap="none" lIns="0" tIns="0" rIns="0" bIns="0" anchor="t" anchorCtr="0">
              <a:spAutoFit/>
            </a:bodyPr>
            <a:lstStyle/>
            <a:p>
              <a:pPr algn="r"/>
              <a:r>
                <a:rPr lang="en-US" sz="1950" dirty="0">
                  <a:solidFill>
                    <a:schemeClr val="accent5"/>
                  </a:solidFill>
                  <a:latin typeface="Microsoft YaHei"/>
                  <a:ea typeface="Microsoft YaHei"/>
                  <a:cs typeface="Microsoft YaHei"/>
                </a:rPr>
                <a:t>kg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 / 道菜</a:t>
              </a:r>
            </a:p>
          </p:txBody>
        </p:sp>
        <p:sp>
          <p:nvSpPr>
            <p:cNvPr id="9" name="Ellipse 9"/>
            <p:cNvSpPr/>
            <p:nvPr/>
          </p:nvSpPr>
          <p:spPr>
            <a:xfrm>
              <a:off x="561975" y="2171700"/>
              <a:ext cx="2038350" cy="2038350"/>
            </a:xfrm>
            <a:prstGeom prst="ellipse">
              <a:avLst/>
            </a:prstGeom>
            <a:solidFill>
              <a:schemeClr val="accent2">
                <a:alpha val="9000"/>
              </a:schemeClr>
            </a:solidFill>
            <a:ln>
              <a:noFill/>
            </a:ln>
          </p:spPr>
        </p:sp>
        <p:sp>
          <p:nvSpPr>
            <p:cNvPr id="10" name="Ellipse 10"/>
            <p:cNvSpPr/>
            <p:nvPr/>
          </p:nvSpPr>
          <p:spPr>
            <a:xfrm>
              <a:off x="6200775" y="2171700"/>
              <a:ext cx="2038350" cy="2038350"/>
            </a:xfrm>
            <a:prstGeom prst="ellipse">
              <a:avLst/>
            </a:prstGeom>
            <a:solidFill>
              <a:schemeClr val="accent3">
                <a:alpha val="9000"/>
              </a:schemeClr>
            </a:solidFill>
            <a:ln>
              <a:noFill/>
            </a:ln>
          </p:spPr>
        </p:sp>
        <p:grpSp>
          <p:nvGrpSpPr>
            <p:cNvPr id="15" name="Group 15"/>
            <p:cNvGrpSpPr/>
            <p:nvPr/>
          </p:nvGrpSpPr>
          <p:grpSpPr>
            <a:xfrm>
              <a:off x="909638" y="2490788"/>
              <a:ext cx="1457325" cy="1362074"/>
              <a:chOff x="909638" y="2490788"/>
              <a:chExt cx="1457325" cy="1362074"/>
            </a:xfrm>
          </p:grpSpPr>
          <p:sp>
            <p:nvSpPr>
              <p:cNvPr id="11" name="Freeform 11"/>
              <p:cNvSpPr/>
              <p:nvPr/>
            </p:nvSpPr>
            <p:spPr>
              <a:xfrm>
                <a:off x="909638" y="2490788"/>
                <a:ext cx="1457325" cy="1328738"/>
              </a:xfrm>
              <a:custGeom>
                <a:avLst/>
                <a:gdLst/>
                <a:ahLst/>
                <a:cxnLst/>
                <a:rect l="l" t="t" r="r" b="b"/>
                <a:pathLst>
                  <a:path w="1457325" h="1328738">
                    <a:moveTo>
                      <a:pt x="657225" y="1257300"/>
                    </a:moveTo>
                    <a:cubicBezTo>
                      <a:pt x="200025" y="1300162"/>
                      <a:pt x="0" y="857250"/>
                      <a:pt x="171450" y="557212"/>
                    </a:cubicBezTo>
                    <a:cubicBezTo>
                      <a:pt x="28575" y="157162"/>
                      <a:pt x="514350" y="0"/>
                      <a:pt x="685800" y="300038"/>
                    </a:cubicBezTo>
                    <a:cubicBezTo>
                      <a:pt x="914400" y="0"/>
                      <a:pt x="1314450" y="214312"/>
                      <a:pt x="1185862" y="528638"/>
                    </a:cubicBezTo>
                    <a:cubicBezTo>
                      <a:pt x="1457325" y="900112"/>
                      <a:pt x="1057275" y="1328738"/>
                      <a:pt x="657225" y="1257300"/>
                    </a:cubicBezTo>
                    <a:close/>
                  </a:path>
                </a:pathLst>
              </a:custGeom>
              <a:solidFill>
                <a:schemeClr val="accent2"/>
              </a:solidFill>
              <a:ln>
                <a:noFill/>
              </a:ln>
            </p:spPr>
          </p:sp>
          <p:sp>
            <p:nvSpPr>
              <p:cNvPr id="12" name="Freeform 12"/>
              <p:cNvSpPr/>
              <p:nvPr/>
            </p:nvSpPr>
            <p:spPr>
              <a:xfrm>
                <a:off x="1166812" y="2662238"/>
                <a:ext cx="857250" cy="1042988"/>
              </a:xfrm>
              <a:custGeom>
                <a:avLst/>
                <a:gdLst/>
                <a:ahLst/>
                <a:cxnLst/>
                <a:rect l="l" t="t" r="r" b="b"/>
                <a:pathLst>
                  <a:path w="857250" h="1042988">
                    <a:moveTo>
                      <a:pt x="385762" y="1042988"/>
                    </a:moveTo>
                    <a:cubicBezTo>
                      <a:pt x="28575" y="814388"/>
                      <a:pt x="0" y="442912"/>
                      <a:pt x="300038" y="200025"/>
                    </a:cubicBezTo>
                    <a:cubicBezTo>
                      <a:pt x="442912" y="0"/>
                      <a:pt x="685800" y="271462"/>
                      <a:pt x="671512" y="514350"/>
                    </a:cubicBezTo>
                    <a:cubicBezTo>
                      <a:pt x="857250" y="685800"/>
                      <a:pt x="671512" y="942975"/>
                      <a:pt x="385762" y="1042988"/>
                    </a:cubicBezTo>
                    <a:close/>
                  </a:path>
                </a:pathLst>
              </a:custGeom>
              <a:solidFill>
                <a:schemeClr val="lt2"/>
              </a:solidFill>
              <a:ln>
                <a:noFill/>
              </a:ln>
            </p:spPr>
          </p:sp>
          <p:sp>
            <p:nvSpPr>
              <p:cNvPr id="13" name="Freeform 13"/>
              <p:cNvSpPr/>
              <p:nvPr/>
            </p:nvSpPr>
            <p:spPr>
              <a:xfrm>
                <a:off x="1252538" y="2990850"/>
                <a:ext cx="685800" cy="714375"/>
              </a:xfrm>
              <a:custGeom>
                <a:avLst/>
                <a:gdLst/>
                <a:ahLst/>
                <a:cxnLst/>
                <a:rect l="l" t="t" r="r" b="b"/>
                <a:pathLst>
                  <a:path w="685800" h="714375">
                    <a:moveTo>
                      <a:pt x="314325" y="714375"/>
                    </a:moveTo>
                    <a:lnTo>
                      <a:pt x="342900" y="0"/>
                    </a:lnTo>
                    <a:moveTo>
                      <a:pt x="314325" y="500062"/>
                    </a:moveTo>
                    <a:lnTo>
                      <a:pt x="0" y="157162"/>
                    </a:lnTo>
                    <a:moveTo>
                      <a:pt x="328612" y="357188"/>
                    </a:moveTo>
                    <a:lnTo>
                      <a:pt x="685800" y="71438"/>
                    </a:lnTo>
                    <a:moveTo>
                      <a:pt x="314325" y="614362"/>
                    </a:moveTo>
                    <a:lnTo>
                      <a:pt x="642938" y="442912"/>
                    </a:lnTo>
                  </a:path>
                </a:pathLst>
              </a:custGeom>
              <a:noFill/>
              <a:ln w="35719" cap="rnd">
                <a:solidFill>
                  <a:schemeClr val="accent1"/>
                </a:solidFill>
                <a:round/>
              </a:ln>
            </p:spPr>
          </p:sp>
          <p:sp>
            <p:nvSpPr>
              <p:cNvPr id="14" name="Freeform 14"/>
              <p:cNvSpPr/>
              <p:nvPr/>
            </p:nvSpPr>
            <p:spPr>
              <a:xfrm>
                <a:off x="1166812" y="3776662"/>
                <a:ext cx="857250" cy="76200"/>
              </a:xfrm>
              <a:custGeom>
                <a:avLst/>
                <a:gdLst/>
                <a:ahLst/>
                <a:cxnLst/>
                <a:rect l="l" t="t" r="r" b="b"/>
                <a:pathLst>
                  <a:path w="857250" h="76200">
                    <a:moveTo>
                      <a:pt x="0" y="0"/>
                    </a:moveTo>
                    <a:cubicBezTo>
                      <a:pt x="276225" y="76200"/>
                      <a:pt x="561975" y="76200"/>
                      <a:pt x="857250" y="0"/>
                    </a:cubicBezTo>
                  </a:path>
                </a:pathLst>
              </a:custGeom>
              <a:noFill/>
              <a:ln w="57150" cap="rnd">
                <a:solidFill>
                  <a:schemeClr val="accent1"/>
                </a:solidFill>
                <a:round/>
              </a:ln>
            </p:spPr>
          </p:sp>
        </p:grpSp>
        <p:grpSp>
          <p:nvGrpSpPr>
            <p:cNvPr id="18" name="Group 18"/>
            <p:cNvGrpSpPr/>
            <p:nvPr/>
          </p:nvGrpSpPr>
          <p:grpSpPr>
            <a:xfrm>
              <a:off x="6562725" y="2505075"/>
              <a:ext cx="1343025" cy="1371600"/>
              <a:chOff x="6562725" y="2505075"/>
              <a:chExt cx="1343025" cy="1371600"/>
            </a:xfrm>
          </p:grpSpPr>
          <p:sp>
            <p:nvSpPr>
              <p:cNvPr id="16" name="Freeform 16"/>
              <p:cNvSpPr/>
              <p:nvPr/>
            </p:nvSpPr>
            <p:spPr>
              <a:xfrm>
                <a:off x="6562725" y="2505075"/>
                <a:ext cx="1343025" cy="1371600"/>
              </a:xfrm>
              <a:custGeom>
                <a:avLst/>
                <a:gdLst/>
                <a:ahLst/>
                <a:cxnLst/>
                <a:rect l="l" t="t" r="r" b="b"/>
                <a:pathLst>
                  <a:path w="1343025" h="1371600">
                    <a:moveTo>
                      <a:pt x="285750" y="385762"/>
                    </a:moveTo>
                    <a:cubicBezTo>
                      <a:pt x="71438" y="400050"/>
                      <a:pt x="0" y="200025"/>
                      <a:pt x="142875" y="100012"/>
                    </a:cubicBezTo>
                    <a:cubicBezTo>
                      <a:pt x="257175" y="0"/>
                      <a:pt x="414338" y="85725"/>
                      <a:pt x="442912" y="214312"/>
                    </a:cubicBezTo>
                    <a:lnTo>
                      <a:pt x="971550" y="842962"/>
                    </a:lnTo>
                    <a:cubicBezTo>
                      <a:pt x="1128712" y="742950"/>
                      <a:pt x="1328738" y="871538"/>
                      <a:pt x="1257300" y="1042988"/>
                    </a:cubicBezTo>
                    <a:cubicBezTo>
                      <a:pt x="1343025" y="1228725"/>
                      <a:pt x="1085850" y="1371600"/>
                      <a:pt x="971550" y="1228725"/>
                    </a:cubicBezTo>
                    <a:cubicBezTo>
                      <a:pt x="800100" y="1300162"/>
                      <a:pt x="671512" y="1085850"/>
                      <a:pt x="800100" y="971550"/>
                    </a:cubicBezTo>
                    <a:lnTo>
                      <a:pt x="285750" y="385762"/>
                    </a:lnTo>
                    <a:close/>
                  </a:path>
                </a:pathLst>
              </a:custGeom>
              <a:solidFill>
                <a:schemeClr val="accent3"/>
              </a:solidFill>
              <a:ln w="28575" cap="rnd">
                <a:solidFill>
                  <a:schemeClr val="accent1"/>
                </a:solidFill>
                <a:round/>
              </a:ln>
            </p:spPr>
          </p:sp>
          <p:sp>
            <p:nvSpPr>
              <p:cNvPr id="17" name="Freeform 17"/>
              <p:cNvSpPr/>
              <p:nvPr/>
            </p:nvSpPr>
            <p:spPr>
              <a:xfrm>
                <a:off x="6948488" y="2876550"/>
                <a:ext cx="485775" cy="571500"/>
              </a:xfrm>
              <a:custGeom>
                <a:avLst/>
                <a:gdLst/>
                <a:ahLst/>
                <a:cxnLst/>
                <a:rect l="l" t="t" r="r" b="b"/>
                <a:pathLst>
                  <a:path w="485775" h="571500">
                    <a:moveTo>
                      <a:pt x="0" y="0"/>
                    </a:moveTo>
                    <a:lnTo>
                      <a:pt x="485775" y="571500"/>
                    </a:lnTo>
                  </a:path>
                </a:pathLst>
              </a:custGeom>
              <a:noFill/>
              <a:ln w="85725" cap="rnd">
                <a:solidFill>
                  <a:srgbClr val="F3F7F4"/>
                </a:solidFill>
                <a:round/>
              </a:ln>
            </p:spPr>
          </p:sp>
        </p:grpSp>
        <p:sp>
          <p:nvSpPr>
            <p:cNvPr id="19" name="TextBox 19"/>
            <p:cNvSpPr txBox="1"/>
            <p:nvPr/>
          </p:nvSpPr>
          <p:spPr>
            <a:xfrm>
              <a:off x="2786634" y="2422525"/>
              <a:ext cx="1481328" cy="528066"/>
            </a:xfrm>
            <a:prstGeom prst="rect">
              <a:avLst/>
            </a:prstGeom>
            <a:noFill/>
            <a:ln>
              <a:noFill/>
            </a:ln>
          </p:spPr>
          <p:txBody>
            <a:bodyPr wrap="none" lIns="0" tIns="0" rIns="0" bIns="0" anchor="t" anchorCtr="0">
              <a:spAutoFit/>
            </a:bodyPr>
            <a:lstStyle/>
            <a:p>
              <a:pPr algn="l"/>
              <a:r>
                <a:rPr lang="zh-CN" sz="2700" b="1" dirty="0">
                  <a:solidFill>
                    <a:schemeClr val="accent2"/>
                  </a:solidFill>
                  <a:latin typeface="Microsoft YaHei"/>
                  <a:ea typeface="Microsoft YaHei"/>
                  <a:cs typeface="Microsoft YaHei"/>
                </a:rPr>
                <a:t>乾隆白菜</a:t>
              </a:r>
            </a:p>
          </p:txBody>
        </p:sp>
        <p:sp>
          <p:nvSpPr>
            <p:cNvPr id="20" name="TextBox 20"/>
            <p:cNvSpPr txBox="1"/>
            <p:nvPr/>
          </p:nvSpPr>
          <p:spPr>
            <a:xfrm>
              <a:off x="8292084" y="242252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牛骨</a:t>
              </a:r>
            </a:p>
          </p:txBody>
        </p:sp>
        <p:sp>
          <p:nvSpPr>
            <p:cNvPr id="21" name="TextBox 21"/>
            <p:cNvSpPr txBox="1"/>
            <p:nvPr/>
          </p:nvSpPr>
          <p:spPr>
            <a:xfrm>
              <a:off x="2781300" y="3171825"/>
              <a:ext cx="2090517" cy="1276350"/>
            </a:xfrm>
            <a:prstGeom prst="rect">
              <a:avLst/>
            </a:prstGeom>
            <a:noFill/>
            <a:ln>
              <a:noFill/>
            </a:ln>
          </p:spPr>
          <p:txBody>
            <a:bodyPr wrap="none" lIns="0" tIns="0" rIns="0" bIns="0" anchor="t" anchorCtr="0">
              <a:spAutoFit/>
            </a:bodyPr>
            <a:lstStyle/>
            <a:p>
              <a:pPr algn="l"/>
              <a:r>
                <a:rPr lang="zh-CN" sz="6600" b="1" dirty="0">
                  <a:solidFill>
                    <a:schemeClr val="accent2"/>
                  </a:solidFill>
                  <a:latin typeface="Microsoft YaHei"/>
                  <a:ea typeface="Microsoft YaHei"/>
                  <a:cs typeface="Microsoft YaHei"/>
                </a:rPr>
                <a:t>0.09</a:t>
              </a:r>
            </a:p>
          </p:txBody>
        </p:sp>
        <p:sp>
          <p:nvSpPr>
            <p:cNvPr id="22" name="TextBox 22"/>
            <p:cNvSpPr txBox="1"/>
            <p:nvPr/>
          </p:nvSpPr>
          <p:spPr>
            <a:xfrm>
              <a:off x="8286750" y="3171825"/>
              <a:ext cx="3116725"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Microsoft YaHei"/>
                  <a:ea typeface="Microsoft YaHei"/>
                  <a:cs typeface="Microsoft YaHei"/>
                </a:rPr>
                <a:t>101.86</a:t>
              </a:r>
            </a:p>
          </p:txBody>
        </p:sp>
        <p:sp>
          <p:nvSpPr>
            <p:cNvPr id="23" name="Line 23"/>
            <p:cNvSpPr/>
            <p:nvPr/>
          </p:nvSpPr>
          <p:spPr>
            <a:xfrm>
              <a:off x="6096000" y="2228850"/>
              <a:ext cx="9525" cy="2371725"/>
            </a:xfrm>
            <a:custGeom>
              <a:avLst/>
              <a:gdLst/>
              <a:ahLst/>
              <a:cxnLst/>
              <a:rect l="l" t="t" r="r" b="b"/>
              <a:pathLst>
                <a:path w="9525" h="2371725">
                  <a:moveTo>
                    <a:pt x="0" y="0"/>
                  </a:moveTo>
                  <a:lnTo>
                    <a:pt x="0" y="2371725"/>
                  </a:lnTo>
                </a:path>
              </a:pathLst>
            </a:custGeom>
            <a:noFill/>
            <a:ln w="9525">
              <a:solidFill>
                <a:schemeClr val="accent6"/>
              </a:solidFill>
            </a:ln>
          </p:spPr>
        </p:sp>
        <p:sp>
          <p:nvSpPr>
            <p:cNvPr id="24" name="Line 24"/>
            <p:cNvSpPr/>
            <p:nvPr/>
          </p:nvSpPr>
          <p:spPr>
            <a:xfrm>
              <a:off x="533400" y="5076825"/>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5" name="TextBox 25"/>
            <p:cNvSpPr txBox="1"/>
            <p:nvPr/>
          </p:nvSpPr>
          <p:spPr>
            <a:xfrm>
              <a:off x="521208" y="5260975"/>
              <a:ext cx="5839968"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配方与份量不同，比较对象是最终菜品。</a:t>
              </a:r>
            </a:p>
          </p:txBody>
        </p:sp>
        <p:sp>
          <p:nvSpPr>
            <p:cNvPr id="26" name="TextBox 26"/>
            <p:cNvSpPr txBox="1"/>
            <p:nvPr/>
          </p:nvSpPr>
          <p:spPr>
            <a:xfrm>
              <a:off x="523494" y="5721350"/>
              <a:ext cx="3169920"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不是等重量或等营养比较。</a:t>
              </a:r>
            </a:p>
          </p:txBody>
        </p:sp>
      </p:grpSp>
      <p:grpSp>
        <p:nvGrpSpPr>
          <p:cNvPr id="30" name="source-and-page"/>
          <p:cNvGrpSpPr/>
          <p:nvPr/>
        </p:nvGrpSpPr>
        <p:grpSpPr>
          <a:xfrm>
            <a:off x="526542" y="6305550"/>
            <a:ext cx="11132058" cy="346583"/>
            <a:chOff x="526542" y="6305550"/>
            <a:chExt cx="11132058" cy="346583"/>
          </a:xfrm>
        </p:grpSpPr>
        <p:sp>
          <p:nvSpPr>
            <p:cNvPr id="28" name="Line 28"/>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9" name="TextBox 29"/>
            <p:cNvSpPr txBox="1"/>
            <p:nvPr/>
          </p:nvSpPr>
          <p:spPr>
            <a:xfrm>
              <a:off x="526542" y="6388100"/>
              <a:ext cx="702487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p.366｜菜品图形为识别示意，不代表真实份量或数量尺度</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01 / 问题与方法</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03 / 18</a:t>
              </a:r>
            </a:p>
          </p:txBody>
        </p:sp>
      </p:grpSp>
      <p:grpSp>
        <p:nvGrpSpPr>
          <p:cNvPr id="6" name="slide-title"/>
          <p:cNvGrpSpPr/>
          <p:nvPr/>
        </p:nvGrpSpPr>
        <p:grpSpPr>
          <a:xfrm>
            <a:off x="515112" y="622300"/>
            <a:ext cx="6821424" cy="704088"/>
            <a:chOff x="515112" y="622300"/>
            <a:chExt cx="6821424" cy="704088"/>
          </a:xfrm>
        </p:grpSpPr>
        <p:sp>
          <p:nvSpPr>
            <p:cNvPr id="5" name="TextBox 5"/>
            <p:cNvSpPr txBox="1"/>
            <p:nvPr/>
          </p:nvSpPr>
          <p:spPr>
            <a:xfrm>
              <a:off x="515112" y="622300"/>
              <a:ext cx="6821424"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核算框架贯通菜品、城市与国家</a:t>
              </a:r>
            </a:p>
          </p:txBody>
        </p:sp>
      </p:grpSp>
      <p:grpSp>
        <p:nvGrpSpPr>
          <p:cNvPr id="55" name="p03-main-evidence"/>
          <p:cNvGrpSpPr/>
          <p:nvPr/>
        </p:nvGrpSpPr>
        <p:grpSpPr>
          <a:xfrm>
            <a:off x="519684" y="1857375"/>
            <a:ext cx="11138916" cy="4101592"/>
            <a:chOff x="519684" y="1857375"/>
            <a:chExt cx="11138916" cy="4101592"/>
          </a:xfrm>
        </p:grpSpPr>
        <p:sp>
          <p:nvSpPr>
            <p:cNvPr id="7" name="Line 7"/>
            <p:cNvSpPr/>
            <p:nvPr/>
          </p:nvSpPr>
          <p:spPr>
            <a:xfrm>
              <a:off x="533400" y="1857375"/>
              <a:ext cx="3314700" cy="9525"/>
            </a:xfrm>
            <a:custGeom>
              <a:avLst/>
              <a:gdLst/>
              <a:ahLst/>
              <a:cxnLst/>
              <a:rect l="l" t="t" r="r" b="b"/>
              <a:pathLst>
                <a:path w="3314700" h="9525">
                  <a:moveTo>
                    <a:pt x="0" y="0"/>
                  </a:moveTo>
                  <a:lnTo>
                    <a:pt x="3314700" y="0"/>
                  </a:lnTo>
                </a:path>
              </a:pathLst>
            </a:custGeom>
            <a:noFill/>
            <a:ln w="28575">
              <a:solidFill>
                <a:schemeClr val="accent2"/>
              </a:solidFill>
            </a:ln>
          </p:spPr>
        </p:sp>
        <p:sp>
          <p:nvSpPr>
            <p:cNvPr id="8" name="TextBox 8"/>
            <p:cNvSpPr txBox="1"/>
            <p:nvPr/>
          </p:nvSpPr>
          <p:spPr>
            <a:xfrm>
              <a:off x="519684" y="20034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菜品核算</a:t>
              </a:r>
            </a:p>
          </p:txBody>
        </p:sp>
        <p:sp>
          <p:nvSpPr>
            <p:cNvPr id="9" name="Line 9"/>
            <p:cNvSpPr/>
            <p:nvPr/>
          </p:nvSpPr>
          <p:spPr>
            <a:xfrm>
              <a:off x="4438650" y="1857375"/>
              <a:ext cx="3314700" cy="9525"/>
            </a:xfrm>
            <a:custGeom>
              <a:avLst/>
              <a:gdLst/>
              <a:ahLst/>
              <a:cxnLst/>
              <a:rect l="l" t="t" r="r" b="b"/>
              <a:pathLst>
                <a:path w="3314700" h="9525">
                  <a:moveTo>
                    <a:pt x="0" y="0"/>
                  </a:moveTo>
                  <a:lnTo>
                    <a:pt x="3314700" y="0"/>
                  </a:lnTo>
                </a:path>
              </a:pathLst>
            </a:custGeom>
            <a:noFill/>
            <a:ln w="28575">
              <a:solidFill>
                <a:schemeClr val="accent2"/>
              </a:solidFill>
            </a:ln>
          </p:spPr>
        </p:sp>
        <p:sp>
          <p:nvSpPr>
            <p:cNvPr id="10" name="TextBox 10"/>
            <p:cNvSpPr txBox="1"/>
            <p:nvPr/>
          </p:nvSpPr>
          <p:spPr>
            <a:xfrm>
              <a:off x="4424934" y="20034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城市消费</a:t>
              </a:r>
            </a:p>
          </p:txBody>
        </p:sp>
        <p:sp>
          <p:nvSpPr>
            <p:cNvPr id="11" name="Line 11"/>
            <p:cNvSpPr/>
            <p:nvPr/>
          </p:nvSpPr>
          <p:spPr>
            <a:xfrm>
              <a:off x="8343900" y="1857375"/>
              <a:ext cx="3314700" cy="9525"/>
            </a:xfrm>
            <a:custGeom>
              <a:avLst/>
              <a:gdLst/>
              <a:ahLst/>
              <a:cxnLst/>
              <a:rect l="l" t="t" r="r" b="b"/>
              <a:pathLst>
                <a:path w="3314700" h="9525">
                  <a:moveTo>
                    <a:pt x="0" y="0"/>
                  </a:moveTo>
                  <a:lnTo>
                    <a:pt x="3314700" y="0"/>
                  </a:lnTo>
                </a:path>
              </a:pathLst>
            </a:custGeom>
            <a:noFill/>
            <a:ln w="28575">
              <a:solidFill>
                <a:schemeClr val="accent2"/>
              </a:solidFill>
            </a:ln>
          </p:spPr>
        </p:sp>
        <p:sp>
          <p:nvSpPr>
            <p:cNvPr id="12" name="TextBox 12"/>
            <p:cNvSpPr txBox="1"/>
            <p:nvPr/>
          </p:nvSpPr>
          <p:spPr>
            <a:xfrm>
              <a:off x="8330184" y="20034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全国估计</a:t>
              </a:r>
            </a:p>
          </p:txBody>
        </p:sp>
        <p:grpSp>
          <p:nvGrpSpPr>
            <p:cNvPr id="19" name="Group 19"/>
            <p:cNvGrpSpPr/>
            <p:nvPr/>
          </p:nvGrpSpPr>
          <p:grpSpPr>
            <a:xfrm>
              <a:off x="583120" y="2638425"/>
              <a:ext cx="679514" cy="762381"/>
              <a:chOff x="583120" y="2638425"/>
              <a:chExt cx="679514" cy="762381"/>
            </a:xfrm>
          </p:grpSpPr>
          <p:sp>
            <p:nvSpPr>
              <p:cNvPr id="13" name="Freeform 13"/>
              <p:cNvSpPr/>
              <p:nvPr/>
            </p:nvSpPr>
            <p:spPr>
              <a:xfrm>
                <a:off x="632841" y="3061049"/>
                <a:ext cx="629793" cy="339757"/>
              </a:xfrm>
              <a:custGeom>
                <a:avLst/>
                <a:gdLst/>
                <a:ahLst/>
                <a:cxnLst/>
                <a:rect l="l" t="t" r="r" b="b"/>
                <a:pathLst>
                  <a:path w="629793" h="339757">
                    <a:moveTo>
                      <a:pt x="0" y="0"/>
                    </a:moveTo>
                    <a:cubicBezTo>
                      <a:pt x="209931" y="55245"/>
                      <a:pt x="419862" y="55245"/>
                      <a:pt x="629793" y="0"/>
                    </a:cubicBezTo>
                    <a:cubicBezTo>
                      <a:pt x="596646" y="240316"/>
                      <a:pt x="480632" y="339757"/>
                      <a:pt x="314896" y="339757"/>
                    </a:cubicBezTo>
                    <a:cubicBezTo>
                      <a:pt x="149161" y="339757"/>
                      <a:pt x="33147" y="240316"/>
                      <a:pt x="0" y="0"/>
                    </a:cubicBezTo>
                    <a:close/>
                  </a:path>
                </a:pathLst>
              </a:custGeom>
              <a:solidFill>
                <a:schemeClr val="accent1"/>
              </a:solidFill>
              <a:ln>
                <a:noFill/>
              </a:ln>
            </p:spPr>
          </p:sp>
          <p:sp>
            <p:nvSpPr>
              <p:cNvPr id="14" name="Freeform 14"/>
              <p:cNvSpPr/>
              <p:nvPr/>
            </p:nvSpPr>
            <p:spPr>
              <a:xfrm>
                <a:off x="583120" y="2721292"/>
                <a:ext cx="613220" cy="339757"/>
              </a:xfrm>
              <a:custGeom>
                <a:avLst/>
                <a:gdLst/>
                <a:ahLst/>
                <a:cxnLst/>
                <a:rect l="l" t="t" r="r" b="b"/>
                <a:pathLst>
                  <a:path w="613220" h="339757">
                    <a:moveTo>
                      <a:pt x="82868" y="339757"/>
                    </a:moveTo>
                    <a:cubicBezTo>
                      <a:pt x="0" y="149162"/>
                      <a:pt x="182308" y="74581"/>
                      <a:pt x="273463" y="273463"/>
                    </a:cubicBezTo>
                    <a:cubicBezTo>
                      <a:pt x="198882" y="33147"/>
                      <a:pt x="406051" y="0"/>
                      <a:pt x="422624" y="207169"/>
                    </a:cubicBezTo>
                    <a:cubicBezTo>
                      <a:pt x="439198" y="58007"/>
                      <a:pt x="613220" y="116015"/>
                      <a:pt x="571786" y="314896"/>
                    </a:cubicBezTo>
                    <a:close/>
                  </a:path>
                </a:pathLst>
              </a:custGeom>
              <a:solidFill>
                <a:schemeClr val="accent2"/>
              </a:solidFill>
              <a:ln>
                <a:noFill/>
              </a:ln>
            </p:spPr>
          </p:sp>
          <p:sp>
            <p:nvSpPr>
              <p:cNvPr id="15" name="Freeform 15"/>
              <p:cNvSpPr/>
              <p:nvPr/>
            </p:nvSpPr>
            <p:spPr>
              <a:xfrm>
                <a:off x="972598" y="2829020"/>
                <a:ext cx="256889" cy="232029"/>
              </a:xfrm>
              <a:custGeom>
                <a:avLst/>
                <a:gdLst/>
                <a:ahLst/>
                <a:cxnLst/>
                <a:rect l="l" t="t" r="r" b="b"/>
                <a:pathLst>
                  <a:path w="256889" h="232029">
                    <a:moveTo>
                      <a:pt x="0" y="215456"/>
                    </a:moveTo>
                    <a:cubicBezTo>
                      <a:pt x="16573" y="33147"/>
                      <a:pt x="140875" y="0"/>
                      <a:pt x="190595" y="91154"/>
                    </a:cubicBezTo>
                    <a:lnTo>
                      <a:pt x="256889" y="232029"/>
                    </a:lnTo>
                    <a:close/>
                  </a:path>
                </a:pathLst>
              </a:custGeom>
              <a:solidFill>
                <a:schemeClr val="accent3"/>
              </a:solidFill>
              <a:ln>
                <a:noFill/>
              </a:ln>
            </p:spPr>
          </p:sp>
          <p:sp>
            <p:nvSpPr>
              <p:cNvPr id="16" name="Freeform 16"/>
              <p:cNvSpPr/>
              <p:nvPr/>
            </p:nvSpPr>
            <p:spPr>
              <a:xfrm>
                <a:off x="740569" y="2870454"/>
                <a:ext cx="372904" cy="190595"/>
              </a:xfrm>
              <a:custGeom>
                <a:avLst/>
                <a:gdLst/>
                <a:ahLst/>
                <a:cxnLst/>
                <a:rect l="l" t="t" r="r" b="b"/>
                <a:pathLst>
                  <a:path w="372904" h="190595">
                    <a:moveTo>
                      <a:pt x="0" y="82867"/>
                    </a:moveTo>
                    <a:lnTo>
                      <a:pt x="41434" y="190595"/>
                    </a:lnTo>
                    <a:moveTo>
                      <a:pt x="174022" y="0"/>
                    </a:moveTo>
                    <a:lnTo>
                      <a:pt x="174022" y="190595"/>
                    </a:lnTo>
                    <a:moveTo>
                      <a:pt x="372904" y="66294"/>
                    </a:moveTo>
                    <a:lnTo>
                      <a:pt x="323183" y="190595"/>
                    </a:lnTo>
                  </a:path>
                </a:pathLst>
              </a:custGeom>
              <a:noFill/>
              <a:ln w="16574" cap="rnd">
                <a:solidFill>
                  <a:srgbClr val="FFFFFF"/>
                </a:solidFill>
                <a:round/>
              </a:ln>
            </p:spPr>
          </p:sp>
          <p:sp>
            <p:nvSpPr>
              <p:cNvPr id="17" name="Freeform 17"/>
              <p:cNvSpPr/>
              <p:nvPr/>
            </p:nvSpPr>
            <p:spPr>
              <a:xfrm>
                <a:off x="632841" y="3061049"/>
                <a:ext cx="629793" cy="55245"/>
              </a:xfrm>
              <a:custGeom>
                <a:avLst/>
                <a:gdLst/>
                <a:ahLst/>
                <a:cxnLst/>
                <a:rect l="l" t="t" r="r" b="b"/>
                <a:pathLst>
                  <a:path w="629793" h="55245">
                    <a:moveTo>
                      <a:pt x="0" y="0"/>
                    </a:moveTo>
                    <a:cubicBezTo>
                      <a:pt x="209931" y="55245"/>
                      <a:pt x="419862" y="55245"/>
                      <a:pt x="629793" y="0"/>
                    </a:cubicBezTo>
                  </a:path>
                </a:pathLst>
              </a:custGeom>
              <a:noFill/>
              <a:ln w="16574" cap="rnd">
                <a:solidFill>
                  <a:srgbClr val="FFFFFF"/>
                </a:solidFill>
                <a:round/>
              </a:ln>
            </p:spPr>
          </p:sp>
          <p:sp>
            <p:nvSpPr>
              <p:cNvPr id="18" name="Freeform 18"/>
              <p:cNvSpPr/>
              <p:nvPr/>
            </p:nvSpPr>
            <p:spPr>
              <a:xfrm>
                <a:off x="757142" y="2638425"/>
                <a:ext cx="397764" cy="140875"/>
              </a:xfrm>
              <a:custGeom>
                <a:avLst/>
                <a:gdLst/>
                <a:ahLst/>
                <a:cxnLst/>
                <a:rect l="l" t="t" r="r" b="b"/>
                <a:pathLst>
                  <a:path w="397764" h="140875">
                    <a:moveTo>
                      <a:pt x="49721" y="124301"/>
                    </a:moveTo>
                    <a:cubicBezTo>
                      <a:pt x="0" y="74581"/>
                      <a:pt x="107728" y="49721"/>
                      <a:pt x="66294" y="0"/>
                    </a:cubicBezTo>
                    <a:moveTo>
                      <a:pt x="198882" y="116015"/>
                    </a:moveTo>
                    <a:cubicBezTo>
                      <a:pt x="149162" y="66294"/>
                      <a:pt x="248603" y="33147"/>
                      <a:pt x="198882" y="0"/>
                    </a:cubicBezTo>
                    <a:moveTo>
                      <a:pt x="348044" y="140875"/>
                    </a:moveTo>
                    <a:cubicBezTo>
                      <a:pt x="298323" y="91154"/>
                      <a:pt x="397764" y="49721"/>
                      <a:pt x="348044" y="16574"/>
                    </a:cubicBezTo>
                  </a:path>
                </a:pathLst>
              </a:custGeom>
              <a:noFill/>
              <a:ln w="20717" cap="rnd">
                <a:solidFill>
                  <a:schemeClr val="accent1"/>
                </a:solidFill>
                <a:round/>
              </a:ln>
            </p:spPr>
          </p:sp>
        </p:grpSp>
        <p:sp>
          <p:nvSpPr>
            <p:cNvPr id="20" name="TextBox 20"/>
            <p:cNvSpPr txBox="1"/>
            <p:nvPr/>
          </p:nvSpPr>
          <p:spPr>
            <a:xfrm>
              <a:off x="1609344" y="2635250"/>
              <a:ext cx="2106759"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36 类菜系 × 15 道</a:t>
              </a:r>
            </a:p>
          </p:txBody>
        </p:sp>
        <p:sp>
          <p:nvSpPr>
            <p:cNvPr id="21" name="TextBox 21"/>
            <p:cNvSpPr txBox="1"/>
            <p:nvPr/>
          </p:nvSpPr>
          <p:spPr>
            <a:xfrm>
              <a:off x="1605534" y="3070225"/>
              <a:ext cx="1498593" cy="528066"/>
            </a:xfrm>
            <a:prstGeom prst="rect">
              <a:avLst/>
            </a:prstGeom>
            <a:noFill/>
            <a:ln>
              <a:noFill/>
            </a:ln>
          </p:spPr>
          <p:txBody>
            <a:bodyPr wrap="none" lIns="0" tIns="0" rIns="0" bIns="0" anchor="t" anchorCtr="0">
              <a:spAutoFit/>
            </a:bodyPr>
            <a:lstStyle/>
            <a:p>
              <a:pPr algn="l"/>
              <a:r>
                <a:rPr lang="zh-CN" sz="2700" b="1" dirty="0">
                  <a:solidFill>
                    <a:schemeClr val="dk1"/>
                  </a:solidFill>
                  <a:latin typeface="Microsoft YaHei"/>
                  <a:ea typeface="Microsoft YaHei"/>
                  <a:cs typeface="Microsoft YaHei"/>
                </a:rPr>
                <a:t>540 道菜</a:t>
              </a:r>
            </a:p>
          </p:txBody>
        </p:sp>
        <p:sp>
          <p:nvSpPr>
            <p:cNvPr id="22" name="TextBox 22"/>
            <p:cNvSpPr txBox="1"/>
            <p:nvPr/>
          </p:nvSpPr>
          <p:spPr>
            <a:xfrm>
              <a:off x="521208" y="3632200"/>
              <a:ext cx="183367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食材 ＋ 烹饪</a:t>
              </a:r>
            </a:p>
          </p:txBody>
        </p:sp>
        <p:grpSp>
          <p:nvGrpSpPr>
            <p:cNvPr id="29" name="Group 29"/>
            <p:cNvGrpSpPr/>
            <p:nvPr/>
          </p:nvGrpSpPr>
          <p:grpSpPr>
            <a:xfrm>
              <a:off x="4504944" y="2754440"/>
              <a:ext cx="696087" cy="680751"/>
              <a:chOff x="4504944" y="2754440"/>
              <a:chExt cx="696087" cy="680751"/>
            </a:xfrm>
          </p:grpSpPr>
          <p:sp>
            <p:nvSpPr>
              <p:cNvPr id="23" name="Rectangle 23"/>
              <p:cNvSpPr/>
              <p:nvPr/>
            </p:nvSpPr>
            <p:spPr>
              <a:xfrm>
                <a:off x="4571238" y="2961608"/>
                <a:ext cx="563499" cy="455771"/>
              </a:xfrm>
              <a:prstGeom prst="roundRect">
                <a:avLst>
                  <a:gd name="adj" fmla="val 3636"/>
                </a:avLst>
              </a:prstGeom>
              <a:solidFill>
                <a:schemeClr val="lt2"/>
              </a:solidFill>
              <a:ln w="24860">
                <a:solidFill>
                  <a:schemeClr val="accent1"/>
                </a:solidFill>
              </a:ln>
            </p:spPr>
          </p:sp>
          <p:sp>
            <p:nvSpPr>
              <p:cNvPr id="24" name="Freeform 24"/>
              <p:cNvSpPr/>
              <p:nvPr/>
            </p:nvSpPr>
            <p:spPr>
              <a:xfrm>
                <a:off x="4504944" y="2754440"/>
                <a:ext cx="696087" cy="215456"/>
              </a:xfrm>
              <a:custGeom>
                <a:avLst/>
                <a:gdLst/>
                <a:ahLst/>
                <a:cxnLst/>
                <a:rect l="l" t="t" r="r" b="b"/>
                <a:pathLst>
                  <a:path w="696087" h="215456">
                    <a:moveTo>
                      <a:pt x="0" y="215456"/>
                    </a:moveTo>
                    <a:lnTo>
                      <a:pt x="82868" y="0"/>
                    </a:lnTo>
                    <a:lnTo>
                      <a:pt x="613220" y="0"/>
                    </a:lnTo>
                    <a:lnTo>
                      <a:pt x="696087" y="215456"/>
                    </a:lnTo>
                    <a:close/>
                  </a:path>
                </a:pathLst>
              </a:custGeom>
              <a:solidFill>
                <a:schemeClr val="accent2"/>
              </a:solidFill>
              <a:ln w="16574" cap="rnd">
                <a:solidFill>
                  <a:schemeClr val="accent1"/>
                </a:solidFill>
                <a:round/>
              </a:ln>
            </p:spPr>
          </p:sp>
          <p:sp>
            <p:nvSpPr>
              <p:cNvPr id="25" name="Freeform 25"/>
              <p:cNvSpPr/>
              <p:nvPr/>
            </p:nvSpPr>
            <p:spPr>
              <a:xfrm>
                <a:off x="4612672" y="2762726"/>
                <a:ext cx="480632" cy="207169"/>
              </a:xfrm>
              <a:custGeom>
                <a:avLst/>
                <a:gdLst/>
                <a:ahLst/>
                <a:cxnLst/>
                <a:rect l="l" t="t" r="r" b="b"/>
                <a:pathLst>
                  <a:path w="480632" h="207169">
                    <a:moveTo>
                      <a:pt x="33147" y="0"/>
                    </a:moveTo>
                    <a:lnTo>
                      <a:pt x="0" y="207169"/>
                    </a:lnTo>
                    <a:moveTo>
                      <a:pt x="174022" y="0"/>
                    </a:moveTo>
                    <a:lnTo>
                      <a:pt x="157448" y="207169"/>
                    </a:lnTo>
                    <a:moveTo>
                      <a:pt x="306610" y="0"/>
                    </a:moveTo>
                    <a:lnTo>
                      <a:pt x="323183" y="207169"/>
                    </a:lnTo>
                    <a:moveTo>
                      <a:pt x="447485" y="0"/>
                    </a:moveTo>
                    <a:lnTo>
                      <a:pt x="480632" y="207169"/>
                    </a:lnTo>
                  </a:path>
                </a:pathLst>
              </a:custGeom>
              <a:noFill/>
              <a:ln w="33147" cap="rnd">
                <a:solidFill>
                  <a:srgbClr val="FFFFFF"/>
                </a:solidFill>
                <a:round/>
              </a:ln>
            </p:spPr>
          </p:sp>
          <p:sp>
            <p:nvSpPr>
              <p:cNvPr id="26" name="Rectangle 26"/>
              <p:cNvSpPr/>
              <p:nvPr/>
            </p:nvSpPr>
            <p:spPr>
              <a:xfrm>
                <a:off x="4670679" y="3127343"/>
                <a:ext cx="165735" cy="290036"/>
              </a:xfrm>
              <a:prstGeom prst="roundRect">
                <a:avLst>
                  <a:gd name="adj" fmla="val 10000"/>
                </a:avLst>
              </a:prstGeom>
              <a:solidFill>
                <a:schemeClr val="accent1"/>
              </a:solidFill>
              <a:ln>
                <a:noFill/>
              </a:ln>
            </p:spPr>
          </p:sp>
          <p:sp>
            <p:nvSpPr>
              <p:cNvPr id="27" name="Rectangle 27"/>
              <p:cNvSpPr/>
              <p:nvPr/>
            </p:nvSpPr>
            <p:spPr>
              <a:xfrm>
                <a:off x="4935855" y="3119057"/>
                <a:ext cx="124301" cy="140875"/>
              </a:xfrm>
              <a:prstGeom prst="roundRect">
                <a:avLst>
                  <a:gd name="adj" fmla="val 13333"/>
                </a:avLst>
              </a:prstGeom>
              <a:solidFill>
                <a:schemeClr val="accent2"/>
              </a:solidFill>
              <a:ln>
                <a:noFill/>
              </a:ln>
            </p:spPr>
          </p:sp>
          <p:sp>
            <p:nvSpPr>
              <p:cNvPr id="28" name="Freeform 28"/>
              <p:cNvSpPr/>
              <p:nvPr/>
            </p:nvSpPr>
            <p:spPr>
              <a:xfrm>
                <a:off x="4521518" y="3425666"/>
                <a:ext cx="662940" cy="9525"/>
              </a:xfrm>
              <a:custGeom>
                <a:avLst/>
                <a:gdLst/>
                <a:ahLst/>
                <a:cxnLst/>
                <a:rect l="l" t="t" r="r" b="b"/>
                <a:pathLst>
                  <a:path w="662940" h="9525">
                    <a:moveTo>
                      <a:pt x="0" y="0"/>
                    </a:moveTo>
                    <a:lnTo>
                      <a:pt x="662940" y="0"/>
                    </a:lnTo>
                  </a:path>
                </a:pathLst>
              </a:custGeom>
              <a:noFill/>
              <a:ln w="33147" cap="rnd">
                <a:solidFill>
                  <a:schemeClr val="accent1"/>
                </a:solidFill>
                <a:round/>
              </a:ln>
            </p:spPr>
          </p:sp>
        </p:grpSp>
        <p:sp>
          <p:nvSpPr>
            <p:cNvPr id="30" name="TextBox 30"/>
            <p:cNvSpPr txBox="1"/>
            <p:nvPr/>
          </p:nvSpPr>
          <p:spPr>
            <a:xfrm>
              <a:off x="5455158" y="2584450"/>
              <a:ext cx="144597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34 座城市</a:t>
              </a:r>
            </a:p>
          </p:txBody>
        </p:sp>
        <p:sp>
          <p:nvSpPr>
            <p:cNvPr id="31" name="TextBox 31"/>
            <p:cNvSpPr txBox="1"/>
            <p:nvPr/>
          </p:nvSpPr>
          <p:spPr>
            <a:xfrm>
              <a:off x="5456682" y="3117850"/>
              <a:ext cx="2101316"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icrosoft YaHei"/>
                  <a:ea typeface="Microsoft YaHei"/>
                  <a:cs typeface="Microsoft YaHei"/>
                </a:rPr>
                <a:t>800,488 家餐厅</a:t>
              </a:r>
            </a:p>
          </p:txBody>
        </p:sp>
        <p:sp>
          <p:nvSpPr>
            <p:cNvPr id="32" name="TextBox 32"/>
            <p:cNvSpPr txBox="1"/>
            <p:nvPr/>
          </p:nvSpPr>
          <p:spPr>
            <a:xfrm>
              <a:off x="4426458" y="3632200"/>
              <a:ext cx="265755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强度 × 估计消费量</a:t>
              </a:r>
            </a:p>
          </p:txBody>
        </p:sp>
        <p:grpSp>
          <p:nvGrpSpPr>
            <p:cNvPr id="41" name="Group 41"/>
            <p:cNvGrpSpPr/>
            <p:nvPr/>
          </p:nvGrpSpPr>
          <p:grpSpPr>
            <a:xfrm>
              <a:off x="8360474" y="2704719"/>
              <a:ext cx="795528" cy="722185"/>
              <a:chOff x="8360474" y="2704719"/>
              <a:chExt cx="795528" cy="722185"/>
            </a:xfrm>
          </p:grpSpPr>
          <p:sp>
            <p:nvSpPr>
              <p:cNvPr id="33" name="Freeform 33"/>
              <p:cNvSpPr/>
              <p:nvPr/>
            </p:nvSpPr>
            <p:spPr>
              <a:xfrm>
                <a:off x="8368760" y="2862167"/>
                <a:ext cx="389477" cy="182308"/>
              </a:xfrm>
              <a:custGeom>
                <a:avLst/>
                <a:gdLst/>
                <a:ahLst/>
                <a:cxnLst/>
                <a:rect l="l" t="t" r="r" b="b"/>
                <a:pathLst>
                  <a:path w="389477" h="182308">
                    <a:moveTo>
                      <a:pt x="0" y="182308"/>
                    </a:moveTo>
                    <a:lnTo>
                      <a:pt x="198882" y="0"/>
                    </a:lnTo>
                    <a:lnTo>
                      <a:pt x="389477" y="182308"/>
                    </a:lnTo>
                    <a:close/>
                  </a:path>
                </a:pathLst>
              </a:custGeom>
              <a:solidFill>
                <a:schemeClr val="accent2"/>
              </a:solidFill>
              <a:ln>
                <a:noFill/>
              </a:ln>
            </p:spPr>
          </p:sp>
          <p:sp>
            <p:nvSpPr>
              <p:cNvPr id="34" name="Rectangle 34"/>
              <p:cNvSpPr/>
              <p:nvPr/>
            </p:nvSpPr>
            <p:spPr>
              <a:xfrm>
                <a:off x="8410194" y="3044476"/>
                <a:ext cx="306610" cy="331470"/>
              </a:xfrm>
              <a:prstGeom prst="roundRect">
                <a:avLst>
                  <a:gd name="adj" fmla="val 5405"/>
                </a:avLst>
              </a:prstGeom>
              <a:solidFill>
                <a:schemeClr val="lt2"/>
              </a:solidFill>
              <a:ln w="16574">
                <a:solidFill>
                  <a:schemeClr val="accent1"/>
                </a:solidFill>
              </a:ln>
            </p:spPr>
          </p:sp>
          <p:sp>
            <p:nvSpPr>
              <p:cNvPr id="35" name="Freeform 35"/>
              <p:cNvSpPr/>
              <p:nvPr/>
            </p:nvSpPr>
            <p:spPr>
              <a:xfrm>
                <a:off x="8708517" y="2704719"/>
                <a:ext cx="422624" cy="198882"/>
              </a:xfrm>
              <a:custGeom>
                <a:avLst/>
                <a:gdLst/>
                <a:ahLst/>
                <a:cxnLst/>
                <a:rect l="l" t="t" r="r" b="b"/>
                <a:pathLst>
                  <a:path w="422624" h="198882">
                    <a:moveTo>
                      <a:pt x="0" y="198882"/>
                    </a:moveTo>
                    <a:lnTo>
                      <a:pt x="207169" y="0"/>
                    </a:lnTo>
                    <a:lnTo>
                      <a:pt x="422624" y="198882"/>
                    </a:lnTo>
                    <a:close/>
                  </a:path>
                </a:pathLst>
              </a:custGeom>
              <a:solidFill>
                <a:schemeClr val="accent1"/>
              </a:solidFill>
              <a:ln>
                <a:noFill/>
              </a:ln>
            </p:spPr>
          </p:sp>
          <p:sp>
            <p:nvSpPr>
              <p:cNvPr id="36" name="Rectangle 36"/>
              <p:cNvSpPr/>
              <p:nvPr/>
            </p:nvSpPr>
            <p:spPr>
              <a:xfrm>
                <a:off x="8749951" y="2903601"/>
                <a:ext cx="339757" cy="472345"/>
              </a:xfrm>
              <a:prstGeom prst="roundRect">
                <a:avLst>
                  <a:gd name="adj" fmla="val 4878"/>
                </a:avLst>
              </a:prstGeom>
              <a:solidFill>
                <a:schemeClr val="lt2"/>
              </a:solidFill>
              <a:ln w="16574">
                <a:solidFill>
                  <a:schemeClr val="accent1"/>
                </a:solidFill>
              </a:ln>
            </p:spPr>
          </p:sp>
          <p:sp>
            <p:nvSpPr>
              <p:cNvPr id="37" name="Rectangle 37"/>
              <p:cNvSpPr/>
              <p:nvPr/>
            </p:nvSpPr>
            <p:spPr>
              <a:xfrm>
                <a:off x="8501348" y="3185350"/>
                <a:ext cx="107728" cy="190595"/>
              </a:xfrm>
              <a:prstGeom prst="roundRect">
                <a:avLst>
                  <a:gd name="adj" fmla="val 15385"/>
                </a:avLst>
              </a:prstGeom>
              <a:solidFill>
                <a:schemeClr val="accent2"/>
              </a:solidFill>
              <a:ln>
                <a:noFill/>
              </a:ln>
            </p:spPr>
          </p:sp>
          <p:sp>
            <p:nvSpPr>
              <p:cNvPr id="38" name="Rectangle 38"/>
              <p:cNvSpPr/>
              <p:nvPr/>
            </p:nvSpPr>
            <p:spPr>
              <a:xfrm>
                <a:off x="8849392" y="3152204"/>
                <a:ext cx="124301" cy="223742"/>
              </a:xfrm>
              <a:prstGeom prst="roundRect">
                <a:avLst>
                  <a:gd name="adj" fmla="val 13333"/>
                </a:avLst>
              </a:prstGeom>
              <a:solidFill>
                <a:schemeClr val="accent2"/>
              </a:solidFill>
              <a:ln>
                <a:noFill/>
              </a:ln>
            </p:spPr>
          </p:sp>
          <p:sp>
            <p:nvSpPr>
              <p:cNvPr id="39" name="Rectangle 39"/>
              <p:cNvSpPr/>
              <p:nvPr/>
            </p:nvSpPr>
            <p:spPr>
              <a:xfrm>
                <a:off x="8841105" y="2969895"/>
                <a:ext cx="99441" cy="99441"/>
              </a:xfrm>
              <a:prstGeom prst="roundRect">
                <a:avLst>
                  <a:gd name="adj" fmla="val 16667"/>
                </a:avLst>
              </a:prstGeom>
              <a:solidFill>
                <a:schemeClr val="accent2"/>
              </a:solidFill>
              <a:ln>
                <a:noFill/>
              </a:ln>
            </p:spPr>
          </p:sp>
          <p:sp>
            <p:nvSpPr>
              <p:cNvPr id="40" name="Freeform 40"/>
              <p:cNvSpPr/>
              <p:nvPr/>
            </p:nvSpPr>
            <p:spPr>
              <a:xfrm>
                <a:off x="8360474" y="3417379"/>
                <a:ext cx="795528" cy="9525"/>
              </a:xfrm>
              <a:custGeom>
                <a:avLst/>
                <a:gdLst/>
                <a:ahLst/>
                <a:cxnLst/>
                <a:rect l="l" t="t" r="r" b="b"/>
                <a:pathLst>
                  <a:path w="795528" h="9525">
                    <a:moveTo>
                      <a:pt x="0" y="0"/>
                    </a:moveTo>
                    <a:lnTo>
                      <a:pt x="795528" y="0"/>
                    </a:lnTo>
                  </a:path>
                </a:pathLst>
              </a:custGeom>
              <a:noFill/>
              <a:ln w="33147" cap="rnd">
                <a:solidFill>
                  <a:schemeClr val="accent1"/>
                </a:solidFill>
                <a:round/>
              </a:ln>
            </p:spPr>
          </p:sp>
        </p:grpSp>
        <p:sp>
          <p:nvSpPr>
            <p:cNvPr id="42" name="TextBox 42"/>
            <p:cNvSpPr txBox="1"/>
            <p:nvPr/>
          </p:nvSpPr>
          <p:spPr>
            <a:xfrm>
              <a:off x="9360408" y="2584450"/>
              <a:ext cx="131673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城乡消费</a:t>
              </a:r>
            </a:p>
          </p:txBody>
        </p:sp>
        <p:sp>
          <p:nvSpPr>
            <p:cNvPr id="43" name="TextBox 43"/>
            <p:cNvSpPr txBox="1"/>
            <p:nvPr/>
          </p:nvSpPr>
          <p:spPr>
            <a:xfrm>
              <a:off x="9362694" y="3082925"/>
              <a:ext cx="1371733"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人口 · 谷物</a:t>
              </a:r>
            </a:p>
          </p:txBody>
        </p:sp>
        <p:sp>
          <p:nvSpPr>
            <p:cNvPr id="44" name="TextBox 44"/>
            <p:cNvSpPr txBox="1"/>
            <p:nvPr/>
          </p:nvSpPr>
          <p:spPr>
            <a:xfrm>
              <a:off x="8330184" y="3594100"/>
              <a:ext cx="1481328" cy="528066"/>
            </a:xfrm>
            <a:prstGeom prst="rect">
              <a:avLst/>
            </a:prstGeom>
            <a:noFill/>
            <a:ln>
              <a:noFill/>
            </a:ln>
          </p:spPr>
          <p:txBody>
            <a:bodyPr wrap="none" lIns="0" tIns="0" rIns="0" bIns="0" anchor="t" anchorCtr="0">
              <a:spAutoFit/>
            </a:bodyPr>
            <a:lstStyle/>
            <a:p>
              <a:pPr algn="l"/>
              <a:r>
                <a:rPr lang="zh-CN" sz="2700" b="1" dirty="0">
                  <a:solidFill>
                    <a:schemeClr val="dk1"/>
                  </a:solidFill>
                  <a:latin typeface="Microsoft YaHei"/>
                  <a:ea typeface="Microsoft YaHei"/>
                  <a:cs typeface="Microsoft YaHei"/>
                </a:rPr>
                <a:t>食物排放</a:t>
              </a:r>
            </a:p>
          </p:txBody>
        </p:sp>
        <p:sp>
          <p:nvSpPr>
            <p:cNvPr id="45" name="Line 45"/>
            <p:cNvSpPr/>
            <p:nvPr/>
          </p:nvSpPr>
          <p:spPr>
            <a:xfrm>
              <a:off x="3829050" y="3314700"/>
              <a:ext cx="419100" cy="1"/>
            </a:xfrm>
            <a:prstGeom prst="line">
              <a:avLst/>
            </a:prstGeom>
            <a:noFill/>
            <a:ln w="19050">
              <a:solidFill>
                <a:schemeClr val="accent2"/>
              </a:solidFill>
              <a:tailEnd type="triangle" w="lg" len="lg"/>
            </a:ln>
          </p:spPr>
        </p:sp>
        <p:sp>
          <p:nvSpPr>
            <p:cNvPr id="46" name="Line 46"/>
            <p:cNvSpPr/>
            <p:nvPr/>
          </p:nvSpPr>
          <p:spPr>
            <a:xfrm>
              <a:off x="7734300" y="3314700"/>
              <a:ext cx="419100" cy="1"/>
            </a:xfrm>
            <a:prstGeom prst="line">
              <a:avLst/>
            </a:prstGeom>
            <a:noFill/>
            <a:ln w="19050">
              <a:solidFill>
                <a:schemeClr val="accent2"/>
              </a:solidFill>
              <a:tailEnd type="triangle" w="lg" len="lg"/>
            </a:ln>
          </p:spPr>
        </p:sp>
        <p:sp>
          <p:nvSpPr>
            <p:cNvPr id="47" name="Line 47"/>
            <p:cNvSpPr/>
            <p:nvPr/>
          </p:nvSpPr>
          <p:spPr>
            <a:xfrm>
              <a:off x="10029039" y="3859276"/>
              <a:ext cx="9525" cy="561975"/>
            </a:xfrm>
            <a:custGeom>
              <a:avLst/>
              <a:gdLst/>
              <a:ahLst/>
              <a:cxnLst/>
              <a:rect l="l" t="t" r="r" b="b"/>
              <a:pathLst>
                <a:path w="9525" h="561975">
                  <a:moveTo>
                    <a:pt x="0" y="0"/>
                  </a:moveTo>
                  <a:lnTo>
                    <a:pt x="0" y="561975"/>
                  </a:lnTo>
                </a:path>
              </a:pathLst>
            </a:custGeom>
            <a:noFill/>
            <a:ln w="19050">
              <a:solidFill>
                <a:schemeClr val="accent2"/>
              </a:solidFill>
            </a:ln>
          </p:spPr>
        </p:sp>
        <p:sp>
          <p:nvSpPr>
            <p:cNvPr id="48" name="TextBox 48"/>
            <p:cNvSpPr txBox="1"/>
            <p:nvPr/>
          </p:nvSpPr>
          <p:spPr>
            <a:xfrm>
              <a:off x="5855208" y="4489450"/>
              <a:ext cx="163982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icrosoft YaHei"/>
                  <a:ea typeface="Microsoft YaHei"/>
                  <a:cs typeface="Microsoft YaHei"/>
                </a:rPr>
                <a:t>非食物排放</a:t>
              </a:r>
            </a:p>
          </p:txBody>
        </p:sp>
        <p:sp>
          <p:nvSpPr>
            <p:cNvPr id="49" name="Line 49"/>
            <p:cNvSpPr/>
            <p:nvPr/>
          </p:nvSpPr>
          <p:spPr>
            <a:xfrm>
              <a:off x="7781925" y="4676775"/>
              <a:ext cx="2000250" cy="1"/>
            </a:xfrm>
            <a:prstGeom prst="line">
              <a:avLst/>
            </a:prstGeom>
            <a:noFill/>
            <a:ln w="19050">
              <a:solidFill>
                <a:schemeClr val="accent2"/>
              </a:solidFill>
              <a:tailEnd type="triangle" w="lg" len="lg"/>
            </a:ln>
          </p:spPr>
        </p:sp>
        <p:sp>
          <p:nvSpPr>
            <p:cNvPr id="50" name="TextBox 50"/>
            <p:cNvSpPr txBox="1"/>
            <p:nvPr/>
          </p:nvSpPr>
          <p:spPr>
            <a:xfrm>
              <a:off x="9805797" y="4470400"/>
              <a:ext cx="390906" cy="528066"/>
            </a:xfrm>
            <a:prstGeom prst="rect">
              <a:avLst/>
            </a:prstGeom>
            <a:noFill/>
            <a:ln>
              <a:noFill/>
            </a:ln>
          </p:spPr>
          <p:txBody>
            <a:bodyPr wrap="none" lIns="0" tIns="0" rIns="0" bIns="0" anchor="t" anchorCtr="0">
              <a:spAutoFit/>
            </a:bodyPr>
            <a:lstStyle/>
            <a:p>
              <a:pPr algn="ctr"/>
              <a:r>
                <a:rPr lang="zh-CN" sz="2700" b="1" dirty="0">
                  <a:solidFill>
                    <a:schemeClr val="accent2"/>
                  </a:solidFill>
                  <a:latin typeface="Microsoft YaHei"/>
                  <a:ea typeface="Microsoft YaHei"/>
                  <a:cs typeface="Microsoft YaHei"/>
                </a:rPr>
                <a:t>＋</a:t>
              </a:r>
            </a:p>
          </p:txBody>
        </p:sp>
        <p:sp>
          <p:nvSpPr>
            <p:cNvPr id="51" name="Line 51"/>
            <p:cNvSpPr/>
            <p:nvPr/>
          </p:nvSpPr>
          <p:spPr>
            <a:xfrm>
              <a:off x="10001250" y="4933950"/>
              <a:ext cx="1" cy="352425"/>
            </a:xfrm>
            <a:prstGeom prst="line">
              <a:avLst/>
            </a:prstGeom>
            <a:noFill/>
            <a:ln w="19050">
              <a:solidFill>
                <a:schemeClr val="accent2"/>
              </a:solidFill>
              <a:tailEnd type="triangle" w="lg" len="lg"/>
            </a:ln>
          </p:spPr>
        </p:sp>
        <p:sp>
          <p:nvSpPr>
            <p:cNvPr id="52" name="TextBox 52"/>
            <p:cNvSpPr txBox="1"/>
            <p:nvPr/>
          </p:nvSpPr>
          <p:spPr>
            <a:xfrm>
              <a:off x="7948803" y="4997450"/>
              <a:ext cx="1127379"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icrosoft YaHei"/>
                  <a:ea typeface="Microsoft YaHei"/>
                  <a:cs typeface="Microsoft YaHei"/>
                </a:rPr>
                <a:t>相加后对照</a:t>
              </a:r>
            </a:p>
          </p:txBody>
        </p:sp>
        <p:sp>
          <p:nvSpPr>
            <p:cNvPr id="53" name="TextBox 53"/>
            <p:cNvSpPr txBox="1"/>
            <p:nvPr/>
          </p:nvSpPr>
          <p:spPr>
            <a:xfrm>
              <a:off x="8617519" y="5489575"/>
              <a:ext cx="2767462"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1.5°C / 2°C 预算</a:t>
              </a:r>
            </a:p>
          </p:txBody>
        </p:sp>
        <p:sp>
          <p:nvSpPr>
            <p:cNvPr id="54" name="TextBox 54"/>
            <p:cNvSpPr txBox="1"/>
            <p:nvPr/>
          </p:nvSpPr>
          <p:spPr>
            <a:xfrm>
              <a:off x="523494" y="5540375"/>
              <a:ext cx="4298709"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微观菜品 → 城市消费 → 全国气候比较</a:t>
              </a:r>
            </a:p>
          </p:txBody>
        </p:sp>
      </p:grpSp>
      <p:grpSp>
        <p:nvGrpSpPr>
          <p:cNvPr id="58" name="source-and-page"/>
          <p:cNvGrpSpPr/>
          <p:nvPr/>
        </p:nvGrpSpPr>
        <p:grpSpPr>
          <a:xfrm>
            <a:off x="526542" y="6305550"/>
            <a:ext cx="11132058" cy="346583"/>
            <a:chOff x="526542" y="6305550"/>
            <a:chExt cx="11132058" cy="346583"/>
          </a:xfrm>
        </p:grpSpPr>
        <p:sp>
          <p:nvSpPr>
            <p:cNvPr id="56" name="Line 56"/>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7" name="TextBox 57"/>
            <p:cNvSpPr txBox="1"/>
            <p:nvPr/>
          </p:nvSpPr>
          <p:spPr>
            <a:xfrm>
              <a:off x="526542" y="6388100"/>
              <a:ext cx="53915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来源：改编自 Yang et al. (2024), Fig.1；Methods pp.373–375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01 / 问题与方法</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04 / 18</a:t>
              </a:r>
            </a:p>
          </p:txBody>
        </p:sp>
      </p:grpSp>
      <p:grpSp>
        <p:nvGrpSpPr>
          <p:cNvPr id="6" name="slide-title"/>
          <p:cNvGrpSpPr/>
          <p:nvPr/>
        </p:nvGrpSpPr>
        <p:grpSpPr>
          <a:xfrm>
            <a:off x="515112" y="622300"/>
            <a:ext cx="6821424" cy="704088"/>
            <a:chOff x="515112" y="622300"/>
            <a:chExt cx="6821424" cy="704088"/>
          </a:xfrm>
        </p:grpSpPr>
        <p:sp>
          <p:nvSpPr>
            <p:cNvPr id="5" name="TextBox 5"/>
            <p:cNvSpPr txBox="1"/>
            <p:nvPr/>
          </p:nvSpPr>
          <p:spPr>
            <a:xfrm>
              <a:off x="515112" y="622300"/>
              <a:ext cx="6821424"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菜品排放＝食材生命周期＋烹饪</a:t>
              </a:r>
            </a:p>
          </p:txBody>
        </p:sp>
      </p:grpSp>
      <p:grpSp>
        <p:nvGrpSpPr>
          <p:cNvPr id="66" name="p04-main-evidence"/>
          <p:cNvGrpSpPr/>
          <p:nvPr/>
        </p:nvGrpSpPr>
        <p:grpSpPr>
          <a:xfrm>
            <a:off x="519684" y="1527175"/>
            <a:ext cx="10555509" cy="4692650"/>
            <a:chOff x="519684" y="1527175"/>
            <a:chExt cx="10555509" cy="4692650"/>
          </a:xfrm>
        </p:grpSpPr>
        <p:sp>
          <p:nvSpPr>
            <p:cNvPr id="7" name="TextBox 7"/>
            <p:cNvSpPr txBox="1"/>
            <p:nvPr/>
          </p:nvSpPr>
          <p:spPr>
            <a:xfrm>
              <a:off x="519684" y="1527175"/>
              <a:ext cx="2208276"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食材生命周期</a:t>
              </a:r>
            </a:p>
          </p:txBody>
        </p:sp>
        <p:sp>
          <p:nvSpPr>
            <p:cNvPr id="8" name="TextBox 8"/>
            <p:cNvSpPr txBox="1"/>
            <p:nvPr/>
          </p:nvSpPr>
          <p:spPr>
            <a:xfrm>
              <a:off x="6539484" y="1527175"/>
              <a:ext cx="75438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烹饪</a:t>
              </a:r>
            </a:p>
          </p:txBody>
        </p:sp>
        <p:sp>
          <p:nvSpPr>
            <p:cNvPr id="9" name="Ellipse 9"/>
            <p:cNvSpPr/>
            <p:nvPr/>
          </p:nvSpPr>
          <p:spPr>
            <a:xfrm>
              <a:off x="552450" y="2019300"/>
              <a:ext cx="1428750" cy="1428750"/>
            </a:xfrm>
            <a:prstGeom prst="ellipse">
              <a:avLst/>
            </a:prstGeom>
            <a:solidFill>
              <a:schemeClr val="accent2">
                <a:alpha val="8000"/>
              </a:schemeClr>
            </a:solidFill>
            <a:ln>
              <a:noFill/>
            </a:ln>
          </p:spPr>
        </p:sp>
        <p:grpSp>
          <p:nvGrpSpPr>
            <p:cNvPr id="16" name="Group 16"/>
            <p:cNvGrpSpPr/>
            <p:nvPr/>
          </p:nvGrpSpPr>
          <p:grpSpPr>
            <a:xfrm>
              <a:off x="830961" y="2219325"/>
              <a:ext cx="812292" cy="911352"/>
              <a:chOff x="830961" y="2219325"/>
              <a:chExt cx="812292" cy="911352"/>
            </a:xfrm>
          </p:grpSpPr>
          <p:sp>
            <p:nvSpPr>
              <p:cNvPr id="10" name="Freeform 10"/>
              <p:cNvSpPr/>
              <p:nvPr/>
            </p:nvSpPr>
            <p:spPr>
              <a:xfrm>
                <a:off x="890397" y="2724531"/>
                <a:ext cx="752856" cy="406146"/>
              </a:xfrm>
              <a:custGeom>
                <a:avLst/>
                <a:gdLst/>
                <a:ahLst/>
                <a:cxnLst/>
                <a:rect l="l" t="t" r="r" b="b"/>
                <a:pathLst>
                  <a:path w="752856" h="406146">
                    <a:moveTo>
                      <a:pt x="0" y="0"/>
                    </a:moveTo>
                    <a:cubicBezTo>
                      <a:pt x="250952" y="66040"/>
                      <a:pt x="501904" y="66040"/>
                      <a:pt x="752856" y="0"/>
                    </a:cubicBezTo>
                    <a:cubicBezTo>
                      <a:pt x="713232" y="287274"/>
                      <a:pt x="574548" y="406146"/>
                      <a:pt x="376428" y="406146"/>
                    </a:cubicBezTo>
                    <a:cubicBezTo>
                      <a:pt x="178308" y="406146"/>
                      <a:pt x="39624" y="287274"/>
                      <a:pt x="0" y="0"/>
                    </a:cubicBezTo>
                    <a:close/>
                  </a:path>
                </a:pathLst>
              </a:custGeom>
              <a:solidFill>
                <a:schemeClr val="accent1"/>
              </a:solidFill>
              <a:ln>
                <a:noFill/>
              </a:ln>
            </p:spPr>
          </p:sp>
          <p:sp>
            <p:nvSpPr>
              <p:cNvPr id="11" name="Freeform 11"/>
              <p:cNvSpPr/>
              <p:nvPr/>
            </p:nvSpPr>
            <p:spPr>
              <a:xfrm>
                <a:off x="830961" y="2318385"/>
                <a:ext cx="733044" cy="406146"/>
              </a:xfrm>
              <a:custGeom>
                <a:avLst/>
                <a:gdLst/>
                <a:ahLst/>
                <a:cxnLst/>
                <a:rect l="l" t="t" r="r" b="b"/>
                <a:pathLst>
                  <a:path w="733044" h="406146">
                    <a:moveTo>
                      <a:pt x="99060" y="406146"/>
                    </a:moveTo>
                    <a:cubicBezTo>
                      <a:pt x="0" y="178308"/>
                      <a:pt x="217932" y="89154"/>
                      <a:pt x="326898" y="326898"/>
                    </a:cubicBezTo>
                    <a:cubicBezTo>
                      <a:pt x="237744" y="39624"/>
                      <a:pt x="485394" y="0"/>
                      <a:pt x="505206" y="247650"/>
                    </a:cubicBezTo>
                    <a:cubicBezTo>
                      <a:pt x="525018" y="69342"/>
                      <a:pt x="733044" y="138684"/>
                      <a:pt x="683514" y="376428"/>
                    </a:cubicBezTo>
                    <a:close/>
                  </a:path>
                </a:pathLst>
              </a:custGeom>
              <a:solidFill>
                <a:schemeClr val="accent2"/>
              </a:solidFill>
              <a:ln>
                <a:noFill/>
              </a:ln>
            </p:spPr>
          </p:sp>
          <p:sp>
            <p:nvSpPr>
              <p:cNvPr id="12" name="Freeform 12"/>
              <p:cNvSpPr/>
              <p:nvPr/>
            </p:nvSpPr>
            <p:spPr>
              <a:xfrm>
                <a:off x="1296543" y="2447163"/>
                <a:ext cx="307086" cy="277368"/>
              </a:xfrm>
              <a:custGeom>
                <a:avLst/>
                <a:gdLst/>
                <a:ahLst/>
                <a:cxnLst/>
                <a:rect l="l" t="t" r="r" b="b"/>
                <a:pathLst>
                  <a:path w="307086" h="277368">
                    <a:moveTo>
                      <a:pt x="0" y="257556"/>
                    </a:moveTo>
                    <a:cubicBezTo>
                      <a:pt x="19812" y="39624"/>
                      <a:pt x="168402" y="0"/>
                      <a:pt x="227838" y="108966"/>
                    </a:cubicBezTo>
                    <a:lnTo>
                      <a:pt x="307086" y="277368"/>
                    </a:lnTo>
                    <a:close/>
                  </a:path>
                </a:pathLst>
              </a:custGeom>
              <a:solidFill>
                <a:schemeClr val="accent3"/>
              </a:solidFill>
              <a:ln>
                <a:noFill/>
              </a:ln>
            </p:spPr>
          </p:sp>
          <p:sp>
            <p:nvSpPr>
              <p:cNvPr id="13" name="Freeform 13"/>
              <p:cNvSpPr/>
              <p:nvPr/>
            </p:nvSpPr>
            <p:spPr>
              <a:xfrm>
                <a:off x="1019175" y="2496693"/>
                <a:ext cx="445770" cy="227838"/>
              </a:xfrm>
              <a:custGeom>
                <a:avLst/>
                <a:gdLst/>
                <a:ahLst/>
                <a:cxnLst/>
                <a:rect l="l" t="t" r="r" b="b"/>
                <a:pathLst>
                  <a:path w="445770" h="227838">
                    <a:moveTo>
                      <a:pt x="0" y="99060"/>
                    </a:moveTo>
                    <a:lnTo>
                      <a:pt x="49530" y="227838"/>
                    </a:lnTo>
                    <a:moveTo>
                      <a:pt x="208026" y="0"/>
                    </a:moveTo>
                    <a:lnTo>
                      <a:pt x="208026" y="227838"/>
                    </a:lnTo>
                    <a:moveTo>
                      <a:pt x="445770" y="79248"/>
                    </a:moveTo>
                    <a:lnTo>
                      <a:pt x="386334" y="227838"/>
                    </a:lnTo>
                  </a:path>
                </a:pathLst>
              </a:custGeom>
              <a:noFill/>
              <a:ln w="19812" cap="rnd">
                <a:solidFill>
                  <a:srgbClr val="FFFFFF"/>
                </a:solidFill>
                <a:round/>
              </a:ln>
            </p:spPr>
          </p:sp>
          <p:sp>
            <p:nvSpPr>
              <p:cNvPr id="14" name="Freeform 14"/>
              <p:cNvSpPr/>
              <p:nvPr/>
            </p:nvSpPr>
            <p:spPr>
              <a:xfrm>
                <a:off x="890397" y="2724531"/>
                <a:ext cx="752856" cy="66040"/>
              </a:xfrm>
              <a:custGeom>
                <a:avLst/>
                <a:gdLst/>
                <a:ahLst/>
                <a:cxnLst/>
                <a:rect l="l" t="t" r="r" b="b"/>
                <a:pathLst>
                  <a:path w="752856" h="66040">
                    <a:moveTo>
                      <a:pt x="0" y="0"/>
                    </a:moveTo>
                    <a:cubicBezTo>
                      <a:pt x="250952" y="66040"/>
                      <a:pt x="501904" y="66040"/>
                      <a:pt x="752856" y="0"/>
                    </a:cubicBezTo>
                  </a:path>
                </a:pathLst>
              </a:custGeom>
              <a:noFill/>
              <a:ln w="19812" cap="rnd">
                <a:solidFill>
                  <a:srgbClr val="FFFFFF"/>
                </a:solidFill>
                <a:round/>
              </a:ln>
            </p:spPr>
          </p:sp>
          <p:sp>
            <p:nvSpPr>
              <p:cNvPr id="15" name="Freeform 15"/>
              <p:cNvSpPr/>
              <p:nvPr/>
            </p:nvSpPr>
            <p:spPr>
              <a:xfrm>
                <a:off x="1038987" y="2219325"/>
                <a:ext cx="475488" cy="168402"/>
              </a:xfrm>
              <a:custGeom>
                <a:avLst/>
                <a:gdLst/>
                <a:ahLst/>
                <a:cxnLst/>
                <a:rect l="l" t="t" r="r" b="b"/>
                <a:pathLst>
                  <a:path w="475488" h="168402">
                    <a:moveTo>
                      <a:pt x="59436" y="148590"/>
                    </a:moveTo>
                    <a:cubicBezTo>
                      <a:pt x="0" y="89154"/>
                      <a:pt x="128778" y="59436"/>
                      <a:pt x="79248" y="0"/>
                    </a:cubicBezTo>
                    <a:moveTo>
                      <a:pt x="237744" y="138684"/>
                    </a:moveTo>
                    <a:cubicBezTo>
                      <a:pt x="178308" y="79248"/>
                      <a:pt x="297180" y="39624"/>
                      <a:pt x="237744" y="0"/>
                    </a:cubicBezTo>
                    <a:moveTo>
                      <a:pt x="416052" y="168402"/>
                    </a:moveTo>
                    <a:cubicBezTo>
                      <a:pt x="356616" y="108966"/>
                      <a:pt x="475488" y="59436"/>
                      <a:pt x="416052" y="19812"/>
                    </a:cubicBezTo>
                  </a:path>
                </a:pathLst>
              </a:custGeom>
              <a:noFill/>
              <a:ln w="24765" cap="rnd">
                <a:solidFill>
                  <a:schemeClr val="accent1"/>
                </a:solidFill>
                <a:round/>
              </a:ln>
            </p:spPr>
          </p:sp>
        </p:grpSp>
        <p:sp>
          <p:nvSpPr>
            <p:cNvPr id="17" name="TextBox 17"/>
            <p:cNvSpPr txBox="1"/>
            <p:nvPr/>
          </p:nvSpPr>
          <p:spPr>
            <a:xfrm>
              <a:off x="2340483" y="2346325"/>
              <a:ext cx="2980639"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重量 × 生命周期因子</a:t>
              </a:r>
            </a:p>
          </p:txBody>
        </p:sp>
        <p:sp>
          <p:nvSpPr>
            <p:cNvPr id="18" name="TextBox 18"/>
            <p:cNvSpPr txBox="1"/>
            <p:nvPr/>
          </p:nvSpPr>
          <p:spPr>
            <a:xfrm>
              <a:off x="2342769" y="2863850"/>
              <a:ext cx="1857375"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对各类食材求和</a:t>
              </a:r>
            </a:p>
          </p:txBody>
        </p:sp>
        <p:grpSp>
          <p:nvGrpSpPr>
            <p:cNvPr id="21" name="Group 21"/>
            <p:cNvGrpSpPr/>
            <p:nvPr/>
          </p:nvGrpSpPr>
          <p:grpSpPr>
            <a:xfrm>
              <a:off x="684371" y="3584067"/>
              <a:ext cx="461486" cy="499491"/>
              <a:chOff x="684371" y="3584067"/>
              <a:chExt cx="461486" cy="499491"/>
            </a:xfrm>
          </p:grpSpPr>
          <p:sp>
            <p:nvSpPr>
              <p:cNvPr id="19" name="Freeform 19"/>
              <p:cNvSpPr/>
              <p:nvPr/>
            </p:nvSpPr>
            <p:spPr>
              <a:xfrm>
                <a:off x="684371" y="3584067"/>
                <a:ext cx="461486" cy="499491"/>
              </a:xfrm>
              <a:custGeom>
                <a:avLst/>
                <a:gdLst/>
                <a:ahLst/>
                <a:cxnLst/>
                <a:rect l="l" t="t" r="r" b="b"/>
                <a:pathLst>
                  <a:path w="461486" h="499491">
                    <a:moveTo>
                      <a:pt x="65151" y="434340"/>
                    </a:moveTo>
                    <a:cubicBezTo>
                      <a:pt x="0" y="184594"/>
                      <a:pt x="190024" y="0"/>
                      <a:pt x="461486" y="32576"/>
                    </a:cubicBezTo>
                    <a:cubicBezTo>
                      <a:pt x="450628" y="331184"/>
                      <a:pt x="320326" y="499491"/>
                      <a:pt x="65151" y="434340"/>
                    </a:cubicBezTo>
                    <a:close/>
                  </a:path>
                </a:pathLst>
              </a:custGeom>
              <a:solidFill>
                <a:schemeClr val="accent2"/>
              </a:solidFill>
              <a:ln>
                <a:noFill/>
              </a:ln>
            </p:spPr>
          </p:sp>
          <p:sp>
            <p:nvSpPr>
              <p:cNvPr id="20" name="Freeform 20"/>
              <p:cNvSpPr/>
              <p:nvPr/>
            </p:nvSpPr>
            <p:spPr>
              <a:xfrm>
                <a:off x="733234" y="3714369"/>
                <a:ext cx="342043" cy="342043"/>
              </a:xfrm>
              <a:custGeom>
                <a:avLst/>
                <a:gdLst/>
                <a:ahLst/>
                <a:cxnLst/>
                <a:rect l="l" t="t" r="r" b="b"/>
                <a:pathLst>
                  <a:path w="342043" h="342043">
                    <a:moveTo>
                      <a:pt x="0" y="342043"/>
                    </a:moveTo>
                    <a:lnTo>
                      <a:pt x="331184" y="0"/>
                    </a:lnTo>
                    <a:moveTo>
                      <a:pt x="130302" y="211741"/>
                    </a:moveTo>
                    <a:lnTo>
                      <a:pt x="119443" y="38005"/>
                    </a:lnTo>
                    <a:moveTo>
                      <a:pt x="200882" y="146590"/>
                    </a:moveTo>
                    <a:lnTo>
                      <a:pt x="342043" y="135731"/>
                    </a:lnTo>
                  </a:path>
                </a:pathLst>
              </a:custGeom>
              <a:noFill/>
              <a:ln w="16288" cap="rnd">
                <a:solidFill>
                  <a:srgbClr val="F3F7F4"/>
                </a:solidFill>
                <a:round/>
              </a:ln>
            </p:spPr>
          </p:sp>
        </p:grpSp>
        <p:sp>
          <p:nvSpPr>
            <p:cNvPr id="22" name="TextBox 22"/>
            <p:cNvSpPr txBox="1"/>
            <p:nvPr/>
          </p:nvSpPr>
          <p:spPr>
            <a:xfrm>
              <a:off x="698183" y="422592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生产</a:t>
              </a:r>
            </a:p>
          </p:txBody>
        </p:sp>
        <p:sp>
          <p:nvSpPr>
            <p:cNvPr id="23" name="Line 23"/>
            <p:cNvSpPr/>
            <p:nvPr/>
          </p:nvSpPr>
          <p:spPr>
            <a:xfrm>
              <a:off x="1323975" y="3848100"/>
              <a:ext cx="523875" cy="1"/>
            </a:xfrm>
            <a:prstGeom prst="line">
              <a:avLst/>
            </a:prstGeom>
            <a:noFill/>
            <a:ln w="19050">
              <a:solidFill>
                <a:schemeClr val="accent2"/>
              </a:solidFill>
              <a:tailEnd type="triangle" w="lg" len="lg"/>
            </a:ln>
          </p:spPr>
        </p:sp>
        <p:grpSp>
          <p:nvGrpSpPr>
            <p:cNvPr id="26" name="Group 26"/>
            <p:cNvGrpSpPr/>
            <p:nvPr/>
          </p:nvGrpSpPr>
          <p:grpSpPr>
            <a:xfrm>
              <a:off x="2083118" y="3605784"/>
              <a:ext cx="439769" cy="488633"/>
              <a:chOff x="2083118" y="3605784"/>
              <a:chExt cx="439769" cy="488633"/>
            </a:xfrm>
          </p:grpSpPr>
          <p:sp>
            <p:nvSpPr>
              <p:cNvPr id="24" name="Freeform 24"/>
              <p:cNvSpPr/>
              <p:nvPr/>
            </p:nvSpPr>
            <p:spPr>
              <a:xfrm>
                <a:off x="2083118" y="3605784"/>
                <a:ext cx="439769" cy="488633"/>
              </a:xfrm>
              <a:custGeom>
                <a:avLst/>
                <a:gdLst/>
                <a:ahLst/>
                <a:cxnLst/>
                <a:rect l="l" t="t" r="r" b="b"/>
                <a:pathLst>
                  <a:path w="439769" h="488633">
                    <a:moveTo>
                      <a:pt x="0" y="108585"/>
                    </a:moveTo>
                    <a:lnTo>
                      <a:pt x="222599" y="0"/>
                    </a:lnTo>
                    <a:lnTo>
                      <a:pt x="439769" y="108585"/>
                    </a:lnTo>
                    <a:lnTo>
                      <a:pt x="439769" y="385477"/>
                    </a:lnTo>
                    <a:lnTo>
                      <a:pt x="222599" y="488633"/>
                    </a:lnTo>
                    <a:lnTo>
                      <a:pt x="0" y="385477"/>
                    </a:lnTo>
                    <a:close/>
                  </a:path>
                </a:pathLst>
              </a:custGeom>
              <a:solidFill>
                <a:schemeClr val="lt2"/>
              </a:solidFill>
              <a:ln w="16288" cap="rnd">
                <a:solidFill>
                  <a:schemeClr val="accent1"/>
                </a:solidFill>
                <a:round/>
              </a:ln>
            </p:spPr>
          </p:sp>
          <p:sp>
            <p:nvSpPr>
              <p:cNvPr id="25" name="Freeform 25"/>
              <p:cNvSpPr/>
              <p:nvPr/>
            </p:nvSpPr>
            <p:spPr>
              <a:xfrm>
                <a:off x="2083118" y="3654647"/>
                <a:ext cx="439769" cy="439769"/>
              </a:xfrm>
              <a:custGeom>
                <a:avLst/>
                <a:gdLst/>
                <a:ahLst/>
                <a:cxnLst/>
                <a:rect l="l" t="t" r="r" b="b"/>
                <a:pathLst>
                  <a:path w="439769" h="439769">
                    <a:moveTo>
                      <a:pt x="0" y="59722"/>
                    </a:moveTo>
                    <a:lnTo>
                      <a:pt x="222599" y="168307"/>
                    </a:lnTo>
                    <a:lnTo>
                      <a:pt x="439769" y="59722"/>
                    </a:lnTo>
                    <a:moveTo>
                      <a:pt x="222599" y="168307"/>
                    </a:moveTo>
                    <a:lnTo>
                      <a:pt x="222599" y="439769"/>
                    </a:lnTo>
                    <a:moveTo>
                      <a:pt x="114014" y="0"/>
                    </a:moveTo>
                    <a:lnTo>
                      <a:pt x="336614" y="108585"/>
                    </a:lnTo>
                    <a:lnTo>
                      <a:pt x="336614" y="206312"/>
                    </a:lnTo>
                  </a:path>
                </a:pathLst>
              </a:custGeom>
              <a:noFill/>
              <a:ln w="21717" cap="rnd">
                <a:solidFill>
                  <a:schemeClr val="accent2"/>
                </a:solidFill>
                <a:round/>
              </a:ln>
            </p:spPr>
          </p:sp>
        </p:grpSp>
        <p:sp>
          <p:nvSpPr>
            <p:cNvPr id="27" name="TextBox 27"/>
            <p:cNvSpPr txBox="1"/>
            <p:nvPr/>
          </p:nvSpPr>
          <p:spPr>
            <a:xfrm>
              <a:off x="2069782" y="422592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包装</a:t>
              </a:r>
            </a:p>
          </p:txBody>
        </p:sp>
        <p:sp>
          <p:nvSpPr>
            <p:cNvPr id="28" name="Line 28"/>
            <p:cNvSpPr/>
            <p:nvPr/>
          </p:nvSpPr>
          <p:spPr>
            <a:xfrm>
              <a:off x="2695575" y="3848100"/>
              <a:ext cx="523875" cy="1"/>
            </a:xfrm>
            <a:prstGeom prst="line">
              <a:avLst/>
            </a:prstGeom>
            <a:noFill/>
            <a:ln w="19050">
              <a:solidFill>
                <a:schemeClr val="accent2"/>
              </a:solidFill>
              <a:tailEnd type="triangle" w="lg" len="lg"/>
            </a:ln>
          </p:spPr>
        </p:sp>
        <p:grpSp>
          <p:nvGrpSpPr>
            <p:cNvPr id="34" name="Group 34"/>
            <p:cNvGrpSpPr/>
            <p:nvPr/>
          </p:nvGrpSpPr>
          <p:grpSpPr>
            <a:xfrm>
              <a:off x="3427571" y="3687223"/>
              <a:ext cx="477774" cy="363759"/>
              <a:chOff x="3427571" y="3687223"/>
              <a:chExt cx="477774" cy="363759"/>
            </a:xfrm>
          </p:grpSpPr>
          <p:sp>
            <p:nvSpPr>
              <p:cNvPr id="29" name="Rectangle 29"/>
              <p:cNvSpPr/>
              <p:nvPr/>
            </p:nvSpPr>
            <p:spPr>
              <a:xfrm>
                <a:off x="3427571" y="3687223"/>
                <a:ext cx="293179" cy="255175"/>
              </a:xfrm>
              <a:prstGeom prst="roundRect">
                <a:avLst>
                  <a:gd name="adj" fmla="val 4255"/>
                </a:avLst>
              </a:prstGeom>
              <a:solidFill>
                <a:schemeClr val="lt2"/>
              </a:solidFill>
              <a:ln w="16288">
                <a:solidFill>
                  <a:schemeClr val="accent1"/>
                </a:solidFill>
              </a:ln>
            </p:spPr>
          </p:sp>
          <p:sp>
            <p:nvSpPr>
              <p:cNvPr id="30" name="Freeform 30"/>
              <p:cNvSpPr/>
              <p:nvPr/>
            </p:nvSpPr>
            <p:spPr>
              <a:xfrm>
                <a:off x="3720751" y="3768661"/>
                <a:ext cx="184594" cy="200882"/>
              </a:xfrm>
              <a:custGeom>
                <a:avLst/>
                <a:gdLst/>
                <a:ahLst/>
                <a:cxnLst/>
                <a:rect l="l" t="t" r="r" b="b"/>
                <a:pathLst>
                  <a:path w="184594" h="200882">
                    <a:moveTo>
                      <a:pt x="0" y="0"/>
                    </a:moveTo>
                    <a:lnTo>
                      <a:pt x="103156" y="0"/>
                    </a:lnTo>
                    <a:lnTo>
                      <a:pt x="184594" y="86868"/>
                    </a:lnTo>
                    <a:lnTo>
                      <a:pt x="184594" y="200882"/>
                    </a:lnTo>
                    <a:lnTo>
                      <a:pt x="0" y="200882"/>
                    </a:lnTo>
                    <a:close/>
                  </a:path>
                </a:pathLst>
              </a:custGeom>
              <a:solidFill>
                <a:schemeClr val="accent2"/>
              </a:solidFill>
              <a:ln w="16288" cap="rnd">
                <a:solidFill>
                  <a:schemeClr val="accent1"/>
                </a:solidFill>
                <a:round/>
              </a:ln>
            </p:spPr>
          </p:sp>
          <p:sp>
            <p:nvSpPr>
              <p:cNvPr id="31" name="Ellipse 31"/>
              <p:cNvSpPr/>
              <p:nvPr/>
            </p:nvSpPr>
            <p:spPr>
              <a:xfrm>
                <a:off x="3471005" y="3931539"/>
                <a:ext cx="119443" cy="119444"/>
              </a:xfrm>
              <a:prstGeom prst="ellipse">
                <a:avLst/>
              </a:prstGeom>
              <a:solidFill>
                <a:schemeClr val="accent1"/>
              </a:solidFill>
              <a:ln>
                <a:noFill/>
              </a:ln>
            </p:spPr>
          </p:sp>
          <p:sp>
            <p:nvSpPr>
              <p:cNvPr id="32" name="Ellipse 32"/>
              <p:cNvSpPr/>
              <p:nvPr/>
            </p:nvSpPr>
            <p:spPr>
              <a:xfrm>
                <a:off x="3758756" y="3931539"/>
                <a:ext cx="119443" cy="119444"/>
              </a:xfrm>
              <a:prstGeom prst="ellipse">
                <a:avLst/>
              </a:prstGeom>
              <a:solidFill>
                <a:schemeClr val="accent1"/>
              </a:solidFill>
              <a:ln>
                <a:noFill/>
              </a:ln>
            </p:spPr>
          </p:sp>
          <p:sp>
            <p:nvSpPr>
              <p:cNvPr id="33" name="Freeform 33"/>
              <p:cNvSpPr/>
              <p:nvPr/>
            </p:nvSpPr>
            <p:spPr>
              <a:xfrm>
                <a:off x="3764185" y="3801237"/>
                <a:ext cx="97726" cy="59722"/>
              </a:xfrm>
              <a:custGeom>
                <a:avLst/>
                <a:gdLst/>
                <a:ahLst/>
                <a:cxnLst/>
                <a:rect l="l" t="t" r="r" b="b"/>
                <a:pathLst>
                  <a:path w="97726" h="59722">
                    <a:moveTo>
                      <a:pt x="0" y="0"/>
                    </a:moveTo>
                    <a:lnTo>
                      <a:pt x="48863" y="0"/>
                    </a:lnTo>
                    <a:lnTo>
                      <a:pt x="97726" y="59722"/>
                    </a:lnTo>
                    <a:lnTo>
                      <a:pt x="0" y="59722"/>
                    </a:lnTo>
                    <a:close/>
                  </a:path>
                </a:pathLst>
              </a:custGeom>
              <a:solidFill>
                <a:schemeClr val="lt2"/>
              </a:solidFill>
              <a:ln>
                <a:noFill/>
              </a:ln>
            </p:spPr>
          </p:sp>
        </p:grpSp>
        <p:sp>
          <p:nvSpPr>
            <p:cNvPr id="35" name="TextBox 35"/>
            <p:cNvSpPr txBox="1"/>
            <p:nvPr/>
          </p:nvSpPr>
          <p:spPr>
            <a:xfrm>
              <a:off x="3441382" y="422592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运输</a:t>
              </a:r>
            </a:p>
          </p:txBody>
        </p:sp>
        <p:sp>
          <p:nvSpPr>
            <p:cNvPr id="36" name="Line 36"/>
            <p:cNvSpPr/>
            <p:nvPr/>
          </p:nvSpPr>
          <p:spPr>
            <a:xfrm>
              <a:off x="4067175" y="3848100"/>
              <a:ext cx="523875" cy="1"/>
            </a:xfrm>
            <a:prstGeom prst="line">
              <a:avLst/>
            </a:prstGeom>
            <a:noFill/>
            <a:ln w="19050">
              <a:solidFill>
                <a:schemeClr val="accent2"/>
              </a:solidFill>
              <a:tailEnd type="triangle" w="lg" len="lg"/>
            </a:ln>
          </p:spPr>
        </p:sp>
        <p:grpSp>
          <p:nvGrpSpPr>
            <p:cNvPr id="43" name="Group 43"/>
            <p:cNvGrpSpPr/>
            <p:nvPr/>
          </p:nvGrpSpPr>
          <p:grpSpPr>
            <a:xfrm>
              <a:off x="4815459" y="3638360"/>
              <a:ext cx="456057" cy="449294"/>
              <a:chOff x="4815459" y="3638360"/>
              <a:chExt cx="456057" cy="449294"/>
            </a:xfrm>
          </p:grpSpPr>
          <p:sp>
            <p:nvSpPr>
              <p:cNvPr id="37" name="Rectangle 37"/>
              <p:cNvSpPr/>
              <p:nvPr/>
            </p:nvSpPr>
            <p:spPr>
              <a:xfrm>
                <a:off x="4858893" y="3774091"/>
                <a:ext cx="369189" cy="298609"/>
              </a:xfrm>
              <a:prstGeom prst="roundRect">
                <a:avLst>
                  <a:gd name="adj" fmla="val 3636"/>
                </a:avLst>
              </a:prstGeom>
              <a:solidFill>
                <a:schemeClr val="lt2"/>
              </a:solidFill>
              <a:ln w="16288">
                <a:solidFill>
                  <a:schemeClr val="accent1"/>
                </a:solidFill>
              </a:ln>
            </p:spPr>
          </p:sp>
          <p:sp>
            <p:nvSpPr>
              <p:cNvPr id="38" name="Freeform 38"/>
              <p:cNvSpPr/>
              <p:nvPr/>
            </p:nvSpPr>
            <p:spPr>
              <a:xfrm>
                <a:off x="4815459" y="3638360"/>
                <a:ext cx="456057" cy="141160"/>
              </a:xfrm>
              <a:custGeom>
                <a:avLst/>
                <a:gdLst/>
                <a:ahLst/>
                <a:cxnLst/>
                <a:rect l="l" t="t" r="r" b="b"/>
                <a:pathLst>
                  <a:path w="456057" h="141160">
                    <a:moveTo>
                      <a:pt x="0" y="141160"/>
                    </a:moveTo>
                    <a:lnTo>
                      <a:pt x="54292" y="0"/>
                    </a:lnTo>
                    <a:lnTo>
                      <a:pt x="401765" y="0"/>
                    </a:lnTo>
                    <a:lnTo>
                      <a:pt x="456057" y="141160"/>
                    </a:lnTo>
                    <a:close/>
                  </a:path>
                </a:pathLst>
              </a:custGeom>
              <a:solidFill>
                <a:schemeClr val="accent2"/>
              </a:solidFill>
              <a:ln w="10858" cap="rnd">
                <a:solidFill>
                  <a:schemeClr val="accent1"/>
                </a:solidFill>
                <a:round/>
              </a:ln>
            </p:spPr>
          </p:sp>
          <p:sp>
            <p:nvSpPr>
              <p:cNvPr id="39" name="Freeform 39"/>
              <p:cNvSpPr/>
              <p:nvPr/>
            </p:nvSpPr>
            <p:spPr>
              <a:xfrm>
                <a:off x="4886039" y="3643789"/>
                <a:ext cx="314896" cy="135731"/>
              </a:xfrm>
              <a:custGeom>
                <a:avLst/>
                <a:gdLst/>
                <a:ahLst/>
                <a:cxnLst/>
                <a:rect l="l" t="t" r="r" b="b"/>
                <a:pathLst>
                  <a:path w="314896" h="135731">
                    <a:moveTo>
                      <a:pt x="21717" y="0"/>
                    </a:moveTo>
                    <a:lnTo>
                      <a:pt x="0" y="135731"/>
                    </a:lnTo>
                    <a:moveTo>
                      <a:pt x="114014" y="0"/>
                    </a:moveTo>
                    <a:lnTo>
                      <a:pt x="103156" y="135731"/>
                    </a:lnTo>
                    <a:moveTo>
                      <a:pt x="200882" y="0"/>
                    </a:moveTo>
                    <a:lnTo>
                      <a:pt x="211741" y="135731"/>
                    </a:lnTo>
                    <a:moveTo>
                      <a:pt x="293179" y="0"/>
                    </a:moveTo>
                    <a:lnTo>
                      <a:pt x="314896" y="135731"/>
                    </a:lnTo>
                  </a:path>
                </a:pathLst>
              </a:custGeom>
              <a:noFill/>
              <a:ln w="21717" cap="rnd">
                <a:solidFill>
                  <a:srgbClr val="FFFFFF"/>
                </a:solidFill>
                <a:round/>
              </a:ln>
            </p:spPr>
          </p:sp>
          <p:sp>
            <p:nvSpPr>
              <p:cNvPr id="40" name="Rectangle 40"/>
              <p:cNvSpPr/>
              <p:nvPr/>
            </p:nvSpPr>
            <p:spPr>
              <a:xfrm>
                <a:off x="4924044" y="3882676"/>
                <a:ext cx="108585" cy="190024"/>
              </a:xfrm>
              <a:prstGeom prst="roundRect">
                <a:avLst>
                  <a:gd name="adj" fmla="val 10000"/>
                </a:avLst>
              </a:prstGeom>
              <a:solidFill>
                <a:schemeClr val="accent1"/>
              </a:solidFill>
              <a:ln>
                <a:noFill/>
              </a:ln>
            </p:spPr>
          </p:sp>
          <p:sp>
            <p:nvSpPr>
              <p:cNvPr id="41" name="Rectangle 41"/>
              <p:cNvSpPr/>
              <p:nvPr/>
            </p:nvSpPr>
            <p:spPr>
              <a:xfrm>
                <a:off x="5097780" y="3877246"/>
                <a:ext cx="81439" cy="92297"/>
              </a:xfrm>
              <a:prstGeom prst="roundRect">
                <a:avLst>
                  <a:gd name="adj" fmla="val 13333"/>
                </a:avLst>
              </a:prstGeom>
              <a:solidFill>
                <a:schemeClr val="accent2"/>
              </a:solidFill>
              <a:ln>
                <a:noFill/>
              </a:ln>
            </p:spPr>
          </p:sp>
          <p:sp>
            <p:nvSpPr>
              <p:cNvPr id="42" name="Freeform 42"/>
              <p:cNvSpPr/>
              <p:nvPr/>
            </p:nvSpPr>
            <p:spPr>
              <a:xfrm>
                <a:off x="4826318" y="4078129"/>
                <a:ext cx="434340" cy="9525"/>
              </a:xfrm>
              <a:custGeom>
                <a:avLst/>
                <a:gdLst/>
                <a:ahLst/>
                <a:cxnLst/>
                <a:rect l="l" t="t" r="r" b="b"/>
                <a:pathLst>
                  <a:path w="434340" h="9525">
                    <a:moveTo>
                      <a:pt x="0" y="0"/>
                    </a:moveTo>
                    <a:lnTo>
                      <a:pt x="434340" y="0"/>
                    </a:lnTo>
                  </a:path>
                </a:pathLst>
              </a:custGeom>
              <a:noFill/>
              <a:ln w="21717" cap="rnd">
                <a:solidFill>
                  <a:schemeClr val="accent1"/>
                </a:solidFill>
                <a:round/>
              </a:ln>
            </p:spPr>
          </p:sp>
        </p:grpSp>
        <p:sp>
          <p:nvSpPr>
            <p:cNvPr id="44" name="TextBox 44"/>
            <p:cNvSpPr txBox="1"/>
            <p:nvPr/>
          </p:nvSpPr>
          <p:spPr>
            <a:xfrm>
              <a:off x="4812982" y="422592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零售</a:t>
              </a:r>
            </a:p>
          </p:txBody>
        </p:sp>
        <p:grpSp>
          <p:nvGrpSpPr>
            <p:cNvPr id="49" name="Group 49"/>
            <p:cNvGrpSpPr/>
            <p:nvPr/>
          </p:nvGrpSpPr>
          <p:grpSpPr>
            <a:xfrm>
              <a:off x="6741795" y="2300288"/>
              <a:ext cx="1126807" cy="1163955"/>
              <a:chOff x="6741795" y="2300288"/>
              <a:chExt cx="1126807" cy="1163955"/>
            </a:xfrm>
          </p:grpSpPr>
          <p:sp>
            <p:nvSpPr>
              <p:cNvPr id="45" name="Freeform 45"/>
              <p:cNvSpPr/>
              <p:nvPr/>
            </p:nvSpPr>
            <p:spPr>
              <a:xfrm>
                <a:off x="6741795" y="2807970"/>
                <a:ext cx="817245" cy="421005"/>
              </a:xfrm>
              <a:custGeom>
                <a:avLst/>
                <a:gdLst/>
                <a:ahLst/>
                <a:cxnLst/>
                <a:rect l="l" t="t" r="r" b="b"/>
                <a:pathLst>
                  <a:path w="817245" h="421005">
                    <a:moveTo>
                      <a:pt x="0" y="0"/>
                    </a:moveTo>
                    <a:lnTo>
                      <a:pt x="817245" y="0"/>
                    </a:lnTo>
                    <a:cubicBezTo>
                      <a:pt x="817245" y="297180"/>
                      <a:pt x="693420" y="421005"/>
                      <a:pt x="408623" y="421005"/>
                    </a:cubicBezTo>
                    <a:cubicBezTo>
                      <a:pt x="123825" y="421005"/>
                      <a:pt x="0" y="297180"/>
                      <a:pt x="0" y="0"/>
                    </a:cubicBezTo>
                    <a:close/>
                  </a:path>
                </a:pathLst>
              </a:custGeom>
              <a:solidFill>
                <a:schemeClr val="accent1"/>
              </a:solidFill>
              <a:ln>
                <a:noFill/>
              </a:ln>
            </p:spPr>
          </p:sp>
          <p:sp>
            <p:nvSpPr>
              <p:cNvPr id="46" name="Freeform 46"/>
              <p:cNvSpPr/>
              <p:nvPr/>
            </p:nvSpPr>
            <p:spPr>
              <a:xfrm>
                <a:off x="7571422" y="2696528"/>
                <a:ext cx="297180" cy="123825"/>
              </a:xfrm>
              <a:custGeom>
                <a:avLst/>
                <a:gdLst/>
                <a:ahLst/>
                <a:cxnLst/>
                <a:rect l="l" t="t" r="r" b="b"/>
                <a:pathLst>
                  <a:path w="297180" h="123825">
                    <a:moveTo>
                      <a:pt x="0" y="123825"/>
                    </a:moveTo>
                    <a:lnTo>
                      <a:pt x="297180" y="0"/>
                    </a:lnTo>
                  </a:path>
                </a:pathLst>
              </a:custGeom>
              <a:noFill/>
              <a:ln w="111443" cap="rnd">
                <a:solidFill>
                  <a:schemeClr val="accent1"/>
                </a:solidFill>
                <a:round/>
              </a:ln>
            </p:spPr>
          </p:sp>
          <p:sp>
            <p:nvSpPr>
              <p:cNvPr id="47" name="Freeform 47"/>
              <p:cNvSpPr/>
              <p:nvPr/>
            </p:nvSpPr>
            <p:spPr>
              <a:xfrm>
                <a:off x="6865620" y="2300288"/>
                <a:ext cx="619125" cy="396240"/>
              </a:xfrm>
              <a:custGeom>
                <a:avLst/>
                <a:gdLst/>
                <a:ahLst/>
                <a:cxnLst/>
                <a:rect l="l" t="t" r="r" b="b"/>
                <a:pathLst>
                  <a:path w="619125" h="396240">
                    <a:moveTo>
                      <a:pt x="111443" y="396240"/>
                    </a:moveTo>
                    <a:cubicBezTo>
                      <a:pt x="0" y="284797"/>
                      <a:pt x="198120" y="222885"/>
                      <a:pt x="111443" y="61912"/>
                    </a:cubicBezTo>
                    <a:moveTo>
                      <a:pt x="334328" y="359092"/>
                    </a:moveTo>
                    <a:cubicBezTo>
                      <a:pt x="235268" y="222885"/>
                      <a:pt x="433388" y="160972"/>
                      <a:pt x="334328" y="0"/>
                    </a:cubicBezTo>
                    <a:moveTo>
                      <a:pt x="544830" y="371475"/>
                    </a:moveTo>
                    <a:cubicBezTo>
                      <a:pt x="445770" y="235267"/>
                      <a:pt x="619125" y="185738"/>
                      <a:pt x="544830" y="49530"/>
                    </a:cubicBezTo>
                  </a:path>
                </a:pathLst>
              </a:custGeom>
              <a:noFill/>
              <a:ln w="37148" cap="rnd">
                <a:solidFill>
                  <a:schemeClr val="accent2"/>
                </a:solidFill>
                <a:round/>
              </a:ln>
            </p:spPr>
          </p:sp>
          <p:sp>
            <p:nvSpPr>
              <p:cNvPr id="48" name="Freeform 48"/>
              <p:cNvSpPr/>
              <p:nvPr/>
            </p:nvSpPr>
            <p:spPr>
              <a:xfrm>
                <a:off x="6791325" y="3191828"/>
                <a:ext cx="668655" cy="272415"/>
              </a:xfrm>
              <a:custGeom>
                <a:avLst/>
                <a:gdLst/>
                <a:ahLst/>
                <a:cxnLst/>
                <a:rect l="l" t="t" r="r" b="b"/>
                <a:pathLst>
                  <a:path w="668655" h="272415">
                    <a:moveTo>
                      <a:pt x="111443" y="260032"/>
                    </a:moveTo>
                    <a:cubicBezTo>
                      <a:pt x="0" y="123825"/>
                      <a:pt x="210503" y="99060"/>
                      <a:pt x="148590" y="12382"/>
                    </a:cubicBezTo>
                    <a:cubicBezTo>
                      <a:pt x="346710" y="99060"/>
                      <a:pt x="160972" y="185738"/>
                      <a:pt x="309562" y="272415"/>
                    </a:cubicBezTo>
                    <a:moveTo>
                      <a:pt x="470535" y="260032"/>
                    </a:moveTo>
                    <a:cubicBezTo>
                      <a:pt x="346710" y="148590"/>
                      <a:pt x="532447" y="99060"/>
                      <a:pt x="470535" y="0"/>
                    </a:cubicBezTo>
                    <a:cubicBezTo>
                      <a:pt x="668655" y="74295"/>
                      <a:pt x="520065" y="185738"/>
                      <a:pt x="668655" y="272415"/>
                    </a:cubicBezTo>
                  </a:path>
                </a:pathLst>
              </a:custGeom>
              <a:solidFill>
                <a:schemeClr val="accent3"/>
              </a:solidFill>
              <a:ln>
                <a:noFill/>
              </a:ln>
            </p:spPr>
          </p:sp>
        </p:grpSp>
        <p:grpSp>
          <p:nvGrpSpPr>
            <p:cNvPr id="53" name="Group 53"/>
            <p:cNvGrpSpPr/>
            <p:nvPr/>
          </p:nvGrpSpPr>
          <p:grpSpPr>
            <a:xfrm>
              <a:off x="8670131" y="2336006"/>
              <a:ext cx="614362" cy="614362"/>
              <a:chOff x="8670131" y="2336006"/>
              <a:chExt cx="614362" cy="614362"/>
            </a:xfrm>
          </p:grpSpPr>
          <p:sp>
            <p:nvSpPr>
              <p:cNvPr id="50" name="Ellipse 50"/>
              <p:cNvSpPr/>
              <p:nvPr/>
            </p:nvSpPr>
            <p:spPr>
              <a:xfrm>
                <a:off x="8698706" y="2364581"/>
                <a:ext cx="557212" cy="557212"/>
              </a:xfrm>
              <a:prstGeom prst="ellipse">
                <a:avLst/>
              </a:prstGeom>
              <a:solidFill>
                <a:schemeClr val="lt2"/>
              </a:solidFill>
              <a:ln w="21431">
                <a:solidFill>
                  <a:schemeClr val="accent1"/>
                </a:solidFill>
              </a:ln>
            </p:spPr>
          </p:sp>
          <p:sp>
            <p:nvSpPr>
              <p:cNvPr id="51" name="Freeform 51"/>
              <p:cNvSpPr/>
              <p:nvPr/>
            </p:nvSpPr>
            <p:spPr>
              <a:xfrm>
                <a:off x="8977312" y="2443162"/>
                <a:ext cx="157162" cy="285750"/>
              </a:xfrm>
              <a:custGeom>
                <a:avLst/>
                <a:gdLst/>
                <a:ahLst/>
                <a:cxnLst/>
                <a:rect l="l" t="t" r="r" b="b"/>
                <a:pathLst>
                  <a:path w="157162" h="285750">
                    <a:moveTo>
                      <a:pt x="0" y="0"/>
                    </a:moveTo>
                    <a:lnTo>
                      <a:pt x="0" y="200025"/>
                    </a:lnTo>
                    <a:lnTo>
                      <a:pt x="157162" y="285750"/>
                    </a:lnTo>
                  </a:path>
                </a:pathLst>
              </a:custGeom>
              <a:noFill/>
              <a:ln w="42862" cap="rnd">
                <a:solidFill>
                  <a:schemeClr val="accent2"/>
                </a:solidFill>
                <a:round/>
              </a:ln>
            </p:spPr>
          </p:sp>
          <p:sp>
            <p:nvSpPr>
              <p:cNvPr id="52" name="Freeform 52"/>
              <p:cNvSpPr/>
              <p:nvPr/>
            </p:nvSpPr>
            <p:spPr>
              <a:xfrm>
                <a:off x="8670131" y="2336006"/>
                <a:ext cx="614362" cy="614362"/>
              </a:xfrm>
              <a:custGeom>
                <a:avLst/>
                <a:gdLst/>
                <a:ahLst/>
                <a:cxnLst/>
                <a:rect l="l" t="t" r="r" b="b"/>
                <a:pathLst>
                  <a:path w="614362" h="614362">
                    <a:moveTo>
                      <a:pt x="300038" y="0"/>
                    </a:moveTo>
                    <a:lnTo>
                      <a:pt x="300038" y="50006"/>
                    </a:lnTo>
                    <a:moveTo>
                      <a:pt x="300038" y="564356"/>
                    </a:moveTo>
                    <a:lnTo>
                      <a:pt x="300038" y="614362"/>
                    </a:lnTo>
                    <a:moveTo>
                      <a:pt x="0" y="307181"/>
                    </a:moveTo>
                    <a:lnTo>
                      <a:pt x="50006" y="307181"/>
                    </a:lnTo>
                    <a:moveTo>
                      <a:pt x="564356" y="307181"/>
                    </a:moveTo>
                    <a:lnTo>
                      <a:pt x="614362" y="307181"/>
                    </a:lnTo>
                  </a:path>
                </a:pathLst>
              </a:custGeom>
              <a:noFill/>
              <a:ln w="21431" cap="rnd">
                <a:solidFill>
                  <a:schemeClr val="accent1"/>
                </a:solidFill>
                <a:round/>
              </a:ln>
            </p:spPr>
          </p:sp>
        </p:grpSp>
        <p:sp>
          <p:nvSpPr>
            <p:cNvPr id="54" name="Freeform 54"/>
            <p:cNvSpPr/>
            <p:nvPr/>
          </p:nvSpPr>
          <p:spPr>
            <a:xfrm>
              <a:off x="10596562" y="2307431"/>
              <a:ext cx="478631" cy="671512"/>
            </a:xfrm>
            <a:custGeom>
              <a:avLst/>
              <a:gdLst/>
              <a:ahLst/>
              <a:cxnLst/>
              <a:rect l="l" t="t" r="r" b="b"/>
              <a:pathLst>
                <a:path w="478631" h="671512">
                  <a:moveTo>
                    <a:pt x="285750" y="0"/>
                  </a:moveTo>
                  <a:lnTo>
                    <a:pt x="0" y="385762"/>
                  </a:lnTo>
                  <a:lnTo>
                    <a:pt x="214312" y="385762"/>
                  </a:lnTo>
                  <a:lnTo>
                    <a:pt x="128588" y="671512"/>
                  </a:lnTo>
                  <a:lnTo>
                    <a:pt x="478631" y="257175"/>
                  </a:lnTo>
                  <a:lnTo>
                    <a:pt x="271462" y="257175"/>
                  </a:lnTo>
                  <a:close/>
                </a:path>
              </a:pathLst>
            </a:custGeom>
            <a:solidFill>
              <a:schemeClr val="accent3"/>
            </a:solidFill>
            <a:ln w="14288" cap="rnd">
              <a:solidFill>
                <a:schemeClr val="accent1"/>
              </a:solidFill>
              <a:round/>
            </a:ln>
          </p:spPr>
        </p:sp>
        <p:sp>
          <p:nvSpPr>
            <p:cNvPr id="55" name="TextBox 55"/>
            <p:cNvSpPr txBox="1"/>
            <p:nvPr/>
          </p:nvSpPr>
          <p:spPr>
            <a:xfrm>
              <a:off x="8721090" y="3117850"/>
              <a:ext cx="50292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icrosoft YaHei"/>
                  <a:ea typeface="Microsoft YaHei"/>
                  <a:cs typeface="Microsoft YaHei"/>
                </a:rPr>
                <a:t>时间</a:t>
              </a:r>
            </a:p>
          </p:txBody>
        </p:sp>
        <p:sp>
          <p:nvSpPr>
            <p:cNvPr id="56" name="TextBox 56"/>
            <p:cNvSpPr txBox="1"/>
            <p:nvPr/>
          </p:nvSpPr>
          <p:spPr>
            <a:xfrm>
              <a:off x="10568940" y="3117850"/>
              <a:ext cx="50292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icrosoft YaHei"/>
                  <a:ea typeface="Microsoft YaHei"/>
                  <a:cs typeface="Microsoft YaHei"/>
                </a:rPr>
                <a:t>能源</a:t>
              </a:r>
            </a:p>
          </p:txBody>
        </p:sp>
        <p:sp>
          <p:nvSpPr>
            <p:cNvPr id="57" name="TextBox 57"/>
            <p:cNvSpPr txBox="1"/>
            <p:nvPr/>
          </p:nvSpPr>
          <p:spPr>
            <a:xfrm>
              <a:off x="6542532" y="3632200"/>
              <a:ext cx="349857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icrosoft YaHei"/>
                  <a:ea typeface="Microsoft YaHei"/>
                  <a:cs typeface="Microsoft YaHei"/>
                </a:rPr>
                <a:t>烹饪时间 × 能耗 × 能源因子</a:t>
              </a:r>
            </a:p>
          </p:txBody>
        </p:sp>
        <p:sp>
          <p:nvSpPr>
            <p:cNvPr id="58" name="TextBox 58"/>
            <p:cNvSpPr txBox="1"/>
            <p:nvPr/>
          </p:nvSpPr>
          <p:spPr>
            <a:xfrm>
              <a:off x="6543294" y="4111625"/>
              <a:ext cx="1594866"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考虑能源结构</a:t>
              </a:r>
            </a:p>
          </p:txBody>
        </p:sp>
        <p:grpSp>
          <p:nvGrpSpPr>
            <p:cNvPr id="63" name="path-28"/>
            <p:cNvGrpSpPr/>
            <p:nvPr/>
          </p:nvGrpSpPr>
          <p:grpSpPr>
            <a:xfrm>
              <a:off x="3086100" y="4648200"/>
              <a:ext cx="6029325" cy="476250"/>
              <a:chOff x="3086100" y="4648200"/>
              <a:chExt cx="6029325" cy="476250"/>
            </a:xfrm>
          </p:grpSpPr>
          <p:sp>
            <p:nvSpPr>
              <p:cNvPr id="59" name="Line 59"/>
              <p:cNvSpPr/>
              <p:nvPr/>
            </p:nvSpPr>
            <p:spPr>
              <a:xfrm>
                <a:off x="3086100" y="4648200"/>
                <a:ext cx="9525" cy="228600"/>
              </a:xfrm>
              <a:custGeom>
                <a:avLst/>
                <a:gdLst/>
                <a:ahLst/>
                <a:cxnLst/>
                <a:rect l="l" t="t" r="r" b="b"/>
                <a:pathLst>
                  <a:path w="9525" h="228600">
                    <a:moveTo>
                      <a:pt x="0" y="0"/>
                    </a:moveTo>
                    <a:lnTo>
                      <a:pt x="0" y="228600"/>
                    </a:lnTo>
                  </a:path>
                </a:pathLst>
              </a:custGeom>
              <a:noFill/>
              <a:ln w="19050">
                <a:solidFill>
                  <a:schemeClr val="accent2"/>
                </a:solidFill>
              </a:ln>
            </p:spPr>
          </p:sp>
          <p:sp>
            <p:nvSpPr>
              <p:cNvPr id="60" name="Line 60"/>
              <p:cNvSpPr/>
              <p:nvPr/>
            </p:nvSpPr>
            <p:spPr>
              <a:xfrm>
                <a:off x="3086100" y="4876800"/>
                <a:ext cx="6019800" cy="9525"/>
              </a:xfrm>
              <a:custGeom>
                <a:avLst/>
                <a:gdLst/>
                <a:ahLst/>
                <a:cxnLst/>
                <a:rect l="l" t="t" r="r" b="b"/>
                <a:pathLst>
                  <a:path w="6019800" h="9525">
                    <a:moveTo>
                      <a:pt x="0" y="0"/>
                    </a:moveTo>
                    <a:lnTo>
                      <a:pt x="6019800" y="0"/>
                    </a:lnTo>
                  </a:path>
                </a:pathLst>
              </a:custGeom>
              <a:noFill/>
              <a:ln w="19050">
                <a:solidFill>
                  <a:schemeClr val="accent2"/>
                </a:solidFill>
              </a:ln>
            </p:spPr>
          </p:sp>
          <p:sp>
            <p:nvSpPr>
              <p:cNvPr id="61" name="Line 61"/>
              <p:cNvSpPr/>
              <p:nvPr/>
            </p:nvSpPr>
            <p:spPr>
              <a:xfrm>
                <a:off x="9105900" y="4648200"/>
                <a:ext cx="9525" cy="228600"/>
              </a:xfrm>
              <a:custGeom>
                <a:avLst/>
                <a:gdLst/>
                <a:ahLst/>
                <a:cxnLst/>
                <a:rect l="l" t="t" r="r" b="b"/>
                <a:pathLst>
                  <a:path w="9525" h="228600">
                    <a:moveTo>
                      <a:pt x="0" y="0"/>
                    </a:moveTo>
                    <a:lnTo>
                      <a:pt x="0" y="228600"/>
                    </a:lnTo>
                  </a:path>
                </a:pathLst>
              </a:custGeom>
              <a:noFill/>
              <a:ln w="19050">
                <a:solidFill>
                  <a:schemeClr val="accent2"/>
                </a:solidFill>
              </a:ln>
            </p:spPr>
          </p:sp>
          <p:sp>
            <p:nvSpPr>
              <p:cNvPr id="62" name="Line 62"/>
              <p:cNvSpPr/>
              <p:nvPr/>
            </p:nvSpPr>
            <p:spPr>
              <a:xfrm>
                <a:off x="6096000" y="4876800"/>
                <a:ext cx="1" cy="247650"/>
              </a:xfrm>
              <a:prstGeom prst="line">
                <a:avLst/>
              </a:prstGeom>
              <a:noFill/>
              <a:ln w="19050">
                <a:solidFill>
                  <a:schemeClr val="accent2"/>
                </a:solidFill>
                <a:tailEnd type="triangle" w="lg" len="lg"/>
              </a:ln>
            </p:spPr>
          </p:sp>
        </p:grpSp>
        <p:sp>
          <p:nvSpPr>
            <p:cNvPr id="64" name="TextBox 64"/>
            <p:cNvSpPr txBox="1"/>
            <p:nvPr/>
          </p:nvSpPr>
          <p:spPr>
            <a:xfrm>
              <a:off x="5481066" y="5222875"/>
              <a:ext cx="1229868"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icrosoft YaHei"/>
                  <a:ea typeface="Microsoft YaHei"/>
                  <a:cs typeface="Microsoft YaHei"/>
                </a:rPr>
                <a:t>菜品总排放</a:t>
              </a:r>
            </a:p>
          </p:txBody>
        </p:sp>
        <p:sp>
          <p:nvSpPr>
            <p:cNvPr id="65" name="dish-emission-formula"/>
            <p:cNvSpPr txBox="1">
              <a:spLocks noGrp="1"/>
            </p:cNvSpPr>
            <p:nvPr/>
          </p:nvSpPr>
          <p:spPr>
            <a:xfrm>
              <a:off x="2752725" y="5353050"/>
              <a:ext cx="7143750" cy="866775"/>
            </a:xfrm>
            <a:prstGeom prst="rect">
              <a:avLst/>
            </a:prstGeom>
            <a:noFill/>
            <a:ln>
              <a:noFill/>
            </a:ln>
          </p:spPr>
          <p:txBody>
            <a:bodyPr wrap="none" lIns="0" tIns="0" rIns="0" bIns="0" anchor="ctr">
              <a:normAutofit/>
            </a:bodyPr>
            <a:lstStyle/>
            <a:p>
              <a:pPr algn="l"/>
              <a14:m xmlns:a14="http://schemas.microsoft.com/office/drawing/2010/main">
                <m:oMathPara xmlns:m="http://schemas.openxmlformats.org/officeDocument/2006/math">
                  <m:oMathParaPr>
                    <m:jc m:val="left"/>
                  </m:oMathParaPr>
                  <m:oMath>
                    <m:sSubSup>
                      <m:sSubSupPr>
                        <m:ctrlPr>
                          <a:rPr lang="zh-CN" sz="3900" dirty="0">
                            <a:solidFill>
                              <a:srgbClr val="143D35"/>
                            </a:solidFill>
                            <a:latin typeface="Cambria Math"/>
                            <a:ea typeface="Cambria Math"/>
                            <a:cs typeface="Cambria Math"/>
                          </a:rPr>
                        </m:ctrlPr>
                      </m:sSubSupPr>
                      <m:e>
                        <m:r>
                          <a:rPr lang="zh-CN" sz="3900" dirty="0">
                            <a:solidFill>
                              <a:srgbClr val="143D35"/>
                            </a:solidFill>
                            <a:latin typeface="Cambria Math"/>
                            <a:ea typeface="Cambria Math"/>
                            <a:cs typeface="Cambria Math"/>
                          </a:rPr>
                          <m:t>𝖦𝖧𝖦</m:t>
                        </m:r>
                      </m:e>
                      <m:sub>
                        <m:r>
                          <a:rPr lang="zh-CN" sz="3900" dirty="0">
                            <a:solidFill>
                              <a:srgbClr val="143D35"/>
                            </a:solidFill>
                            <a:latin typeface="Cambria Math"/>
                            <a:ea typeface="Cambria Math"/>
                            <a:cs typeface="Cambria Math"/>
                          </a:rPr>
                          <m:t>𝗂𝗃</m:t>
                        </m:r>
                      </m:sub>
                      <m:sup>
                        <m:r>
                          <a:rPr lang="zh-CN" sz="3900" dirty="0">
                            <a:solidFill>
                              <a:srgbClr val="143D35"/>
                            </a:solidFill>
                            <a:latin typeface="Cambria Math"/>
                            <a:ea typeface="Cambria Math"/>
                            <a:cs typeface="Cambria Math"/>
                          </a:rPr>
                          <m:t>𝖣𝗂𝗌𝗁</m:t>
                        </m:r>
                      </m:sup>
                    </m:sSubSup>
                    <m:r>
                      <a:rPr lang="zh-CN" sz="3900" dirty="0">
                        <a:solidFill>
                          <a:srgbClr val="143D35"/>
                        </a:solidFill>
                        <a:latin typeface="Cambria Math"/>
                        <a:ea typeface="Cambria Math"/>
                        <a:cs typeface="Cambria Math"/>
                      </a:rPr>
                      <m:t> = </m:t>
                    </m:r>
                    <m:sSubSup>
                      <m:sSubSupPr>
                        <m:ctrlPr>
                          <a:rPr lang="zh-CN" sz="3900" dirty="0">
                            <a:solidFill>
                              <a:srgbClr val="143D35"/>
                            </a:solidFill>
                            <a:latin typeface="Cambria Math"/>
                            <a:ea typeface="Cambria Math"/>
                            <a:cs typeface="Cambria Math"/>
                          </a:rPr>
                        </m:ctrlPr>
                      </m:sSubSupPr>
                      <m:e>
                        <m:r>
                          <a:rPr lang="zh-CN" sz="3900" dirty="0">
                            <a:solidFill>
                              <a:srgbClr val="143D35"/>
                            </a:solidFill>
                            <a:latin typeface="Cambria Math"/>
                            <a:ea typeface="Cambria Math"/>
                            <a:cs typeface="Cambria Math"/>
                          </a:rPr>
                          <m:t>𝖦𝖧𝖦</m:t>
                        </m:r>
                      </m:e>
                      <m:sub>
                        <m:r>
                          <a:rPr lang="zh-CN" sz="3900" dirty="0">
                            <a:solidFill>
                              <a:srgbClr val="143D35"/>
                            </a:solidFill>
                            <a:latin typeface="Cambria Math"/>
                            <a:ea typeface="Cambria Math"/>
                            <a:cs typeface="Cambria Math"/>
                          </a:rPr>
                          <m:t>𝗂𝗃</m:t>
                        </m:r>
                      </m:sub>
                      <m:sup>
                        <m:r>
                          <a:rPr lang="zh-CN" sz="3900" dirty="0">
                            <a:solidFill>
                              <a:srgbClr val="143D35"/>
                            </a:solidFill>
                            <a:latin typeface="Cambria Math"/>
                            <a:ea typeface="Cambria Math"/>
                            <a:cs typeface="Cambria Math"/>
                          </a:rPr>
                          <m:t>𝖨𝗇𝗀</m:t>
                        </m:r>
                      </m:sup>
                    </m:sSubSup>
                    <m:r>
                      <a:rPr lang="zh-CN" sz="3900" dirty="0">
                        <a:solidFill>
                          <a:srgbClr val="143D35"/>
                        </a:solidFill>
                        <a:latin typeface="Cambria Math"/>
                        <a:ea typeface="Cambria Math"/>
                        <a:cs typeface="Cambria Math"/>
                      </a:rPr>
                      <m:t> + </m:t>
                    </m:r>
                    <m:sSubSup>
                      <m:sSubSupPr>
                        <m:ctrlPr>
                          <a:rPr lang="zh-CN" sz="3900" dirty="0">
                            <a:solidFill>
                              <a:srgbClr val="143D35"/>
                            </a:solidFill>
                            <a:latin typeface="Cambria Math"/>
                            <a:ea typeface="Cambria Math"/>
                            <a:cs typeface="Cambria Math"/>
                          </a:rPr>
                        </m:ctrlPr>
                      </m:sSubSupPr>
                      <m:e>
                        <m:r>
                          <a:rPr lang="zh-CN" sz="3900" dirty="0">
                            <a:solidFill>
                              <a:srgbClr val="143D35"/>
                            </a:solidFill>
                            <a:latin typeface="Cambria Math"/>
                            <a:ea typeface="Cambria Math"/>
                            <a:cs typeface="Cambria Math"/>
                          </a:rPr>
                          <m:t>𝖦𝖧𝖦</m:t>
                        </m:r>
                      </m:e>
                      <m:sub>
                        <m:r>
                          <a:rPr lang="zh-CN" sz="3900" dirty="0">
                            <a:solidFill>
                              <a:srgbClr val="143D35"/>
                            </a:solidFill>
                            <a:latin typeface="Cambria Math"/>
                            <a:ea typeface="Cambria Math"/>
                            <a:cs typeface="Cambria Math"/>
                          </a:rPr>
                          <m:t>𝗂𝗃</m:t>
                        </m:r>
                      </m:sub>
                      <m:sup>
                        <m:r>
                          <a:rPr lang="zh-CN" sz="3900" dirty="0">
                            <a:solidFill>
                              <a:srgbClr val="143D35"/>
                            </a:solidFill>
                            <a:latin typeface="Cambria Math"/>
                            <a:ea typeface="Cambria Math"/>
                            <a:cs typeface="Cambria Math"/>
                          </a:rPr>
                          <m:t>𝖢𝗈𝗈𝗄</m:t>
                        </m:r>
                      </m:sup>
                    </m:sSubSup>
                  </m:oMath>
                </m:oMathPara>
              </a14:m>
              <a:endParaRPr/>
            </a:p>
          </p:txBody>
        </p:sp>
      </p:grpSp>
      <p:grpSp>
        <p:nvGrpSpPr>
          <p:cNvPr id="69" name="source-and-page"/>
          <p:cNvGrpSpPr/>
          <p:nvPr/>
        </p:nvGrpSpPr>
        <p:grpSpPr>
          <a:xfrm>
            <a:off x="526542" y="6305550"/>
            <a:ext cx="11132058" cy="346583"/>
            <a:chOff x="526542" y="6305550"/>
            <a:chExt cx="11132058" cy="346583"/>
          </a:xfrm>
        </p:grpSpPr>
        <p:sp>
          <p:nvSpPr>
            <p:cNvPr id="67" name="Line 67"/>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68" name="TextBox 68"/>
            <p:cNvSpPr txBox="1"/>
            <p:nvPr/>
          </p:nvSpPr>
          <p:spPr>
            <a:xfrm>
              <a:off x="526542" y="6388100"/>
              <a:ext cx="72359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Eqs.2–4｜示意图解释核算环节；公式与文字按来源精确排版</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01 / 问题与方法</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05 / 18</a:t>
              </a:r>
            </a:p>
          </p:txBody>
        </p:sp>
      </p:grpSp>
      <p:grpSp>
        <p:nvGrpSpPr>
          <p:cNvPr id="6" name="slide-title"/>
          <p:cNvGrpSpPr/>
          <p:nvPr/>
        </p:nvGrpSpPr>
        <p:grpSpPr>
          <a:xfrm>
            <a:off x="515112" y="622300"/>
            <a:ext cx="7790688" cy="704088"/>
            <a:chOff x="515112" y="622300"/>
            <a:chExt cx="7790688" cy="704088"/>
          </a:xfrm>
        </p:grpSpPr>
        <p:sp>
          <p:nvSpPr>
            <p:cNvPr id="5" name="TextBox 5"/>
            <p:cNvSpPr txBox="1"/>
            <p:nvPr/>
          </p:nvSpPr>
          <p:spPr>
            <a:xfrm>
              <a:off x="515112" y="622300"/>
              <a:ext cx="7790688"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评论文本与贝叶斯推断估计消费偏好</a:t>
              </a:r>
            </a:p>
          </p:txBody>
        </p:sp>
      </p:grpSp>
      <p:grpSp>
        <p:nvGrpSpPr>
          <p:cNvPr id="60" name="p05-main-evidence"/>
          <p:cNvGrpSpPr/>
          <p:nvPr/>
        </p:nvGrpSpPr>
        <p:grpSpPr>
          <a:xfrm>
            <a:off x="523494" y="1616075"/>
            <a:ext cx="11135106" cy="4587494"/>
            <a:chOff x="523494" y="1616075"/>
            <a:chExt cx="11135106" cy="4587494"/>
          </a:xfrm>
        </p:grpSpPr>
        <p:sp>
          <p:nvSpPr>
            <p:cNvPr id="7" name="TextBox 7"/>
            <p:cNvSpPr txBox="1"/>
            <p:nvPr/>
          </p:nvSpPr>
          <p:spPr>
            <a:xfrm>
              <a:off x="1349242" y="1616075"/>
              <a:ext cx="273316"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icrosoft YaHei"/>
                  <a:ea typeface="Microsoft YaHei"/>
                  <a:cs typeface="Microsoft YaHei"/>
                </a:rPr>
                <a:t>01</a:t>
              </a:r>
            </a:p>
          </p:txBody>
        </p:sp>
        <p:sp>
          <p:nvSpPr>
            <p:cNvPr id="8" name="Ellipse 8"/>
            <p:cNvSpPr/>
            <p:nvPr/>
          </p:nvSpPr>
          <p:spPr>
            <a:xfrm>
              <a:off x="895350" y="2038350"/>
              <a:ext cx="1181100" cy="1181100"/>
            </a:xfrm>
            <a:prstGeom prst="ellipse">
              <a:avLst/>
            </a:prstGeom>
            <a:solidFill>
              <a:schemeClr val="accent2">
                <a:alpha val="8000"/>
              </a:schemeClr>
            </a:solidFill>
            <a:ln>
              <a:noFill/>
            </a:ln>
          </p:spPr>
        </p:sp>
        <p:grpSp>
          <p:nvGrpSpPr>
            <p:cNvPr id="15" name="Group 15"/>
            <p:cNvGrpSpPr/>
            <p:nvPr/>
          </p:nvGrpSpPr>
          <p:grpSpPr>
            <a:xfrm>
              <a:off x="1173480" y="2286000"/>
              <a:ext cx="670560" cy="701040"/>
              <a:chOff x="1173480" y="2286000"/>
              <a:chExt cx="670560" cy="701040"/>
            </a:xfrm>
          </p:grpSpPr>
          <p:sp>
            <p:nvSpPr>
              <p:cNvPr id="9" name="Rectangle 9"/>
              <p:cNvSpPr/>
              <p:nvPr/>
            </p:nvSpPr>
            <p:spPr>
              <a:xfrm>
                <a:off x="1173480" y="2286000"/>
                <a:ext cx="259080" cy="182880"/>
              </a:xfrm>
              <a:prstGeom prst="roundRect">
                <a:avLst>
                  <a:gd name="adj" fmla="val 8333"/>
                </a:avLst>
              </a:prstGeom>
              <a:solidFill>
                <a:schemeClr val="lt2"/>
              </a:solidFill>
              <a:ln w="15240">
                <a:solidFill>
                  <a:schemeClr val="accent2"/>
                </a:solidFill>
              </a:ln>
            </p:spPr>
          </p:sp>
          <p:sp>
            <p:nvSpPr>
              <p:cNvPr id="10" name="Rectangle 10"/>
              <p:cNvSpPr/>
              <p:nvPr/>
            </p:nvSpPr>
            <p:spPr>
              <a:xfrm>
                <a:off x="1173480" y="2545080"/>
                <a:ext cx="259080" cy="182880"/>
              </a:xfrm>
              <a:prstGeom prst="roundRect">
                <a:avLst>
                  <a:gd name="adj" fmla="val 8333"/>
                </a:avLst>
              </a:prstGeom>
              <a:solidFill>
                <a:schemeClr val="lt2"/>
              </a:solidFill>
              <a:ln w="15240">
                <a:solidFill>
                  <a:schemeClr val="accent2"/>
                </a:solidFill>
              </a:ln>
            </p:spPr>
          </p:sp>
          <p:sp>
            <p:nvSpPr>
              <p:cNvPr id="11" name="Rectangle 11"/>
              <p:cNvSpPr/>
              <p:nvPr/>
            </p:nvSpPr>
            <p:spPr>
              <a:xfrm>
                <a:off x="1173480" y="2804160"/>
                <a:ext cx="259080" cy="182880"/>
              </a:xfrm>
              <a:prstGeom prst="roundRect">
                <a:avLst>
                  <a:gd name="adj" fmla="val 8333"/>
                </a:avLst>
              </a:prstGeom>
              <a:solidFill>
                <a:schemeClr val="lt2"/>
              </a:solidFill>
              <a:ln w="15240">
                <a:solidFill>
                  <a:schemeClr val="accent2"/>
                </a:solidFill>
              </a:ln>
            </p:spPr>
          </p:sp>
          <p:sp>
            <p:nvSpPr>
              <p:cNvPr id="12" name="Freeform 12"/>
              <p:cNvSpPr/>
              <p:nvPr/>
            </p:nvSpPr>
            <p:spPr>
              <a:xfrm>
                <a:off x="1463040" y="2377440"/>
                <a:ext cx="266700" cy="510540"/>
              </a:xfrm>
              <a:custGeom>
                <a:avLst/>
                <a:gdLst/>
                <a:ahLst/>
                <a:cxnLst/>
                <a:rect l="l" t="t" r="r" b="b"/>
                <a:pathLst>
                  <a:path w="266700" h="510540">
                    <a:moveTo>
                      <a:pt x="0" y="0"/>
                    </a:moveTo>
                    <a:lnTo>
                      <a:pt x="114300" y="0"/>
                    </a:lnTo>
                    <a:lnTo>
                      <a:pt x="114300" y="510540"/>
                    </a:lnTo>
                    <a:lnTo>
                      <a:pt x="0" y="510540"/>
                    </a:lnTo>
                    <a:moveTo>
                      <a:pt x="0" y="259080"/>
                    </a:moveTo>
                    <a:lnTo>
                      <a:pt x="266700" y="259080"/>
                    </a:lnTo>
                  </a:path>
                </a:pathLst>
              </a:custGeom>
              <a:noFill/>
              <a:ln w="22860" cap="rnd">
                <a:solidFill>
                  <a:schemeClr val="accent1"/>
                </a:solidFill>
                <a:round/>
              </a:ln>
            </p:spPr>
          </p:sp>
          <p:sp>
            <p:nvSpPr>
              <p:cNvPr id="13" name="Freeform 13"/>
              <p:cNvSpPr/>
              <p:nvPr/>
            </p:nvSpPr>
            <p:spPr>
              <a:xfrm>
                <a:off x="1668780" y="2567940"/>
                <a:ext cx="83820" cy="137160"/>
              </a:xfrm>
              <a:custGeom>
                <a:avLst/>
                <a:gdLst/>
                <a:ahLst/>
                <a:cxnLst/>
                <a:rect l="l" t="t" r="r" b="b"/>
                <a:pathLst>
                  <a:path w="83820" h="137160">
                    <a:moveTo>
                      <a:pt x="0" y="0"/>
                    </a:moveTo>
                    <a:lnTo>
                      <a:pt x="83820" y="68580"/>
                    </a:lnTo>
                    <a:lnTo>
                      <a:pt x="0" y="137160"/>
                    </a:lnTo>
                  </a:path>
                </a:pathLst>
              </a:custGeom>
              <a:noFill/>
              <a:ln w="22860" cap="rnd">
                <a:solidFill>
                  <a:schemeClr val="accent1"/>
                </a:solidFill>
                <a:round/>
              </a:ln>
            </p:spPr>
          </p:sp>
          <p:sp>
            <p:nvSpPr>
              <p:cNvPr id="14" name="Rectangle 14"/>
              <p:cNvSpPr/>
              <p:nvPr/>
            </p:nvSpPr>
            <p:spPr>
              <a:xfrm>
                <a:off x="1767840" y="2514600"/>
                <a:ext cx="76200" cy="243840"/>
              </a:xfrm>
              <a:prstGeom prst="roundRect">
                <a:avLst>
                  <a:gd name="adj" fmla="val 20000"/>
                </a:avLst>
              </a:prstGeom>
              <a:solidFill>
                <a:schemeClr val="accent2"/>
              </a:solidFill>
              <a:ln>
                <a:noFill/>
              </a:ln>
            </p:spPr>
          </p:sp>
        </p:grpSp>
        <p:sp>
          <p:nvSpPr>
            <p:cNvPr id="16" name="TextBox 16"/>
            <p:cNvSpPr txBox="1"/>
            <p:nvPr/>
          </p:nvSpPr>
          <p:spPr>
            <a:xfrm>
              <a:off x="864108" y="3340100"/>
              <a:ext cx="1243584" cy="888492"/>
            </a:xfrm>
            <a:prstGeom prst="rect">
              <a:avLst/>
            </a:prstGeom>
            <a:noFill/>
            <a:ln>
              <a:noFill/>
            </a:ln>
          </p:spPr>
          <p:txBody>
            <a:bodyPr wrap="none" lIns="0" tIns="0" rIns="0" bIns="0" anchor="t" anchorCtr="0">
              <a:spAutoFit/>
            </a:bodyPr>
            <a:lstStyle/>
            <a:p>
              <a:pPr algn="ctr">
                <a:lnSpc>
                  <a:spcPts val="3300"/>
                </a:lnSpc>
              </a:pPr>
              <a:r>
                <a:rPr lang="zh-CN" sz="2400" b="1" dirty="0">
                  <a:solidFill>
                    <a:schemeClr val="accent1"/>
                  </a:solidFill>
                  <a:latin typeface="Microsoft YaHei"/>
                  <a:ea typeface="Microsoft YaHei"/>
                  <a:cs typeface="Microsoft YaHei"/>
                </a:rPr>
                <a:t>菜名</a:t>
              </a:r>
              <a:br>
                <a:rPr lang="zh-CN" sz="2400" b="1" dirty="0">
                  <a:solidFill>
                    <a:schemeClr val="accent1"/>
                  </a:solidFill>
                  <a:latin typeface="Microsoft YaHei"/>
                  <a:ea typeface="Microsoft YaHei"/>
                  <a:cs typeface="Microsoft YaHei"/>
                </a:rPr>
              </a:br>
              <a:r>
                <a:rPr lang="zh-CN" sz="2400" b="1" dirty="0">
                  <a:solidFill>
                    <a:schemeClr val="accent1"/>
                  </a:solidFill>
                  <a:latin typeface="Microsoft YaHei"/>
                  <a:ea typeface="Microsoft YaHei"/>
                  <a:cs typeface="Microsoft YaHei"/>
                </a:rPr>
                <a:t>同义归并</a:t>
              </a:r>
            </a:p>
          </p:txBody>
        </p:sp>
        <p:sp>
          <p:nvSpPr>
            <p:cNvPr id="17" name="Line 17"/>
            <p:cNvSpPr/>
            <p:nvPr/>
          </p:nvSpPr>
          <p:spPr>
            <a:xfrm>
              <a:off x="2209800" y="2628900"/>
              <a:ext cx="819150" cy="1"/>
            </a:xfrm>
            <a:prstGeom prst="line">
              <a:avLst/>
            </a:prstGeom>
            <a:noFill/>
            <a:ln w="19050">
              <a:solidFill>
                <a:schemeClr val="accent2"/>
              </a:solidFill>
              <a:tailEnd type="triangle" w="lg" len="lg"/>
            </a:ln>
          </p:spPr>
        </p:sp>
        <p:sp>
          <p:nvSpPr>
            <p:cNvPr id="18" name="TextBox 18"/>
            <p:cNvSpPr txBox="1"/>
            <p:nvPr/>
          </p:nvSpPr>
          <p:spPr>
            <a:xfrm>
              <a:off x="3654292" y="1616075"/>
              <a:ext cx="273316"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icrosoft YaHei"/>
                  <a:ea typeface="Microsoft YaHei"/>
                  <a:cs typeface="Microsoft YaHei"/>
                </a:rPr>
                <a:t>02</a:t>
              </a:r>
            </a:p>
          </p:txBody>
        </p:sp>
        <p:sp>
          <p:nvSpPr>
            <p:cNvPr id="19" name="Ellipse 19"/>
            <p:cNvSpPr/>
            <p:nvPr/>
          </p:nvSpPr>
          <p:spPr>
            <a:xfrm>
              <a:off x="3200400" y="2038350"/>
              <a:ext cx="1181100" cy="1181100"/>
            </a:xfrm>
            <a:prstGeom prst="ellipse">
              <a:avLst/>
            </a:prstGeom>
            <a:solidFill>
              <a:schemeClr val="accent2">
                <a:alpha val="8000"/>
              </a:schemeClr>
            </a:solidFill>
            <a:ln>
              <a:noFill/>
            </a:ln>
          </p:spPr>
        </p:sp>
        <p:grpSp>
          <p:nvGrpSpPr>
            <p:cNvPr id="22" name="Group 22"/>
            <p:cNvGrpSpPr/>
            <p:nvPr/>
          </p:nvGrpSpPr>
          <p:grpSpPr>
            <a:xfrm>
              <a:off x="3463290" y="2339340"/>
              <a:ext cx="601980" cy="579120"/>
              <a:chOff x="3463290" y="2339340"/>
              <a:chExt cx="601980" cy="579120"/>
            </a:xfrm>
          </p:grpSpPr>
          <p:sp>
            <p:nvSpPr>
              <p:cNvPr id="20" name="Freeform 20"/>
              <p:cNvSpPr/>
              <p:nvPr/>
            </p:nvSpPr>
            <p:spPr>
              <a:xfrm>
                <a:off x="3463290" y="2339340"/>
                <a:ext cx="601980" cy="579120"/>
              </a:xfrm>
              <a:custGeom>
                <a:avLst/>
                <a:gdLst/>
                <a:ahLst/>
                <a:cxnLst/>
                <a:rect l="l" t="t" r="r" b="b"/>
                <a:pathLst>
                  <a:path w="601980" h="579120">
                    <a:moveTo>
                      <a:pt x="0" y="0"/>
                    </a:moveTo>
                    <a:lnTo>
                      <a:pt x="601980" y="0"/>
                    </a:lnTo>
                    <a:lnTo>
                      <a:pt x="601980" y="441960"/>
                    </a:lnTo>
                    <a:lnTo>
                      <a:pt x="304800" y="441960"/>
                    </a:lnTo>
                    <a:lnTo>
                      <a:pt x="129540" y="579120"/>
                    </a:lnTo>
                    <a:lnTo>
                      <a:pt x="129540" y="441960"/>
                    </a:lnTo>
                    <a:lnTo>
                      <a:pt x="0" y="441960"/>
                    </a:lnTo>
                    <a:close/>
                  </a:path>
                </a:pathLst>
              </a:custGeom>
              <a:solidFill>
                <a:schemeClr val="lt2"/>
              </a:solidFill>
              <a:ln w="22860" cap="rnd">
                <a:solidFill>
                  <a:schemeClr val="accent1"/>
                </a:solidFill>
                <a:round/>
              </a:ln>
            </p:spPr>
          </p:sp>
          <p:sp>
            <p:nvSpPr>
              <p:cNvPr id="21" name="Freeform 21"/>
              <p:cNvSpPr/>
              <p:nvPr/>
            </p:nvSpPr>
            <p:spPr>
              <a:xfrm>
                <a:off x="3577590" y="2468880"/>
                <a:ext cx="365760" cy="198120"/>
              </a:xfrm>
              <a:custGeom>
                <a:avLst/>
                <a:gdLst/>
                <a:ahLst/>
                <a:cxnLst/>
                <a:rect l="l" t="t" r="r" b="b"/>
                <a:pathLst>
                  <a:path w="365760" h="198120">
                    <a:moveTo>
                      <a:pt x="0" y="0"/>
                    </a:moveTo>
                    <a:lnTo>
                      <a:pt x="365760" y="0"/>
                    </a:lnTo>
                    <a:moveTo>
                      <a:pt x="0" y="99060"/>
                    </a:moveTo>
                    <a:lnTo>
                      <a:pt x="297180" y="99060"/>
                    </a:lnTo>
                    <a:moveTo>
                      <a:pt x="0" y="198120"/>
                    </a:moveTo>
                    <a:lnTo>
                      <a:pt x="365760" y="198120"/>
                    </a:lnTo>
                  </a:path>
                </a:pathLst>
              </a:custGeom>
              <a:noFill/>
              <a:ln w="38100" cap="rnd">
                <a:solidFill>
                  <a:schemeClr val="accent2"/>
                </a:solidFill>
                <a:round/>
              </a:ln>
            </p:spPr>
          </p:sp>
        </p:grpSp>
        <p:sp>
          <p:nvSpPr>
            <p:cNvPr id="23" name="TextBox 23"/>
            <p:cNvSpPr txBox="1"/>
            <p:nvPr/>
          </p:nvSpPr>
          <p:spPr>
            <a:xfrm>
              <a:off x="3473958" y="3340100"/>
              <a:ext cx="633984" cy="888492"/>
            </a:xfrm>
            <a:prstGeom prst="rect">
              <a:avLst/>
            </a:prstGeom>
            <a:noFill/>
            <a:ln>
              <a:noFill/>
            </a:ln>
          </p:spPr>
          <p:txBody>
            <a:bodyPr wrap="none" lIns="0" tIns="0" rIns="0" bIns="0" anchor="t" anchorCtr="0">
              <a:spAutoFit/>
            </a:bodyPr>
            <a:lstStyle/>
            <a:p>
              <a:pPr algn="ctr">
                <a:lnSpc>
                  <a:spcPts val="3300"/>
                </a:lnSpc>
              </a:pPr>
              <a:r>
                <a:rPr lang="zh-CN" sz="2400" b="1" dirty="0">
                  <a:solidFill>
                    <a:schemeClr val="accent1"/>
                  </a:solidFill>
                  <a:latin typeface="Microsoft YaHei"/>
                  <a:ea typeface="Microsoft YaHei"/>
                  <a:cs typeface="Microsoft YaHei"/>
                </a:rPr>
                <a:t>评论</a:t>
              </a:r>
              <a:br>
                <a:rPr lang="zh-CN" sz="2400" b="1" dirty="0">
                  <a:solidFill>
                    <a:schemeClr val="accent1"/>
                  </a:solidFill>
                  <a:latin typeface="Microsoft YaHei"/>
                  <a:ea typeface="Microsoft YaHei"/>
                  <a:cs typeface="Microsoft YaHei"/>
                </a:rPr>
              </a:br>
              <a:r>
                <a:rPr lang="zh-CN" sz="2400" b="1" dirty="0">
                  <a:solidFill>
                    <a:schemeClr val="accent1"/>
                  </a:solidFill>
                  <a:latin typeface="Microsoft YaHei"/>
                  <a:ea typeface="Microsoft YaHei"/>
                  <a:cs typeface="Microsoft YaHei"/>
                </a:rPr>
                <a:t>频次</a:t>
              </a:r>
            </a:p>
          </p:txBody>
        </p:sp>
        <p:sp>
          <p:nvSpPr>
            <p:cNvPr id="24" name="Line 24"/>
            <p:cNvSpPr/>
            <p:nvPr/>
          </p:nvSpPr>
          <p:spPr>
            <a:xfrm>
              <a:off x="4514850" y="2628900"/>
              <a:ext cx="819150" cy="1"/>
            </a:xfrm>
            <a:prstGeom prst="line">
              <a:avLst/>
            </a:prstGeom>
            <a:noFill/>
            <a:ln w="19050">
              <a:solidFill>
                <a:schemeClr val="accent2"/>
              </a:solidFill>
              <a:tailEnd type="triangle" w="lg" len="lg"/>
            </a:ln>
          </p:spPr>
        </p:sp>
        <p:sp>
          <p:nvSpPr>
            <p:cNvPr id="25" name="TextBox 25"/>
            <p:cNvSpPr txBox="1"/>
            <p:nvPr/>
          </p:nvSpPr>
          <p:spPr>
            <a:xfrm>
              <a:off x="5959342" y="1616075"/>
              <a:ext cx="273316"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icrosoft YaHei"/>
                  <a:ea typeface="Microsoft YaHei"/>
                  <a:cs typeface="Microsoft YaHei"/>
                </a:rPr>
                <a:t>03</a:t>
              </a:r>
            </a:p>
          </p:txBody>
        </p:sp>
        <p:sp>
          <p:nvSpPr>
            <p:cNvPr id="26" name="Ellipse 26"/>
            <p:cNvSpPr/>
            <p:nvPr/>
          </p:nvSpPr>
          <p:spPr>
            <a:xfrm>
              <a:off x="5505450" y="2038350"/>
              <a:ext cx="1181100" cy="1181100"/>
            </a:xfrm>
            <a:prstGeom prst="ellipse">
              <a:avLst/>
            </a:prstGeom>
            <a:solidFill>
              <a:schemeClr val="accent2">
                <a:alpha val="8000"/>
              </a:schemeClr>
            </a:solidFill>
            <a:ln>
              <a:noFill/>
            </a:ln>
          </p:spPr>
        </p:sp>
        <p:grpSp>
          <p:nvGrpSpPr>
            <p:cNvPr id="32" name="Group 32"/>
            <p:cNvGrpSpPr/>
            <p:nvPr/>
          </p:nvGrpSpPr>
          <p:grpSpPr>
            <a:xfrm>
              <a:off x="5768340" y="2301240"/>
              <a:ext cx="670560" cy="655320"/>
              <a:chOff x="5768340" y="2301240"/>
              <a:chExt cx="670560" cy="655320"/>
            </a:xfrm>
          </p:grpSpPr>
          <p:sp>
            <p:nvSpPr>
              <p:cNvPr id="27" name="Ellipse 27"/>
              <p:cNvSpPr/>
              <p:nvPr/>
            </p:nvSpPr>
            <p:spPr>
              <a:xfrm>
                <a:off x="5768340" y="2545080"/>
                <a:ext cx="167640" cy="167640"/>
              </a:xfrm>
              <a:prstGeom prst="ellipse">
                <a:avLst/>
              </a:prstGeom>
              <a:solidFill>
                <a:schemeClr val="accent1"/>
              </a:solidFill>
              <a:ln>
                <a:noFill/>
              </a:ln>
            </p:spPr>
          </p:sp>
          <p:sp>
            <p:nvSpPr>
              <p:cNvPr id="28" name="Freeform 28"/>
              <p:cNvSpPr/>
              <p:nvPr/>
            </p:nvSpPr>
            <p:spPr>
              <a:xfrm>
                <a:off x="5943600" y="2377440"/>
                <a:ext cx="342900" cy="502920"/>
              </a:xfrm>
              <a:custGeom>
                <a:avLst/>
                <a:gdLst/>
                <a:ahLst/>
                <a:cxnLst/>
                <a:rect l="l" t="t" r="r" b="b"/>
                <a:pathLst>
                  <a:path w="342900" h="502920">
                    <a:moveTo>
                      <a:pt x="0" y="251460"/>
                    </a:moveTo>
                    <a:lnTo>
                      <a:pt x="144780" y="251460"/>
                    </a:lnTo>
                    <a:lnTo>
                      <a:pt x="144780" y="0"/>
                    </a:lnTo>
                    <a:lnTo>
                      <a:pt x="342900" y="0"/>
                    </a:lnTo>
                    <a:moveTo>
                      <a:pt x="144780" y="251460"/>
                    </a:moveTo>
                    <a:lnTo>
                      <a:pt x="342900" y="251460"/>
                    </a:lnTo>
                    <a:moveTo>
                      <a:pt x="144780" y="251460"/>
                    </a:moveTo>
                    <a:lnTo>
                      <a:pt x="144780" y="502920"/>
                    </a:lnTo>
                    <a:lnTo>
                      <a:pt x="342900" y="502920"/>
                    </a:lnTo>
                  </a:path>
                </a:pathLst>
              </a:custGeom>
              <a:noFill/>
              <a:ln w="30480" cap="rnd">
                <a:solidFill>
                  <a:schemeClr val="accent2"/>
                </a:solidFill>
                <a:round/>
              </a:ln>
            </p:spPr>
          </p:sp>
          <p:sp>
            <p:nvSpPr>
              <p:cNvPr id="29" name="Ellipse 29"/>
              <p:cNvSpPr/>
              <p:nvPr/>
            </p:nvSpPr>
            <p:spPr>
              <a:xfrm>
                <a:off x="6286500" y="2301240"/>
                <a:ext cx="152400" cy="152400"/>
              </a:xfrm>
              <a:prstGeom prst="ellipse">
                <a:avLst/>
              </a:prstGeom>
              <a:solidFill>
                <a:schemeClr val="accent2"/>
              </a:solidFill>
              <a:ln>
                <a:noFill/>
              </a:ln>
            </p:spPr>
          </p:sp>
          <p:sp>
            <p:nvSpPr>
              <p:cNvPr id="30" name="Ellipse 30"/>
              <p:cNvSpPr/>
              <p:nvPr/>
            </p:nvSpPr>
            <p:spPr>
              <a:xfrm>
                <a:off x="6286500" y="2552700"/>
                <a:ext cx="152400" cy="152400"/>
              </a:xfrm>
              <a:prstGeom prst="ellipse">
                <a:avLst/>
              </a:prstGeom>
              <a:solidFill>
                <a:schemeClr val="accent2"/>
              </a:solidFill>
              <a:ln>
                <a:noFill/>
              </a:ln>
            </p:spPr>
          </p:sp>
          <p:sp>
            <p:nvSpPr>
              <p:cNvPr id="31" name="Ellipse 31"/>
              <p:cNvSpPr/>
              <p:nvPr/>
            </p:nvSpPr>
            <p:spPr>
              <a:xfrm>
                <a:off x="6286500" y="2804160"/>
                <a:ext cx="152400" cy="152400"/>
              </a:xfrm>
              <a:prstGeom prst="ellipse">
                <a:avLst/>
              </a:prstGeom>
              <a:solidFill>
                <a:schemeClr val="accent2"/>
              </a:solidFill>
              <a:ln>
                <a:noFill/>
              </a:ln>
            </p:spPr>
          </p:sp>
        </p:grpSp>
        <p:sp>
          <p:nvSpPr>
            <p:cNvPr id="33" name="TextBox 33"/>
            <p:cNvSpPr txBox="1"/>
            <p:nvPr/>
          </p:nvSpPr>
          <p:spPr>
            <a:xfrm>
              <a:off x="5626608" y="3340100"/>
              <a:ext cx="938784" cy="888492"/>
            </a:xfrm>
            <a:prstGeom prst="rect">
              <a:avLst/>
            </a:prstGeom>
            <a:noFill/>
            <a:ln>
              <a:noFill/>
            </a:ln>
          </p:spPr>
          <p:txBody>
            <a:bodyPr wrap="none" lIns="0" tIns="0" rIns="0" bIns="0" anchor="t" anchorCtr="0">
              <a:spAutoFit/>
            </a:bodyPr>
            <a:lstStyle/>
            <a:p>
              <a:pPr algn="ctr">
                <a:lnSpc>
                  <a:spcPts val="3300"/>
                </a:lnSpc>
              </a:pPr>
              <a:r>
                <a:rPr lang="zh-CN" sz="2400" b="1" dirty="0">
                  <a:solidFill>
                    <a:schemeClr val="accent1"/>
                  </a:solidFill>
                  <a:latin typeface="Microsoft YaHei"/>
                  <a:ea typeface="Microsoft YaHei"/>
                  <a:cs typeface="Microsoft YaHei"/>
                </a:rPr>
                <a:t>贝叶斯</a:t>
              </a:r>
              <a:br>
                <a:rPr lang="zh-CN" sz="2400" b="1" dirty="0">
                  <a:solidFill>
                    <a:schemeClr val="accent1"/>
                  </a:solidFill>
                  <a:latin typeface="Microsoft YaHei"/>
                  <a:ea typeface="Microsoft YaHei"/>
                  <a:cs typeface="Microsoft YaHei"/>
                </a:rPr>
              </a:br>
              <a:r>
                <a:rPr lang="zh-CN" sz="2400" b="1" dirty="0">
                  <a:solidFill>
                    <a:schemeClr val="accent1"/>
                  </a:solidFill>
                  <a:latin typeface="Microsoft YaHei"/>
                  <a:ea typeface="Microsoft YaHei"/>
                  <a:cs typeface="Microsoft YaHei"/>
                </a:rPr>
                <a:t>推断</a:t>
              </a:r>
            </a:p>
          </p:txBody>
        </p:sp>
        <p:sp>
          <p:nvSpPr>
            <p:cNvPr id="34" name="Line 34"/>
            <p:cNvSpPr/>
            <p:nvPr/>
          </p:nvSpPr>
          <p:spPr>
            <a:xfrm>
              <a:off x="6819900" y="2628900"/>
              <a:ext cx="819150" cy="1"/>
            </a:xfrm>
            <a:prstGeom prst="line">
              <a:avLst/>
            </a:prstGeom>
            <a:noFill/>
            <a:ln w="19050">
              <a:solidFill>
                <a:schemeClr val="accent2"/>
              </a:solidFill>
              <a:tailEnd type="triangle" w="lg" len="lg"/>
            </a:ln>
          </p:spPr>
        </p:sp>
        <p:sp>
          <p:nvSpPr>
            <p:cNvPr id="35" name="TextBox 35"/>
            <p:cNvSpPr txBox="1"/>
            <p:nvPr/>
          </p:nvSpPr>
          <p:spPr>
            <a:xfrm>
              <a:off x="8264392" y="1616075"/>
              <a:ext cx="273316"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icrosoft YaHei"/>
                  <a:ea typeface="Microsoft YaHei"/>
                  <a:cs typeface="Microsoft YaHei"/>
                </a:rPr>
                <a:t>04</a:t>
              </a:r>
            </a:p>
          </p:txBody>
        </p:sp>
        <p:sp>
          <p:nvSpPr>
            <p:cNvPr id="36" name="Ellipse 36"/>
            <p:cNvSpPr/>
            <p:nvPr/>
          </p:nvSpPr>
          <p:spPr>
            <a:xfrm>
              <a:off x="7810500" y="2038350"/>
              <a:ext cx="1181100" cy="1181100"/>
            </a:xfrm>
            <a:prstGeom prst="ellipse">
              <a:avLst/>
            </a:prstGeom>
            <a:solidFill>
              <a:schemeClr val="accent2">
                <a:alpha val="8000"/>
              </a:schemeClr>
            </a:solidFill>
            <a:ln>
              <a:noFill/>
            </a:ln>
          </p:spPr>
        </p:sp>
        <p:grpSp>
          <p:nvGrpSpPr>
            <p:cNvPr id="41" name="Group 41"/>
            <p:cNvGrpSpPr/>
            <p:nvPr/>
          </p:nvGrpSpPr>
          <p:grpSpPr>
            <a:xfrm>
              <a:off x="8149590" y="2255520"/>
              <a:ext cx="518160" cy="708660"/>
              <a:chOff x="8149590" y="2255520"/>
              <a:chExt cx="518160" cy="708660"/>
            </a:xfrm>
          </p:grpSpPr>
          <p:sp>
            <p:nvSpPr>
              <p:cNvPr id="37" name="Rectangle 37"/>
              <p:cNvSpPr/>
              <p:nvPr/>
            </p:nvSpPr>
            <p:spPr>
              <a:xfrm>
                <a:off x="8149590" y="2293620"/>
                <a:ext cx="518160" cy="670560"/>
              </a:xfrm>
              <a:prstGeom prst="roundRect">
                <a:avLst>
                  <a:gd name="adj" fmla="val 2941"/>
                </a:avLst>
              </a:prstGeom>
              <a:solidFill>
                <a:schemeClr val="lt2"/>
              </a:solidFill>
              <a:ln w="22860">
                <a:solidFill>
                  <a:schemeClr val="accent1"/>
                </a:solidFill>
              </a:ln>
            </p:spPr>
          </p:sp>
          <p:sp>
            <p:nvSpPr>
              <p:cNvPr id="38" name="Rectangle 38"/>
              <p:cNvSpPr/>
              <p:nvPr/>
            </p:nvSpPr>
            <p:spPr>
              <a:xfrm>
                <a:off x="8271510" y="2255520"/>
                <a:ext cx="274320" cy="106680"/>
              </a:xfrm>
              <a:prstGeom prst="roundRect">
                <a:avLst>
                  <a:gd name="adj" fmla="val 14286"/>
                </a:avLst>
              </a:prstGeom>
              <a:solidFill>
                <a:schemeClr val="accent2"/>
              </a:solidFill>
              <a:ln>
                <a:noFill/>
              </a:ln>
            </p:spPr>
          </p:sp>
          <p:sp>
            <p:nvSpPr>
              <p:cNvPr id="39" name="Freeform 39"/>
              <p:cNvSpPr/>
              <p:nvPr/>
            </p:nvSpPr>
            <p:spPr>
              <a:xfrm>
                <a:off x="8378190" y="2484120"/>
                <a:ext cx="190500" cy="342900"/>
              </a:xfrm>
              <a:custGeom>
                <a:avLst/>
                <a:gdLst/>
                <a:ahLst/>
                <a:cxnLst/>
                <a:rect l="l" t="t" r="r" b="b"/>
                <a:pathLst>
                  <a:path w="190500" h="342900">
                    <a:moveTo>
                      <a:pt x="0" y="0"/>
                    </a:moveTo>
                    <a:lnTo>
                      <a:pt x="190500" y="0"/>
                    </a:lnTo>
                    <a:moveTo>
                      <a:pt x="0" y="167640"/>
                    </a:moveTo>
                    <a:lnTo>
                      <a:pt x="190500" y="167640"/>
                    </a:lnTo>
                    <a:moveTo>
                      <a:pt x="0" y="342900"/>
                    </a:moveTo>
                    <a:lnTo>
                      <a:pt x="190500" y="342900"/>
                    </a:lnTo>
                  </a:path>
                </a:pathLst>
              </a:custGeom>
              <a:noFill/>
              <a:ln w="22860" cap="rnd">
                <a:solidFill>
                  <a:schemeClr val="accent1"/>
                </a:solidFill>
                <a:round/>
              </a:ln>
            </p:spPr>
          </p:sp>
          <p:sp>
            <p:nvSpPr>
              <p:cNvPr id="40" name="Freeform 40"/>
              <p:cNvSpPr/>
              <p:nvPr/>
            </p:nvSpPr>
            <p:spPr>
              <a:xfrm>
                <a:off x="8210550" y="2438400"/>
                <a:ext cx="106680" cy="426720"/>
              </a:xfrm>
              <a:custGeom>
                <a:avLst/>
                <a:gdLst/>
                <a:ahLst/>
                <a:cxnLst/>
                <a:rect l="l" t="t" r="r" b="b"/>
                <a:pathLst>
                  <a:path w="106680" h="426720">
                    <a:moveTo>
                      <a:pt x="0" y="38100"/>
                    </a:moveTo>
                    <a:lnTo>
                      <a:pt x="45720" y="83820"/>
                    </a:lnTo>
                    <a:lnTo>
                      <a:pt x="106680" y="0"/>
                    </a:lnTo>
                    <a:moveTo>
                      <a:pt x="0" y="205740"/>
                    </a:moveTo>
                    <a:lnTo>
                      <a:pt x="45720" y="251460"/>
                    </a:lnTo>
                    <a:lnTo>
                      <a:pt x="106680" y="167640"/>
                    </a:lnTo>
                    <a:moveTo>
                      <a:pt x="0" y="381000"/>
                    </a:moveTo>
                    <a:lnTo>
                      <a:pt x="45720" y="426720"/>
                    </a:lnTo>
                    <a:lnTo>
                      <a:pt x="106680" y="342900"/>
                    </a:lnTo>
                  </a:path>
                </a:pathLst>
              </a:custGeom>
              <a:noFill/>
              <a:ln w="30480" cap="rnd">
                <a:solidFill>
                  <a:schemeClr val="accent2"/>
                </a:solidFill>
                <a:round/>
              </a:ln>
            </p:spPr>
          </p:sp>
        </p:grpSp>
        <p:sp>
          <p:nvSpPr>
            <p:cNvPr id="42" name="TextBox 42"/>
            <p:cNvSpPr txBox="1"/>
            <p:nvPr/>
          </p:nvSpPr>
          <p:spPr>
            <a:xfrm>
              <a:off x="7931658" y="3340100"/>
              <a:ext cx="938784" cy="888492"/>
            </a:xfrm>
            <a:prstGeom prst="rect">
              <a:avLst/>
            </a:prstGeom>
            <a:noFill/>
            <a:ln>
              <a:noFill/>
            </a:ln>
          </p:spPr>
          <p:txBody>
            <a:bodyPr wrap="none" lIns="0" tIns="0" rIns="0" bIns="0" anchor="t" anchorCtr="0">
              <a:spAutoFit/>
            </a:bodyPr>
            <a:lstStyle/>
            <a:p>
              <a:pPr algn="ctr">
                <a:lnSpc>
                  <a:spcPts val="3300"/>
                </a:lnSpc>
              </a:pPr>
              <a:r>
                <a:rPr lang="zh-CN" sz="2400" b="1" dirty="0">
                  <a:solidFill>
                    <a:schemeClr val="accent1"/>
                  </a:solidFill>
                  <a:latin typeface="Microsoft YaHei"/>
                  <a:ea typeface="Microsoft YaHei"/>
                  <a:cs typeface="Microsoft YaHei"/>
                </a:rPr>
                <a:t>消费量</a:t>
              </a:r>
              <a:br>
                <a:rPr lang="zh-CN" sz="2400" b="1" dirty="0">
                  <a:solidFill>
                    <a:schemeClr val="accent1"/>
                  </a:solidFill>
                  <a:latin typeface="Microsoft YaHei"/>
                  <a:ea typeface="Microsoft YaHei"/>
                  <a:cs typeface="Microsoft YaHei"/>
                </a:rPr>
              </a:br>
              <a:r>
                <a:rPr lang="zh-CN" sz="2400" b="1" dirty="0">
                  <a:solidFill>
                    <a:schemeClr val="accent1"/>
                  </a:solidFill>
                  <a:latin typeface="Microsoft YaHei"/>
                  <a:ea typeface="Microsoft YaHei"/>
                  <a:cs typeface="Microsoft YaHei"/>
                </a:rPr>
                <a:t>估计</a:t>
              </a:r>
            </a:p>
          </p:txBody>
        </p:sp>
        <p:sp>
          <p:nvSpPr>
            <p:cNvPr id="43" name="Line 43"/>
            <p:cNvSpPr/>
            <p:nvPr/>
          </p:nvSpPr>
          <p:spPr>
            <a:xfrm>
              <a:off x="9124950" y="2628900"/>
              <a:ext cx="819150" cy="1"/>
            </a:xfrm>
            <a:prstGeom prst="line">
              <a:avLst/>
            </a:prstGeom>
            <a:noFill/>
            <a:ln w="19050">
              <a:solidFill>
                <a:schemeClr val="accent2"/>
              </a:solidFill>
              <a:tailEnd type="triangle" w="lg" len="lg"/>
            </a:ln>
          </p:spPr>
        </p:sp>
        <p:sp>
          <p:nvSpPr>
            <p:cNvPr id="44" name="TextBox 44"/>
            <p:cNvSpPr txBox="1"/>
            <p:nvPr/>
          </p:nvSpPr>
          <p:spPr>
            <a:xfrm>
              <a:off x="10569442" y="1616075"/>
              <a:ext cx="273316"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icrosoft YaHei"/>
                  <a:ea typeface="Microsoft YaHei"/>
                  <a:cs typeface="Microsoft YaHei"/>
                </a:rPr>
                <a:t>05</a:t>
              </a:r>
            </a:p>
          </p:txBody>
        </p:sp>
        <p:sp>
          <p:nvSpPr>
            <p:cNvPr id="45" name="Ellipse 45"/>
            <p:cNvSpPr/>
            <p:nvPr/>
          </p:nvSpPr>
          <p:spPr>
            <a:xfrm>
              <a:off x="10115550" y="2038350"/>
              <a:ext cx="1181100" cy="1181100"/>
            </a:xfrm>
            <a:prstGeom prst="ellipse">
              <a:avLst/>
            </a:prstGeom>
            <a:solidFill>
              <a:schemeClr val="accent2">
                <a:alpha val="8000"/>
              </a:schemeClr>
            </a:solidFill>
            <a:ln>
              <a:noFill/>
            </a:ln>
          </p:spPr>
        </p:sp>
        <p:grpSp>
          <p:nvGrpSpPr>
            <p:cNvPr id="54" name="Group 54"/>
            <p:cNvGrpSpPr/>
            <p:nvPr/>
          </p:nvGrpSpPr>
          <p:grpSpPr>
            <a:xfrm>
              <a:off x="10340340" y="2308860"/>
              <a:ext cx="731520" cy="664845"/>
              <a:chOff x="10340340" y="2308860"/>
              <a:chExt cx="731520" cy="664845"/>
            </a:xfrm>
          </p:grpSpPr>
          <p:sp>
            <p:nvSpPr>
              <p:cNvPr id="46" name="Freeform 46"/>
              <p:cNvSpPr/>
              <p:nvPr/>
            </p:nvSpPr>
            <p:spPr>
              <a:xfrm>
                <a:off x="10347960" y="2453640"/>
                <a:ext cx="358140" cy="167640"/>
              </a:xfrm>
              <a:custGeom>
                <a:avLst/>
                <a:gdLst/>
                <a:ahLst/>
                <a:cxnLst/>
                <a:rect l="l" t="t" r="r" b="b"/>
                <a:pathLst>
                  <a:path w="358140" h="167640">
                    <a:moveTo>
                      <a:pt x="0" y="167640"/>
                    </a:moveTo>
                    <a:lnTo>
                      <a:pt x="182880" y="0"/>
                    </a:lnTo>
                    <a:lnTo>
                      <a:pt x="358140" y="167640"/>
                    </a:lnTo>
                    <a:close/>
                  </a:path>
                </a:pathLst>
              </a:custGeom>
              <a:solidFill>
                <a:schemeClr val="accent2"/>
              </a:solidFill>
              <a:ln>
                <a:noFill/>
              </a:ln>
            </p:spPr>
          </p:sp>
          <p:sp>
            <p:nvSpPr>
              <p:cNvPr id="47" name="Rectangle 47"/>
              <p:cNvSpPr/>
              <p:nvPr/>
            </p:nvSpPr>
            <p:spPr>
              <a:xfrm>
                <a:off x="10386060" y="2621280"/>
                <a:ext cx="281940" cy="304800"/>
              </a:xfrm>
              <a:prstGeom prst="roundRect">
                <a:avLst>
                  <a:gd name="adj" fmla="val 5405"/>
                </a:avLst>
              </a:prstGeom>
              <a:solidFill>
                <a:schemeClr val="lt2"/>
              </a:solidFill>
              <a:ln w="15240">
                <a:solidFill>
                  <a:schemeClr val="accent1"/>
                </a:solidFill>
              </a:ln>
            </p:spPr>
          </p:sp>
          <p:sp>
            <p:nvSpPr>
              <p:cNvPr id="48" name="Freeform 48"/>
              <p:cNvSpPr/>
              <p:nvPr/>
            </p:nvSpPr>
            <p:spPr>
              <a:xfrm>
                <a:off x="10660380" y="2308860"/>
                <a:ext cx="388620" cy="182880"/>
              </a:xfrm>
              <a:custGeom>
                <a:avLst/>
                <a:gdLst/>
                <a:ahLst/>
                <a:cxnLst/>
                <a:rect l="l" t="t" r="r" b="b"/>
                <a:pathLst>
                  <a:path w="388620" h="182880">
                    <a:moveTo>
                      <a:pt x="0" y="182880"/>
                    </a:moveTo>
                    <a:lnTo>
                      <a:pt x="190500" y="0"/>
                    </a:lnTo>
                    <a:lnTo>
                      <a:pt x="388620" y="182880"/>
                    </a:lnTo>
                    <a:close/>
                  </a:path>
                </a:pathLst>
              </a:custGeom>
              <a:solidFill>
                <a:schemeClr val="accent1"/>
              </a:solidFill>
              <a:ln>
                <a:noFill/>
              </a:ln>
            </p:spPr>
          </p:sp>
          <p:sp>
            <p:nvSpPr>
              <p:cNvPr id="49" name="Rectangle 49"/>
              <p:cNvSpPr/>
              <p:nvPr/>
            </p:nvSpPr>
            <p:spPr>
              <a:xfrm>
                <a:off x="10698480" y="2491740"/>
                <a:ext cx="312420" cy="434340"/>
              </a:xfrm>
              <a:prstGeom prst="roundRect">
                <a:avLst>
                  <a:gd name="adj" fmla="val 4878"/>
                </a:avLst>
              </a:prstGeom>
              <a:solidFill>
                <a:schemeClr val="lt2"/>
              </a:solidFill>
              <a:ln w="15240">
                <a:solidFill>
                  <a:schemeClr val="accent1"/>
                </a:solidFill>
              </a:ln>
            </p:spPr>
          </p:sp>
          <p:sp>
            <p:nvSpPr>
              <p:cNvPr id="50" name="Rectangle 50"/>
              <p:cNvSpPr/>
              <p:nvPr/>
            </p:nvSpPr>
            <p:spPr>
              <a:xfrm>
                <a:off x="10469880" y="2750820"/>
                <a:ext cx="99060" cy="175260"/>
              </a:xfrm>
              <a:prstGeom prst="roundRect">
                <a:avLst>
                  <a:gd name="adj" fmla="val 15385"/>
                </a:avLst>
              </a:prstGeom>
              <a:solidFill>
                <a:schemeClr val="accent2"/>
              </a:solidFill>
              <a:ln>
                <a:noFill/>
              </a:ln>
            </p:spPr>
          </p:sp>
          <p:sp>
            <p:nvSpPr>
              <p:cNvPr id="51" name="Rectangle 51"/>
              <p:cNvSpPr/>
              <p:nvPr/>
            </p:nvSpPr>
            <p:spPr>
              <a:xfrm>
                <a:off x="10789920" y="2720340"/>
                <a:ext cx="114300" cy="205740"/>
              </a:xfrm>
              <a:prstGeom prst="roundRect">
                <a:avLst>
                  <a:gd name="adj" fmla="val 13333"/>
                </a:avLst>
              </a:prstGeom>
              <a:solidFill>
                <a:schemeClr val="accent2"/>
              </a:solidFill>
              <a:ln>
                <a:noFill/>
              </a:ln>
            </p:spPr>
          </p:sp>
          <p:sp>
            <p:nvSpPr>
              <p:cNvPr id="52" name="Rectangle 52"/>
              <p:cNvSpPr/>
              <p:nvPr/>
            </p:nvSpPr>
            <p:spPr>
              <a:xfrm>
                <a:off x="10782300" y="2552700"/>
                <a:ext cx="91440" cy="91440"/>
              </a:xfrm>
              <a:prstGeom prst="roundRect">
                <a:avLst>
                  <a:gd name="adj" fmla="val 16667"/>
                </a:avLst>
              </a:prstGeom>
              <a:solidFill>
                <a:schemeClr val="accent2"/>
              </a:solidFill>
              <a:ln>
                <a:noFill/>
              </a:ln>
            </p:spPr>
          </p:sp>
          <p:sp>
            <p:nvSpPr>
              <p:cNvPr id="53" name="Freeform 53"/>
              <p:cNvSpPr/>
              <p:nvPr/>
            </p:nvSpPr>
            <p:spPr>
              <a:xfrm>
                <a:off x="10340340" y="2964180"/>
                <a:ext cx="731520" cy="9525"/>
              </a:xfrm>
              <a:custGeom>
                <a:avLst/>
                <a:gdLst/>
                <a:ahLst/>
                <a:cxnLst/>
                <a:rect l="l" t="t" r="r" b="b"/>
                <a:pathLst>
                  <a:path w="731520" h="9525">
                    <a:moveTo>
                      <a:pt x="0" y="0"/>
                    </a:moveTo>
                    <a:lnTo>
                      <a:pt x="731520" y="0"/>
                    </a:lnTo>
                  </a:path>
                </a:pathLst>
              </a:custGeom>
              <a:noFill/>
              <a:ln w="30480" cap="rnd">
                <a:solidFill>
                  <a:schemeClr val="accent1"/>
                </a:solidFill>
                <a:round/>
              </a:ln>
            </p:spPr>
          </p:sp>
        </p:grpSp>
        <p:sp>
          <p:nvSpPr>
            <p:cNvPr id="55" name="TextBox 55"/>
            <p:cNvSpPr txBox="1"/>
            <p:nvPr/>
          </p:nvSpPr>
          <p:spPr>
            <a:xfrm>
              <a:off x="10084308" y="3340100"/>
              <a:ext cx="1243584" cy="888492"/>
            </a:xfrm>
            <a:prstGeom prst="rect">
              <a:avLst/>
            </a:prstGeom>
            <a:noFill/>
            <a:ln>
              <a:noFill/>
            </a:ln>
          </p:spPr>
          <p:txBody>
            <a:bodyPr wrap="none" lIns="0" tIns="0" rIns="0" bIns="0" anchor="t" anchorCtr="0">
              <a:spAutoFit/>
            </a:bodyPr>
            <a:lstStyle/>
            <a:p>
              <a:pPr algn="ctr">
                <a:lnSpc>
                  <a:spcPts val="3300"/>
                </a:lnSpc>
              </a:pPr>
              <a:r>
                <a:rPr lang="zh-CN" sz="2400" b="1" dirty="0">
                  <a:solidFill>
                    <a:schemeClr val="accent1"/>
                  </a:solidFill>
                  <a:latin typeface="Microsoft YaHei"/>
                  <a:ea typeface="Microsoft YaHei"/>
                  <a:cs typeface="Microsoft YaHei"/>
                </a:rPr>
                <a:t>城市汇总</a:t>
              </a:r>
              <a:br>
                <a:rPr lang="zh-CN" sz="2400" b="1" dirty="0">
                  <a:solidFill>
                    <a:schemeClr val="accent1"/>
                  </a:solidFill>
                  <a:latin typeface="Microsoft YaHei"/>
                  <a:ea typeface="Microsoft YaHei"/>
                  <a:cs typeface="Microsoft YaHei"/>
                </a:rPr>
              </a:br>
              <a:r>
                <a:rPr lang="zh-CN" sz="2400" b="1" dirty="0">
                  <a:solidFill>
                    <a:schemeClr val="accent1"/>
                  </a:solidFill>
                  <a:latin typeface="Microsoft YaHei"/>
                  <a:ea typeface="Microsoft YaHei"/>
                  <a:cs typeface="Microsoft YaHei"/>
                </a:rPr>
                <a:t>全国外推</a:t>
              </a:r>
            </a:p>
          </p:txBody>
        </p:sp>
        <p:sp>
          <p:nvSpPr>
            <p:cNvPr id="56" name="TextBox 56"/>
            <p:cNvSpPr txBox="1"/>
            <p:nvPr/>
          </p:nvSpPr>
          <p:spPr>
            <a:xfrm>
              <a:off x="523494" y="4445000"/>
              <a:ext cx="6123146"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每类菜系抽取 100 家餐厅评论，评论频次代理销量。</a:t>
              </a:r>
            </a:p>
          </p:txBody>
        </p:sp>
        <p:sp>
          <p:nvSpPr>
            <p:cNvPr id="57" name="Rectangle 57"/>
            <p:cNvSpPr/>
            <p:nvPr/>
          </p:nvSpPr>
          <p:spPr>
            <a:xfrm>
              <a:off x="533400" y="5029200"/>
              <a:ext cx="11125200" cy="657225"/>
            </a:xfrm>
            <a:prstGeom prst="rect">
              <a:avLst/>
            </a:prstGeom>
            <a:solidFill>
              <a:schemeClr val="lt2"/>
            </a:solidFill>
            <a:ln>
              <a:noFill/>
            </a:ln>
          </p:spPr>
        </p:sp>
        <p:sp>
          <p:nvSpPr>
            <p:cNvPr id="58" name="TextBox 58"/>
            <p:cNvSpPr txBox="1"/>
            <p:nvPr/>
          </p:nvSpPr>
          <p:spPr>
            <a:xfrm>
              <a:off x="826008" y="5175250"/>
              <a:ext cx="578106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icrosoft YaHei"/>
                  <a:ea typeface="Microsoft YaHei"/>
                  <a:cs typeface="Microsoft YaHei"/>
                </a:rPr>
                <a:t>菜系排放＝Σ（单菜排放 × 估计消费量）</a:t>
              </a:r>
            </a:p>
          </p:txBody>
        </p:sp>
        <p:sp>
          <p:nvSpPr>
            <p:cNvPr id="59" name="TextBox 59"/>
            <p:cNvSpPr txBox="1"/>
            <p:nvPr/>
          </p:nvSpPr>
          <p:spPr>
            <a:xfrm>
              <a:off x="524256" y="5851525"/>
              <a:ext cx="583387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icrosoft YaHei"/>
                  <a:ea typeface="Microsoft YaHei"/>
                  <a:cs typeface="Microsoft YaHei"/>
                </a:rPr>
                <a:t>外推假设：家庭与餐馆偏好一致，结合城乡消费修正。</a:t>
              </a:r>
            </a:p>
          </p:txBody>
        </p:sp>
      </p:grpSp>
      <p:grpSp>
        <p:nvGrpSpPr>
          <p:cNvPr id="63" name="source-and-page"/>
          <p:cNvGrpSpPr/>
          <p:nvPr/>
        </p:nvGrpSpPr>
        <p:grpSpPr>
          <a:xfrm>
            <a:off x="526542" y="6305550"/>
            <a:ext cx="11132058" cy="346583"/>
            <a:chOff x="526542" y="6305550"/>
            <a:chExt cx="11132058" cy="346583"/>
          </a:xfrm>
        </p:grpSpPr>
        <p:sp>
          <p:nvSpPr>
            <p:cNvPr id="61" name="Line 61"/>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62" name="TextBox 62"/>
            <p:cNvSpPr txBox="1"/>
            <p:nvPr/>
          </p:nvSpPr>
          <p:spPr>
            <a:xfrm>
              <a:off x="526542" y="6388100"/>
              <a:ext cx="74636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Methods pp.373–375；Eq.5｜图示不添加未报告的样本或分布</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02 / 排放差异与全国估计</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06 / 18</a:t>
              </a:r>
            </a:p>
          </p:txBody>
        </p:sp>
      </p:grpSp>
      <p:grpSp>
        <p:nvGrpSpPr>
          <p:cNvPr id="6" name="slide-title"/>
          <p:cNvGrpSpPr/>
          <p:nvPr/>
        </p:nvGrpSpPr>
        <p:grpSpPr>
          <a:xfrm>
            <a:off x="515112" y="622300"/>
            <a:ext cx="6336792" cy="704088"/>
            <a:chOff x="515112" y="622300"/>
            <a:chExt cx="6336792" cy="704088"/>
          </a:xfrm>
        </p:grpSpPr>
        <p:sp>
          <p:nvSpPr>
            <p:cNvPr id="5" name="TextBox 5"/>
            <p:cNvSpPr txBox="1"/>
            <p:nvPr/>
          </p:nvSpPr>
          <p:spPr>
            <a:xfrm>
              <a:off x="515112" y="622300"/>
              <a:ext cx="6336792"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不同菜系的平均排放差异明显</a:t>
              </a:r>
            </a:p>
          </p:txBody>
        </p:sp>
      </p:grpSp>
      <p:grpSp>
        <p:nvGrpSpPr>
          <p:cNvPr id="45" name="p06-main-evidence"/>
          <p:cNvGrpSpPr/>
          <p:nvPr/>
        </p:nvGrpSpPr>
        <p:grpSpPr>
          <a:xfrm>
            <a:off x="523494" y="1387475"/>
            <a:ext cx="11145012" cy="4856607"/>
            <a:chOff x="523494" y="1387475"/>
            <a:chExt cx="11145012" cy="4856607"/>
          </a:xfrm>
        </p:grpSpPr>
        <p:sp>
          <p:nvSpPr>
            <p:cNvPr id="7" name="TextBox 7"/>
            <p:cNvSpPr txBox="1"/>
            <p:nvPr/>
          </p:nvSpPr>
          <p:spPr>
            <a:xfrm>
              <a:off x="523494" y="1387475"/>
              <a:ext cx="2421769"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最高五类 / 最低五类</a:t>
              </a:r>
            </a:p>
          </p:txBody>
        </p:sp>
        <p:sp>
          <p:nvSpPr>
            <p:cNvPr id="8" name="TextBox 8"/>
            <p:cNvSpPr txBox="1"/>
            <p:nvPr/>
          </p:nvSpPr>
          <p:spPr>
            <a:xfrm>
              <a:off x="9600625" y="1387475"/>
              <a:ext cx="2067881" cy="381381"/>
            </a:xfrm>
            <a:prstGeom prst="rect">
              <a:avLst/>
            </a:prstGeom>
            <a:noFill/>
            <a:ln>
              <a:noFill/>
            </a:ln>
          </p:spPr>
          <p:txBody>
            <a:bodyPr wrap="none" lIns="0" tIns="0" rIns="0" bIns="0" anchor="t" anchorCtr="0">
              <a:spAutoFit/>
            </a:bodyPr>
            <a:lstStyle/>
            <a:p>
              <a:pPr algn="r"/>
              <a:r>
                <a:rPr lang="en-US" sz="1950" dirty="0">
                  <a:solidFill>
                    <a:schemeClr val="accent5"/>
                  </a:solidFill>
                  <a:latin typeface="Microsoft YaHei"/>
                  <a:ea typeface="Microsoft YaHei"/>
                  <a:cs typeface="Microsoft YaHei"/>
                </a:rPr>
                <a:t>kg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 / 道菜</a:t>
              </a:r>
            </a:p>
          </p:txBody>
        </p:sp>
        <p:sp>
          <p:nvSpPr>
            <p:cNvPr id="9" name="Line 9"/>
            <p:cNvSpPr/>
            <p:nvPr/>
          </p:nvSpPr>
          <p:spPr>
            <a:xfrm>
              <a:off x="21526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10" name="TextBox 10"/>
            <p:cNvSpPr txBox="1"/>
            <p:nvPr/>
          </p:nvSpPr>
          <p:spPr>
            <a:xfrm>
              <a:off x="2083184" y="5921375"/>
              <a:ext cx="13893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0</a:t>
              </a:r>
            </a:p>
          </p:txBody>
        </p:sp>
        <p:sp>
          <p:nvSpPr>
            <p:cNvPr id="11" name="Line 11"/>
            <p:cNvSpPr/>
            <p:nvPr/>
          </p:nvSpPr>
          <p:spPr>
            <a:xfrm>
              <a:off x="38671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12" name="TextBox 12"/>
            <p:cNvSpPr txBox="1"/>
            <p:nvPr/>
          </p:nvSpPr>
          <p:spPr>
            <a:xfrm>
              <a:off x="3797684" y="5921375"/>
              <a:ext cx="13893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5</a:t>
              </a:r>
            </a:p>
          </p:txBody>
        </p:sp>
        <p:sp>
          <p:nvSpPr>
            <p:cNvPr id="13" name="Line 13"/>
            <p:cNvSpPr/>
            <p:nvPr/>
          </p:nvSpPr>
          <p:spPr>
            <a:xfrm>
              <a:off x="55816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14" name="TextBox 14"/>
            <p:cNvSpPr txBox="1"/>
            <p:nvPr/>
          </p:nvSpPr>
          <p:spPr>
            <a:xfrm>
              <a:off x="5451100" y="5921375"/>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10</a:t>
              </a:r>
            </a:p>
          </p:txBody>
        </p:sp>
        <p:sp>
          <p:nvSpPr>
            <p:cNvPr id="15" name="Line 15"/>
            <p:cNvSpPr/>
            <p:nvPr/>
          </p:nvSpPr>
          <p:spPr>
            <a:xfrm>
              <a:off x="72961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16" name="TextBox 16"/>
            <p:cNvSpPr txBox="1"/>
            <p:nvPr/>
          </p:nvSpPr>
          <p:spPr>
            <a:xfrm>
              <a:off x="7165600" y="5921375"/>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15</a:t>
              </a:r>
            </a:p>
          </p:txBody>
        </p:sp>
        <p:sp>
          <p:nvSpPr>
            <p:cNvPr id="17" name="Line 17"/>
            <p:cNvSpPr/>
            <p:nvPr/>
          </p:nvSpPr>
          <p:spPr>
            <a:xfrm>
              <a:off x="90106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18" name="TextBox 18"/>
            <p:cNvSpPr txBox="1"/>
            <p:nvPr/>
          </p:nvSpPr>
          <p:spPr>
            <a:xfrm>
              <a:off x="8880100" y="5921375"/>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20</a:t>
              </a:r>
            </a:p>
          </p:txBody>
        </p:sp>
        <p:sp>
          <p:nvSpPr>
            <p:cNvPr id="19" name="Line 19"/>
            <p:cNvSpPr/>
            <p:nvPr/>
          </p:nvSpPr>
          <p:spPr>
            <a:xfrm>
              <a:off x="10725150" y="1866900"/>
              <a:ext cx="9525" cy="3914775"/>
            </a:xfrm>
            <a:custGeom>
              <a:avLst/>
              <a:gdLst/>
              <a:ahLst/>
              <a:cxnLst/>
              <a:rect l="l" t="t" r="r" b="b"/>
              <a:pathLst>
                <a:path w="9525" h="3914775">
                  <a:moveTo>
                    <a:pt x="0" y="0"/>
                  </a:moveTo>
                  <a:lnTo>
                    <a:pt x="0" y="3914775"/>
                  </a:lnTo>
                </a:path>
              </a:pathLst>
            </a:custGeom>
            <a:noFill/>
            <a:ln w="9525">
              <a:solidFill>
                <a:srgbClr val="E5EDE7"/>
              </a:solidFill>
            </a:ln>
          </p:spPr>
        </p:sp>
        <p:sp>
          <p:nvSpPr>
            <p:cNvPr id="20" name="TextBox 20"/>
            <p:cNvSpPr txBox="1"/>
            <p:nvPr/>
          </p:nvSpPr>
          <p:spPr>
            <a:xfrm>
              <a:off x="10594600" y="5921375"/>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25</a:t>
              </a:r>
            </a:p>
          </p:txBody>
        </p:sp>
        <p:sp>
          <p:nvSpPr>
            <p:cNvPr id="21" name="TextBox 21"/>
            <p:cNvSpPr txBox="1"/>
            <p:nvPr/>
          </p:nvSpPr>
          <p:spPr>
            <a:xfrm>
              <a:off x="1293876" y="1902777"/>
              <a:ext cx="544830"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藏菜</a:t>
              </a:r>
            </a:p>
          </p:txBody>
        </p:sp>
        <p:graphicFrame>
          <p:nvGraphicFramePr>
            <p:cNvPr id="22" name="cuisine-means"/>
            <p:cNvGraphicFramePr>
              <a:graphicFrameLocks noGrp="1"/>
            </p:cNvGraphicFramePr>
            <p:nvPr/>
          </p:nvGraphicFramePr>
          <p:xfrm>
            <a:off x="2152650" y="1866900"/>
            <a:ext cx="8572500" cy="382905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3"/>
            <p:cNvSpPr txBox="1"/>
            <p:nvPr/>
          </p:nvSpPr>
          <p:spPr>
            <a:xfrm>
              <a:off x="10287762" y="1902777"/>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23.42</a:t>
              </a:r>
            </a:p>
          </p:txBody>
        </p:sp>
        <p:sp>
          <p:nvSpPr>
            <p:cNvPr id="24" name="TextBox 24"/>
            <p:cNvSpPr txBox="1"/>
            <p:nvPr/>
          </p:nvSpPr>
          <p:spPr>
            <a:xfrm>
              <a:off x="1031367" y="2285682"/>
              <a:ext cx="807339"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西北菜</a:t>
              </a:r>
            </a:p>
          </p:txBody>
        </p:sp>
        <p:sp>
          <p:nvSpPr>
            <p:cNvPr id="25" name="TextBox 25"/>
            <p:cNvSpPr txBox="1"/>
            <p:nvPr/>
          </p:nvSpPr>
          <p:spPr>
            <a:xfrm>
              <a:off x="8645271" y="2285682"/>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18.63</a:t>
              </a:r>
            </a:p>
          </p:txBody>
        </p:sp>
        <p:sp>
          <p:nvSpPr>
            <p:cNvPr id="26" name="TextBox 26"/>
            <p:cNvSpPr txBox="1"/>
            <p:nvPr/>
          </p:nvSpPr>
          <p:spPr>
            <a:xfrm>
              <a:off x="768858" y="2668588"/>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内蒙古菜</a:t>
              </a:r>
            </a:p>
          </p:txBody>
        </p:sp>
        <p:sp>
          <p:nvSpPr>
            <p:cNvPr id="27" name="TextBox 27"/>
            <p:cNvSpPr txBox="1"/>
            <p:nvPr/>
          </p:nvSpPr>
          <p:spPr>
            <a:xfrm>
              <a:off x="7757160" y="2668588"/>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16.04</a:t>
              </a:r>
            </a:p>
          </p:txBody>
        </p:sp>
        <p:sp>
          <p:nvSpPr>
            <p:cNvPr id="28" name="TextBox 28"/>
            <p:cNvSpPr txBox="1"/>
            <p:nvPr/>
          </p:nvSpPr>
          <p:spPr>
            <a:xfrm>
              <a:off x="1031367" y="3051492"/>
              <a:ext cx="807339"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新疆菜</a:t>
              </a:r>
            </a:p>
          </p:txBody>
        </p:sp>
        <p:sp>
          <p:nvSpPr>
            <p:cNvPr id="29" name="TextBox 29"/>
            <p:cNvSpPr txBox="1"/>
            <p:nvPr/>
          </p:nvSpPr>
          <p:spPr>
            <a:xfrm>
              <a:off x="7661148" y="3051492"/>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15.76</a:t>
              </a:r>
            </a:p>
          </p:txBody>
        </p:sp>
        <p:sp>
          <p:nvSpPr>
            <p:cNvPr id="30" name="TextBox 30"/>
            <p:cNvSpPr txBox="1"/>
            <p:nvPr/>
          </p:nvSpPr>
          <p:spPr>
            <a:xfrm>
              <a:off x="1031367" y="3434398"/>
              <a:ext cx="807339"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山西菜</a:t>
              </a:r>
            </a:p>
          </p:txBody>
        </p:sp>
        <p:sp>
          <p:nvSpPr>
            <p:cNvPr id="31" name="TextBox 31"/>
            <p:cNvSpPr txBox="1"/>
            <p:nvPr/>
          </p:nvSpPr>
          <p:spPr>
            <a:xfrm>
              <a:off x="6752463" y="3434398"/>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13.11</a:t>
              </a:r>
            </a:p>
          </p:txBody>
        </p:sp>
        <p:sp>
          <p:nvSpPr>
            <p:cNvPr id="32" name="Line 32"/>
            <p:cNvSpPr/>
            <p:nvPr/>
          </p:nvSpPr>
          <p:spPr>
            <a:xfrm>
              <a:off x="533400" y="3781425"/>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3" name="TextBox 33"/>
            <p:cNvSpPr txBox="1"/>
            <p:nvPr/>
          </p:nvSpPr>
          <p:spPr>
            <a:xfrm>
              <a:off x="1031367" y="3817303"/>
              <a:ext cx="807339"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海南菜</a:t>
              </a:r>
            </a:p>
          </p:txBody>
        </p:sp>
        <p:sp>
          <p:nvSpPr>
            <p:cNvPr id="34" name="TextBox 34"/>
            <p:cNvSpPr txBox="1"/>
            <p:nvPr/>
          </p:nvSpPr>
          <p:spPr>
            <a:xfrm>
              <a:off x="3745230" y="3817303"/>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4.34</a:t>
              </a:r>
            </a:p>
          </p:txBody>
        </p:sp>
        <p:sp>
          <p:nvSpPr>
            <p:cNvPr id="35" name="TextBox 35"/>
            <p:cNvSpPr txBox="1"/>
            <p:nvPr/>
          </p:nvSpPr>
          <p:spPr>
            <a:xfrm>
              <a:off x="1293876" y="4200208"/>
              <a:ext cx="544830"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苏菜</a:t>
              </a:r>
            </a:p>
          </p:txBody>
        </p:sp>
        <p:sp>
          <p:nvSpPr>
            <p:cNvPr id="36" name="TextBox 36"/>
            <p:cNvSpPr txBox="1"/>
            <p:nvPr/>
          </p:nvSpPr>
          <p:spPr>
            <a:xfrm>
              <a:off x="3700653" y="4200208"/>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4.21</a:t>
              </a:r>
            </a:p>
          </p:txBody>
        </p:sp>
        <p:sp>
          <p:nvSpPr>
            <p:cNvPr id="37" name="TextBox 37"/>
            <p:cNvSpPr txBox="1"/>
            <p:nvPr/>
          </p:nvSpPr>
          <p:spPr>
            <a:xfrm>
              <a:off x="1293876" y="4583112"/>
              <a:ext cx="544830"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小吃</a:t>
              </a:r>
            </a:p>
          </p:txBody>
        </p:sp>
        <p:sp>
          <p:nvSpPr>
            <p:cNvPr id="38" name="TextBox 38"/>
            <p:cNvSpPr txBox="1"/>
            <p:nvPr/>
          </p:nvSpPr>
          <p:spPr>
            <a:xfrm>
              <a:off x="3556635" y="4583112"/>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3.79</a:t>
              </a:r>
            </a:p>
          </p:txBody>
        </p:sp>
        <p:sp>
          <p:nvSpPr>
            <p:cNvPr id="39" name="TextBox 39"/>
            <p:cNvSpPr txBox="1"/>
            <p:nvPr/>
          </p:nvSpPr>
          <p:spPr>
            <a:xfrm>
              <a:off x="768858" y="4966018"/>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面包甜点</a:t>
              </a:r>
            </a:p>
          </p:txBody>
        </p:sp>
        <p:sp>
          <p:nvSpPr>
            <p:cNvPr id="40" name="TextBox 40"/>
            <p:cNvSpPr txBox="1"/>
            <p:nvPr/>
          </p:nvSpPr>
          <p:spPr>
            <a:xfrm>
              <a:off x="3323463" y="4966018"/>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3.11</a:t>
              </a:r>
            </a:p>
          </p:txBody>
        </p:sp>
        <p:sp>
          <p:nvSpPr>
            <p:cNvPr id="41" name="TextBox 41"/>
            <p:cNvSpPr txBox="1"/>
            <p:nvPr/>
          </p:nvSpPr>
          <p:spPr>
            <a:xfrm>
              <a:off x="1293876" y="5348922"/>
              <a:ext cx="544830"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素食</a:t>
              </a:r>
            </a:p>
          </p:txBody>
        </p:sp>
        <p:sp>
          <p:nvSpPr>
            <p:cNvPr id="42" name="TextBox 42"/>
            <p:cNvSpPr txBox="1"/>
            <p:nvPr/>
          </p:nvSpPr>
          <p:spPr>
            <a:xfrm>
              <a:off x="2538222" y="5348922"/>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0.82</a:t>
              </a:r>
            </a:p>
          </p:txBody>
        </p:sp>
        <p:sp>
          <p:nvSpPr>
            <p:cNvPr id="43" name="Line 43"/>
            <p:cNvSpPr/>
            <p:nvPr/>
          </p:nvSpPr>
          <p:spPr>
            <a:xfrm>
              <a:off x="5046726" y="1866900"/>
              <a:ext cx="9525" cy="3914775"/>
            </a:xfrm>
            <a:custGeom>
              <a:avLst/>
              <a:gdLst/>
              <a:ahLst/>
              <a:cxnLst/>
              <a:rect l="l" t="t" r="r" b="b"/>
              <a:pathLst>
                <a:path w="9525" h="3914775">
                  <a:moveTo>
                    <a:pt x="0" y="0"/>
                  </a:moveTo>
                  <a:lnTo>
                    <a:pt x="0" y="3914775"/>
                  </a:lnTo>
                </a:path>
              </a:pathLst>
            </a:custGeom>
            <a:noFill/>
            <a:ln w="19050">
              <a:solidFill>
                <a:schemeClr val="accent3"/>
              </a:solidFill>
              <a:custDash>
                <a:ds d="300000" sp="250000"/>
              </a:custDash>
            </a:ln>
          </p:spPr>
        </p:sp>
        <p:sp>
          <p:nvSpPr>
            <p:cNvPr id="44" name="TextBox 44"/>
            <p:cNvSpPr txBox="1"/>
            <p:nvPr/>
          </p:nvSpPr>
          <p:spPr>
            <a:xfrm>
              <a:off x="5133594" y="1682750"/>
              <a:ext cx="101631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icrosoft YaHei"/>
                  <a:ea typeface="Microsoft YaHei"/>
                  <a:cs typeface="Microsoft YaHei"/>
                </a:rPr>
                <a:t>均值 8.44</a:t>
              </a:r>
            </a:p>
          </p:txBody>
        </p:sp>
      </p:grpSp>
      <p:grpSp>
        <p:nvGrpSpPr>
          <p:cNvPr id="48" name="source-and-page"/>
          <p:cNvGrpSpPr/>
          <p:nvPr/>
        </p:nvGrpSpPr>
        <p:grpSpPr>
          <a:xfrm>
            <a:off x="526542" y="6305550"/>
            <a:ext cx="11132058" cy="346583"/>
            <a:chOff x="526542" y="6305550"/>
            <a:chExt cx="11132058" cy="346583"/>
          </a:xfrm>
        </p:grpSpPr>
        <p:sp>
          <p:nvSpPr>
            <p:cNvPr id="46" name="Line 46"/>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7" name="TextBox 47"/>
            <p:cNvSpPr txBox="1"/>
            <p:nvPr/>
          </p:nvSpPr>
          <p:spPr>
            <a:xfrm>
              <a:off x="526542" y="6388100"/>
              <a:ext cx="662459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Fig.2｜选取均值最高和最低各五类；不是等营养比较</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02 / 排放差异与全国估计</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07 / 18</a:t>
              </a:r>
            </a:p>
          </p:txBody>
        </p:sp>
      </p:grpSp>
      <p:grpSp>
        <p:nvGrpSpPr>
          <p:cNvPr id="6" name="slide-title"/>
          <p:cNvGrpSpPr/>
          <p:nvPr/>
        </p:nvGrpSpPr>
        <p:grpSpPr>
          <a:xfrm>
            <a:off x="515112" y="622300"/>
            <a:ext cx="6336792" cy="704088"/>
            <a:chOff x="515112" y="622300"/>
            <a:chExt cx="6336792" cy="704088"/>
          </a:xfrm>
        </p:grpSpPr>
        <p:sp>
          <p:nvSpPr>
            <p:cNvPr id="5" name="TextBox 5"/>
            <p:cNvSpPr txBox="1"/>
            <p:nvPr/>
          </p:nvSpPr>
          <p:spPr>
            <a:xfrm>
              <a:off x="515112" y="622300"/>
              <a:ext cx="6336792"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食材是单道菜排放的主要来源</a:t>
              </a:r>
            </a:p>
          </p:txBody>
        </p:sp>
      </p:grpSp>
      <p:grpSp>
        <p:nvGrpSpPr>
          <p:cNvPr id="17" name="p07-main-evidence"/>
          <p:cNvGrpSpPr/>
          <p:nvPr/>
        </p:nvGrpSpPr>
        <p:grpSpPr>
          <a:xfrm>
            <a:off x="514350" y="1803400"/>
            <a:ext cx="11156442" cy="4194556"/>
            <a:chOff x="514350" y="1803400"/>
            <a:chExt cx="11156442" cy="4194556"/>
          </a:xfrm>
        </p:grpSpPr>
        <p:sp>
          <p:nvSpPr>
            <p:cNvPr id="7" name="TextBox 7"/>
            <p:cNvSpPr txBox="1"/>
            <p:nvPr/>
          </p:nvSpPr>
          <p:spPr>
            <a:xfrm>
              <a:off x="514350" y="2124075"/>
              <a:ext cx="2790204"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Microsoft YaHei"/>
                  <a:ea typeface="Microsoft YaHei"/>
                  <a:cs typeface="Microsoft YaHei"/>
                </a:rPr>
                <a:t>94.1%</a:t>
              </a:r>
            </a:p>
          </p:txBody>
        </p:sp>
        <p:sp>
          <p:nvSpPr>
            <p:cNvPr id="8" name="TextBox 8"/>
            <p:cNvSpPr txBox="1"/>
            <p:nvPr/>
          </p:nvSpPr>
          <p:spPr>
            <a:xfrm>
              <a:off x="521208" y="3136900"/>
              <a:ext cx="1962912"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icrosoft YaHei"/>
                  <a:ea typeface="Microsoft YaHei"/>
                  <a:cs typeface="Microsoft YaHei"/>
                </a:rPr>
                <a:t>平均食材占比</a:t>
              </a:r>
            </a:p>
          </p:txBody>
        </p:sp>
        <p:sp>
          <p:nvSpPr>
            <p:cNvPr id="9" name="TextBox 9"/>
            <p:cNvSpPr txBox="1"/>
            <p:nvPr/>
          </p:nvSpPr>
          <p:spPr>
            <a:xfrm>
              <a:off x="7569708" y="1803400"/>
              <a:ext cx="2286000"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icrosoft YaHei"/>
                  <a:ea typeface="Microsoft YaHei"/>
                  <a:cs typeface="Microsoft YaHei"/>
                </a:rPr>
                <a:t>单道菜平均排放</a:t>
              </a:r>
            </a:p>
          </p:txBody>
        </p:sp>
        <p:sp>
          <p:nvSpPr>
            <p:cNvPr id="10" name="TextBox 10"/>
            <p:cNvSpPr txBox="1"/>
            <p:nvPr/>
          </p:nvSpPr>
          <p:spPr>
            <a:xfrm>
              <a:off x="7562850" y="2339975"/>
              <a:ext cx="1717350"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icrosoft YaHei"/>
                  <a:ea typeface="Microsoft YaHei"/>
                  <a:cs typeface="Microsoft YaHei"/>
                </a:rPr>
                <a:t>8.44</a:t>
              </a:r>
            </a:p>
          </p:txBody>
        </p:sp>
        <p:sp>
          <p:nvSpPr>
            <p:cNvPr id="11" name="TextBox 11"/>
            <p:cNvSpPr txBox="1"/>
            <p:nvPr/>
          </p:nvSpPr>
          <p:spPr>
            <a:xfrm>
              <a:off x="7571994" y="3187700"/>
              <a:ext cx="2067881"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icrosoft YaHei"/>
                  <a:ea typeface="Microsoft YaHei"/>
                  <a:cs typeface="Microsoft YaHei"/>
                </a:rPr>
                <a:t>kg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 / 道菜</a:t>
              </a:r>
            </a:p>
          </p:txBody>
        </p:sp>
        <p:graphicFrame>
          <p:nvGraphicFramePr>
            <p:cNvPr id="12" name="mean-dish-parts"/>
            <p:cNvGraphicFramePr>
              <a:graphicFrameLocks noGrp="1"/>
            </p:cNvGraphicFramePr>
            <p:nvPr/>
          </p:nvGraphicFramePr>
          <p:xfrm>
            <a:off x="533400" y="3943350"/>
            <a:ext cx="11125200" cy="62865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3"/>
            <p:cNvSpPr txBox="1"/>
            <p:nvPr/>
          </p:nvSpPr>
          <p:spPr>
            <a:xfrm>
              <a:off x="521208" y="4756150"/>
              <a:ext cx="277063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食材生命周期 7.94</a:t>
              </a:r>
            </a:p>
          </p:txBody>
        </p:sp>
        <p:sp>
          <p:nvSpPr>
            <p:cNvPr id="14" name="TextBox 14"/>
            <p:cNvSpPr txBox="1"/>
            <p:nvPr/>
          </p:nvSpPr>
          <p:spPr>
            <a:xfrm>
              <a:off x="9869424" y="4756150"/>
              <a:ext cx="1801368" cy="469392"/>
            </a:xfrm>
            <a:prstGeom prst="rect">
              <a:avLst/>
            </a:prstGeom>
            <a:noFill/>
            <a:ln>
              <a:noFill/>
            </a:ln>
          </p:spPr>
          <p:txBody>
            <a:bodyPr wrap="none" lIns="0" tIns="0" rIns="0" bIns="0" anchor="t" anchorCtr="0">
              <a:spAutoFit/>
            </a:bodyPr>
            <a:lstStyle/>
            <a:p>
              <a:pPr algn="r"/>
              <a:r>
                <a:rPr lang="zh-CN" sz="2400" dirty="0">
                  <a:solidFill>
                    <a:schemeClr val="accent3"/>
                  </a:solidFill>
                  <a:latin typeface="Microsoft YaHei"/>
                  <a:ea typeface="Microsoft YaHei"/>
                  <a:cs typeface="Microsoft YaHei"/>
                </a:rPr>
                <a:t>烹饪约 0.50</a:t>
              </a:r>
            </a:p>
          </p:txBody>
        </p:sp>
        <p:sp>
          <p:nvSpPr>
            <p:cNvPr id="15" name="Line 15"/>
            <p:cNvSpPr/>
            <p:nvPr/>
          </p:nvSpPr>
          <p:spPr>
            <a:xfrm>
              <a:off x="533400" y="5391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6" name="TextBox 16"/>
            <p:cNvSpPr txBox="1"/>
            <p:nvPr/>
          </p:nvSpPr>
          <p:spPr>
            <a:xfrm>
              <a:off x="523494" y="5616575"/>
              <a:ext cx="5873763"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烹饪占比因菜系而异：素食约 28%，火锅约 15%。</a:t>
              </a:r>
            </a:p>
          </p:txBody>
        </p:sp>
      </p:grpSp>
      <p:grpSp>
        <p:nvGrpSpPr>
          <p:cNvPr id="20" name="source-and-page"/>
          <p:cNvGrpSpPr/>
          <p:nvPr/>
        </p:nvGrpSpPr>
        <p:grpSpPr>
          <a:xfrm>
            <a:off x="526542" y="6305550"/>
            <a:ext cx="11132058" cy="346583"/>
            <a:chOff x="526542" y="6305550"/>
            <a:chExt cx="11132058" cy="346583"/>
          </a:xfrm>
        </p:grpSpPr>
        <p:sp>
          <p:nvSpPr>
            <p:cNvPr id="18" name="Line 18"/>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9" name="TextBox 19"/>
            <p:cNvSpPr txBox="1"/>
            <p:nvPr/>
          </p:nvSpPr>
          <p:spPr>
            <a:xfrm>
              <a:off x="526542" y="6388100"/>
              <a:ext cx="739743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p.367｜0.50＝8.44−7.94；94.1%＝7.94/8.44（四舍五入）</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02 / 排放差异与全国估计</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08 / 18</a:t>
              </a:r>
            </a:p>
          </p:txBody>
        </p:sp>
      </p:grpSp>
      <p:grpSp>
        <p:nvGrpSpPr>
          <p:cNvPr id="6" name="slide-title"/>
          <p:cNvGrpSpPr/>
          <p:nvPr/>
        </p:nvGrpSpPr>
        <p:grpSpPr>
          <a:xfrm>
            <a:off x="515112" y="622300"/>
            <a:ext cx="7790688" cy="704088"/>
            <a:chOff x="515112" y="622300"/>
            <a:chExt cx="7790688" cy="704088"/>
          </a:xfrm>
        </p:grpSpPr>
        <p:sp>
          <p:nvSpPr>
            <p:cNvPr id="5" name="TextBox 5"/>
            <p:cNvSpPr txBox="1"/>
            <p:nvPr/>
          </p:nvSpPr>
          <p:spPr>
            <a:xfrm>
              <a:off x="515112" y="622300"/>
              <a:ext cx="7790688"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城市排放受消费强度与规模共同影响</a:t>
              </a:r>
            </a:p>
          </p:txBody>
        </p:sp>
      </p:grpSp>
      <p:grpSp>
        <p:nvGrpSpPr>
          <p:cNvPr id="13" name="p08-main-evidence"/>
          <p:cNvGrpSpPr/>
          <p:nvPr/>
        </p:nvGrpSpPr>
        <p:grpSpPr>
          <a:xfrm>
            <a:off x="533400" y="1685925"/>
            <a:ext cx="10130775" cy="4517231"/>
            <a:chOff x="533400" y="1685925"/>
            <a:chExt cx="10130775" cy="4517231"/>
          </a:xfrm>
        </p:grpSpPr>
        <p:pic>
          <p:nvPicPr>
            <p:cNvPr id="7" name="Image 7"/>
            <p:cNvPicPr>
              <a:picLocks noChangeAspect="1"/>
            </p:cNvPicPr>
            <p:nvPr/>
          </p:nvPicPr>
          <p:blipFill>
            <a:blip r:embed="rId3"/>
            <a:stretch>
              <a:fillRect/>
            </a:stretch>
          </p:blipFill>
          <p:spPr>
            <a:xfrm>
              <a:off x="533400" y="1685925"/>
              <a:ext cx="6667500" cy="4517231"/>
            </a:xfrm>
            <a:prstGeom prst="rect">
              <a:avLst/>
            </a:prstGeom>
          </p:spPr>
        </p:pic>
        <p:sp>
          <p:nvSpPr>
            <p:cNvPr id="8" name="TextBox 8"/>
            <p:cNvSpPr txBox="1"/>
            <p:nvPr/>
          </p:nvSpPr>
          <p:spPr>
            <a:xfrm>
              <a:off x="7664958" y="1784350"/>
              <a:ext cx="299921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icrosoft YaHei"/>
                  <a:ea typeface="Microsoft YaHei"/>
                  <a:cs typeface="Microsoft YaHei"/>
                </a:rPr>
                <a:t>每餐强度 ≠ 城市总量</a:t>
              </a:r>
            </a:p>
          </p:txBody>
        </p:sp>
        <p:sp>
          <p:nvSpPr>
            <p:cNvPr id="9" name="TextBox 9"/>
            <p:cNvSpPr txBox="1"/>
            <p:nvPr/>
          </p:nvSpPr>
          <p:spPr>
            <a:xfrm>
              <a:off x="7667244" y="2406650"/>
              <a:ext cx="2119884"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点大小：每餐排放</a:t>
              </a:r>
            </a:p>
          </p:txBody>
        </p:sp>
        <p:sp>
          <p:nvSpPr>
            <p:cNvPr id="10" name="TextBox 10"/>
            <p:cNvSpPr txBox="1"/>
            <p:nvPr/>
          </p:nvSpPr>
          <p:spPr>
            <a:xfrm>
              <a:off x="7667244" y="2806700"/>
              <a:ext cx="264490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颜色：餐饮消费总排放</a:t>
              </a:r>
            </a:p>
          </p:txBody>
        </p:sp>
        <p:sp>
          <p:nvSpPr>
            <p:cNvPr id="11" name="TextBox 11"/>
            <p:cNvSpPr txBox="1"/>
            <p:nvPr/>
          </p:nvSpPr>
          <p:spPr>
            <a:xfrm>
              <a:off x="7658100" y="3435350"/>
              <a:ext cx="240613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icrosoft YaHei"/>
                  <a:ea typeface="Microsoft YaHei"/>
                  <a:cs typeface="Microsoft YaHei"/>
                </a:rPr>
                <a:t>约 55%</a:t>
              </a:r>
            </a:p>
          </p:txBody>
        </p:sp>
        <p:sp>
          <p:nvSpPr>
            <p:cNvPr id="12" name="TextBox 12"/>
            <p:cNvSpPr txBox="1"/>
            <p:nvPr/>
          </p:nvSpPr>
          <p:spPr>
            <a:xfrm>
              <a:off x="7667244" y="4327525"/>
              <a:ext cx="2248662" cy="1143381"/>
            </a:xfrm>
            <a:prstGeom prst="rect">
              <a:avLst/>
            </a:prstGeom>
            <a:noFill/>
            <a:ln>
              <a:noFill/>
            </a:ln>
          </p:spPr>
          <p:txBody>
            <a:bodyPr wrap="none" lIns="0" tIns="0" rIns="0" bIns="0" anchor="t" anchorCtr="0">
              <a:spAutoFit/>
            </a:bodyPr>
            <a:lstStyle/>
            <a:p>
              <a:pPr algn="l">
                <a:lnSpc>
                  <a:spcPts val="3000"/>
                </a:lnSpc>
              </a:pPr>
              <a:r>
                <a:rPr lang="zh-CN" sz="1950" dirty="0">
                  <a:solidFill>
                    <a:schemeClr val="dk1"/>
                  </a:solidFill>
                  <a:latin typeface="Microsoft YaHei"/>
                  <a:ea typeface="Microsoft YaHei"/>
                  <a:cs typeface="Microsoft YaHei"/>
                </a:rPr>
                <a:t>上海、北京、成都、</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广州、杭州合计贡献</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样本城市总排放</a:t>
              </a:r>
            </a:p>
          </p:txBody>
        </p:sp>
      </p:grpSp>
      <p:grpSp>
        <p:nvGrpSpPr>
          <p:cNvPr id="16" name="source-and-page"/>
          <p:cNvGrpSpPr/>
          <p:nvPr/>
        </p:nvGrpSpPr>
        <p:grpSpPr>
          <a:xfrm>
            <a:off x="526542" y="6305550"/>
            <a:ext cx="11132058" cy="346583"/>
            <a:chOff x="526542" y="6305550"/>
            <a:chExt cx="11132058" cy="346583"/>
          </a:xfrm>
        </p:grpSpPr>
        <p:sp>
          <p:nvSpPr>
            <p:cNvPr id="14" name="Line 14"/>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5" name="TextBox 15"/>
            <p:cNvSpPr txBox="1"/>
            <p:nvPr/>
          </p:nvSpPr>
          <p:spPr>
            <a:xfrm>
              <a:off x="526542" y="6388100"/>
              <a:ext cx="813357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Fig.5 城市地图面板｜样本城市餐饮消费口径；原始标签、图例完整保留</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02 / 排放差异与全国估计</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09 / 18</a:t>
              </a:r>
            </a:p>
          </p:txBody>
        </p:sp>
      </p:grpSp>
      <p:grpSp>
        <p:nvGrpSpPr>
          <p:cNvPr id="6" name="slide-title"/>
          <p:cNvGrpSpPr/>
          <p:nvPr/>
        </p:nvGrpSpPr>
        <p:grpSpPr>
          <a:xfrm>
            <a:off x="515112" y="622300"/>
            <a:ext cx="6821424" cy="704088"/>
            <a:chOff x="515112" y="622300"/>
            <a:chExt cx="6821424" cy="704088"/>
          </a:xfrm>
        </p:grpSpPr>
        <p:sp>
          <p:nvSpPr>
            <p:cNvPr id="5" name="TextBox 5"/>
            <p:cNvSpPr txBox="1"/>
            <p:nvPr/>
          </p:nvSpPr>
          <p:spPr>
            <a:xfrm>
              <a:off x="515112" y="622300"/>
              <a:ext cx="6821424"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消费频次改变菜系的总排放贡献</a:t>
              </a:r>
            </a:p>
          </p:txBody>
        </p:sp>
      </p:grpSp>
      <p:grpSp>
        <p:nvGrpSpPr>
          <p:cNvPr id="38" name="p09-main-evidence"/>
          <p:cNvGrpSpPr/>
          <p:nvPr/>
        </p:nvGrpSpPr>
        <p:grpSpPr>
          <a:xfrm>
            <a:off x="533400" y="1406525"/>
            <a:ext cx="11135106" cy="4713732"/>
            <a:chOff x="533400" y="1406525"/>
            <a:chExt cx="11135106" cy="4713732"/>
          </a:xfrm>
        </p:grpSpPr>
        <p:sp>
          <p:nvSpPr>
            <p:cNvPr id="7" name="Rectangle 7"/>
            <p:cNvSpPr/>
            <p:nvPr/>
          </p:nvSpPr>
          <p:spPr>
            <a:xfrm>
              <a:off x="533400" y="1476375"/>
              <a:ext cx="228600" cy="171450"/>
            </a:xfrm>
            <a:prstGeom prst="rect">
              <a:avLst/>
            </a:prstGeom>
            <a:solidFill>
              <a:schemeClr val="accent2"/>
            </a:solidFill>
            <a:ln>
              <a:noFill/>
            </a:ln>
          </p:spPr>
        </p:sp>
        <p:sp>
          <p:nvSpPr>
            <p:cNvPr id="8" name="TextBox 8"/>
            <p:cNvSpPr txBox="1"/>
            <p:nvPr/>
          </p:nvSpPr>
          <p:spPr>
            <a:xfrm>
              <a:off x="875919" y="1406525"/>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消费占比</a:t>
              </a:r>
            </a:p>
          </p:txBody>
        </p:sp>
        <p:sp>
          <p:nvSpPr>
            <p:cNvPr id="9" name="Rectangle 9"/>
            <p:cNvSpPr/>
            <p:nvPr/>
          </p:nvSpPr>
          <p:spPr>
            <a:xfrm>
              <a:off x="2533650" y="1476375"/>
              <a:ext cx="228600" cy="171450"/>
            </a:xfrm>
            <a:prstGeom prst="rect">
              <a:avLst/>
            </a:prstGeom>
            <a:solidFill>
              <a:schemeClr val="accent1"/>
            </a:solidFill>
            <a:ln>
              <a:noFill/>
            </a:ln>
          </p:spPr>
        </p:sp>
        <p:sp>
          <p:nvSpPr>
            <p:cNvPr id="10" name="TextBox 10"/>
            <p:cNvSpPr txBox="1"/>
            <p:nvPr/>
          </p:nvSpPr>
          <p:spPr>
            <a:xfrm>
              <a:off x="2876169" y="1406525"/>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排放占比</a:t>
              </a:r>
            </a:p>
          </p:txBody>
        </p:sp>
        <p:sp>
          <p:nvSpPr>
            <p:cNvPr id="11" name="TextBox 11"/>
            <p:cNvSpPr txBox="1"/>
            <p:nvPr/>
          </p:nvSpPr>
          <p:spPr>
            <a:xfrm>
              <a:off x="7776686" y="1406525"/>
              <a:ext cx="3891820"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样本餐饮消费与排放的占比（%）</a:t>
              </a:r>
            </a:p>
          </p:txBody>
        </p:sp>
        <p:sp>
          <p:nvSpPr>
            <p:cNvPr id="12" name="Line 12"/>
            <p:cNvSpPr/>
            <p:nvPr/>
          </p:nvSpPr>
          <p:spPr>
            <a:xfrm>
              <a:off x="2000250" y="1952625"/>
              <a:ext cx="9525" cy="3714750"/>
            </a:xfrm>
            <a:custGeom>
              <a:avLst/>
              <a:gdLst/>
              <a:ahLst/>
              <a:cxnLst/>
              <a:rect l="l" t="t" r="r" b="b"/>
              <a:pathLst>
                <a:path w="9525" h="3714750">
                  <a:moveTo>
                    <a:pt x="0" y="0"/>
                  </a:moveTo>
                  <a:lnTo>
                    <a:pt x="0" y="3714750"/>
                  </a:lnTo>
                </a:path>
              </a:pathLst>
            </a:custGeom>
            <a:noFill/>
            <a:ln w="9525">
              <a:solidFill>
                <a:srgbClr val="E5EDE7"/>
              </a:solidFill>
            </a:ln>
          </p:spPr>
        </p:sp>
        <p:sp>
          <p:nvSpPr>
            <p:cNvPr id="13" name="TextBox 13"/>
            <p:cNvSpPr txBox="1"/>
            <p:nvPr/>
          </p:nvSpPr>
          <p:spPr>
            <a:xfrm>
              <a:off x="1930784" y="5797550"/>
              <a:ext cx="13893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0</a:t>
              </a:r>
            </a:p>
          </p:txBody>
        </p:sp>
        <p:sp>
          <p:nvSpPr>
            <p:cNvPr id="14" name="Line 14"/>
            <p:cNvSpPr/>
            <p:nvPr/>
          </p:nvSpPr>
          <p:spPr>
            <a:xfrm>
              <a:off x="4202906" y="1952625"/>
              <a:ext cx="9525" cy="3714750"/>
            </a:xfrm>
            <a:custGeom>
              <a:avLst/>
              <a:gdLst/>
              <a:ahLst/>
              <a:cxnLst/>
              <a:rect l="l" t="t" r="r" b="b"/>
              <a:pathLst>
                <a:path w="9525" h="3714750">
                  <a:moveTo>
                    <a:pt x="0" y="0"/>
                  </a:moveTo>
                  <a:lnTo>
                    <a:pt x="0" y="3714750"/>
                  </a:lnTo>
                </a:path>
              </a:pathLst>
            </a:custGeom>
            <a:noFill/>
            <a:ln w="9525">
              <a:solidFill>
                <a:srgbClr val="E5EDE7"/>
              </a:solidFill>
            </a:ln>
          </p:spPr>
        </p:sp>
        <p:sp>
          <p:nvSpPr>
            <p:cNvPr id="15" name="TextBox 15"/>
            <p:cNvSpPr txBox="1"/>
            <p:nvPr/>
          </p:nvSpPr>
          <p:spPr>
            <a:xfrm>
              <a:off x="4133440" y="5797550"/>
              <a:ext cx="13893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5</a:t>
              </a:r>
            </a:p>
          </p:txBody>
        </p:sp>
        <p:sp>
          <p:nvSpPr>
            <p:cNvPr id="16" name="Line 16"/>
            <p:cNvSpPr/>
            <p:nvPr/>
          </p:nvSpPr>
          <p:spPr>
            <a:xfrm>
              <a:off x="6405562" y="1952625"/>
              <a:ext cx="9525" cy="3714750"/>
            </a:xfrm>
            <a:custGeom>
              <a:avLst/>
              <a:gdLst/>
              <a:ahLst/>
              <a:cxnLst/>
              <a:rect l="l" t="t" r="r" b="b"/>
              <a:pathLst>
                <a:path w="9525" h="3714750">
                  <a:moveTo>
                    <a:pt x="0" y="0"/>
                  </a:moveTo>
                  <a:lnTo>
                    <a:pt x="0" y="3714750"/>
                  </a:lnTo>
                </a:path>
              </a:pathLst>
            </a:custGeom>
            <a:noFill/>
            <a:ln w="9525">
              <a:solidFill>
                <a:srgbClr val="E5EDE7"/>
              </a:solidFill>
            </a:ln>
          </p:spPr>
        </p:sp>
        <p:sp>
          <p:nvSpPr>
            <p:cNvPr id="17" name="TextBox 17"/>
            <p:cNvSpPr txBox="1"/>
            <p:nvPr/>
          </p:nvSpPr>
          <p:spPr>
            <a:xfrm>
              <a:off x="6275013" y="5797550"/>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10</a:t>
              </a:r>
            </a:p>
          </p:txBody>
        </p:sp>
        <p:sp>
          <p:nvSpPr>
            <p:cNvPr id="18" name="Line 18"/>
            <p:cNvSpPr/>
            <p:nvPr/>
          </p:nvSpPr>
          <p:spPr>
            <a:xfrm>
              <a:off x="8608219" y="1952625"/>
              <a:ext cx="9525" cy="3714750"/>
            </a:xfrm>
            <a:custGeom>
              <a:avLst/>
              <a:gdLst/>
              <a:ahLst/>
              <a:cxnLst/>
              <a:rect l="l" t="t" r="r" b="b"/>
              <a:pathLst>
                <a:path w="9525" h="3714750">
                  <a:moveTo>
                    <a:pt x="0" y="0"/>
                  </a:moveTo>
                  <a:lnTo>
                    <a:pt x="0" y="3714750"/>
                  </a:lnTo>
                </a:path>
              </a:pathLst>
            </a:custGeom>
            <a:noFill/>
            <a:ln w="9525">
              <a:solidFill>
                <a:srgbClr val="E5EDE7"/>
              </a:solidFill>
            </a:ln>
          </p:spPr>
        </p:sp>
        <p:sp>
          <p:nvSpPr>
            <p:cNvPr id="19" name="TextBox 19"/>
            <p:cNvSpPr txBox="1"/>
            <p:nvPr/>
          </p:nvSpPr>
          <p:spPr>
            <a:xfrm>
              <a:off x="8477669" y="5797550"/>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15</a:t>
              </a:r>
            </a:p>
          </p:txBody>
        </p:sp>
        <p:sp>
          <p:nvSpPr>
            <p:cNvPr id="20" name="Line 20"/>
            <p:cNvSpPr/>
            <p:nvPr/>
          </p:nvSpPr>
          <p:spPr>
            <a:xfrm>
              <a:off x="10810875" y="1952625"/>
              <a:ext cx="9525" cy="3714750"/>
            </a:xfrm>
            <a:custGeom>
              <a:avLst/>
              <a:gdLst/>
              <a:ahLst/>
              <a:cxnLst/>
              <a:rect l="l" t="t" r="r" b="b"/>
              <a:pathLst>
                <a:path w="9525" h="3714750">
                  <a:moveTo>
                    <a:pt x="0" y="0"/>
                  </a:moveTo>
                  <a:lnTo>
                    <a:pt x="0" y="3714750"/>
                  </a:lnTo>
                </a:path>
              </a:pathLst>
            </a:custGeom>
            <a:noFill/>
            <a:ln w="9525">
              <a:solidFill>
                <a:srgbClr val="E5EDE7"/>
              </a:solidFill>
            </a:ln>
          </p:spPr>
        </p:sp>
        <p:sp>
          <p:nvSpPr>
            <p:cNvPr id="21" name="TextBox 21"/>
            <p:cNvSpPr txBox="1"/>
            <p:nvPr/>
          </p:nvSpPr>
          <p:spPr>
            <a:xfrm>
              <a:off x="10680325" y="5797550"/>
              <a:ext cx="26109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20</a:t>
              </a:r>
            </a:p>
          </p:txBody>
        </p:sp>
        <p:sp>
          <p:nvSpPr>
            <p:cNvPr id="22" name="TextBox 22"/>
            <p:cNvSpPr txBox="1"/>
            <p:nvPr/>
          </p:nvSpPr>
          <p:spPr>
            <a:xfrm>
              <a:off x="960882" y="2136775"/>
              <a:ext cx="670560" cy="469392"/>
            </a:xfrm>
            <a:prstGeom prst="rect">
              <a:avLst/>
            </a:prstGeom>
            <a:noFill/>
            <a:ln>
              <a:noFill/>
            </a:ln>
          </p:spPr>
          <p:txBody>
            <a:bodyPr wrap="none" lIns="0" tIns="0" rIns="0" bIns="0" anchor="t" anchorCtr="0">
              <a:spAutoFit/>
            </a:bodyPr>
            <a:lstStyle/>
            <a:p>
              <a:pPr algn="r"/>
              <a:r>
                <a:rPr lang="zh-CN" sz="2400" dirty="0">
                  <a:solidFill>
                    <a:schemeClr val="dk1"/>
                  </a:solidFill>
                  <a:latin typeface="Microsoft YaHei"/>
                  <a:ea typeface="Microsoft YaHei"/>
                  <a:cs typeface="Microsoft YaHei"/>
                </a:rPr>
                <a:t>火锅</a:t>
              </a:r>
            </a:p>
          </p:txBody>
        </p:sp>
        <p:graphicFrame>
          <p:nvGraphicFramePr>
            <p:cNvPr id="23" name="frequency-emissions"/>
            <p:cNvGraphicFramePr>
              <a:graphicFrameLocks noGrp="1"/>
            </p:cNvGraphicFramePr>
            <p:nvPr/>
          </p:nvGraphicFramePr>
          <p:xfrm>
            <a:off x="2000250" y="1924050"/>
            <a:ext cx="8810625"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4"/>
            <p:cNvSpPr txBox="1"/>
            <p:nvPr/>
          </p:nvSpPr>
          <p:spPr>
            <a:xfrm>
              <a:off x="9765506" y="1997075"/>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17.39</a:t>
              </a:r>
            </a:p>
          </p:txBody>
        </p:sp>
        <p:sp>
          <p:nvSpPr>
            <p:cNvPr id="25" name="TextBox 25"/>
            <p:cNvSpPr txBox="1"/>
            <p:nvPr/>
          </p:nvSpPr>
          <p:spPr>
            <a:xfrm>
              <a:off x="10399871" y="2254250"/>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18.83</a:t>
              </a:r>
            </a:p>
          </p:txBody>
        </p:sp>
        <p:sp>
          <p:nvSpPr>
            <p:cNvPr id="26" name="TextBox 26"/>
            <p:cNvSpPr txBox="1"/>
            <p:nvPr/>
          </p:nvSpPr>
          <p:spPr>
            <a:xfrm>
              <a:off x="960882" y="2851150"/>
              <a:ext cx="670560" cy="469392"/>
            </a:xfrm>
            <a:prstGeom prst="rect">
              <a:avLst/>
            </a:prstGeom>
            <a:noFill/>
            <a:ln>
              <a:noFill/>
            </a:ln>
          </p:spPr>
          <p:txBody>
            <a:bodyPr wrap="none" lIns="0" tIns="0" rIns="0" bIns="0" anchor="t" anchorCtr="0">
              <a:spAutoFit/>
            </a:bodyPr>
            <a:lstStyle/>
            <a:p>
              <a:pPr algn="r"/>
              <a:r>
                <a:rPr lang="zh-CN" sz="2400" dirty="0">
                  <a:solidFill>
                    <a:schemeClr val="dk1"/>
                  </a:solidFill>
                  <a:latin typeface="Microsoft YaHei"/>
                  <a:ea typeface="Microsoft YaHei"/>
                  <a:cs typeface="Microsoft YaHei"/>
                </a:rPr>
                <a:t>川菜</a:t>
              </a:r>
            </a:p>
          </p:txBody>
        </p:sp>
        <p:sp>
          <p:nvSpPr>
            <p:cNvPr id="27" name="TextBox 27"/>
            <p:cNvSpPr txBox="1"/>
            <p:nvPr/>
          </p:nvSpPr>
          <p:spPr>
            <a:xfrm>
              <a:off x="5527548" y="2711450"/>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7.77</a:t>
              </a:r>
            </a:p>
          </p:txBody>
        </p:sp>
        <p:sp>
          <p:nvSpPr>
            <p:cNvPr id="28" name="TextBox 28"/>
            <p:cNvSpPr txBox="1"/>
            <p:nvPr/>
          </p:nvSpPr>
          <p:spPr>
            <a:xfrm>
              <a:off x="7928515" y="2968625"/>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13.22</a:t>
              </a:r>
            </a:p>
          </p:txBody>
        </p:sp>
        <p:sp>
          <p:nvSpPr>
            <p:cNvPr id="29" name="TextBox 29"/>
            <p:cNvSpPr txBox="1"/>
            <p:nvPr/>
          </p:nvSpPr>
          <p:spPr>
            <a:xfrm>
              <a:off x="960882" y="3565525"/>
              <a:ext cx="670560" cy="469392"/>
            </a:xfrm>
            <a:prstGeom prst="rect">
              <a:avLst/>
            </a:prstGeom>
            <a:noFill/>
            <a:ln>
              <a:noFill/>
            </a:ln>
          </p:spPr>
          <p:txBody>
            <a:bodyPr wrap="none" lIns="0" tIns="0" rIns="0" bIns="0" anchor="t" anchorCtr="0">
              <a:spAutoFit/>
            </a:bodyPr>
            <a:lstStyle/>
            <a:p>
              <a:pPr algn="r"/>
              <a:r>
                <a:rPr lang="zh-CN" sz="2400" dirty="0">
                  <a:solidFill>
                    <a:schemeClr val="dk1"/>
                  </a:solidFill>
                  <a:latin typeface="Microsoft YaHei"/>
                  <a:ea typeface="Microsoft YaHei"/>
                  <a:cs typeface="Microsoft YaHei"/>
                </a:rPr>
                <a:t>西餐</a:t>
              </a:r>
            </a:p>
          </p:txBody>
        </p:sp>
        <p:sp>
          <p:nvSpPr>
            <p:cNvPr id="30" name="TextBox 30"/>
            <p:cNvSpPr txBox="1"/>
            <p:nvPr/>
          </p:nvSpPr>
          <p:spPr>
            <a:xfrm>
              <a:off x="5241226" y="3425825"/>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7.12</a:t>
              </a:r>
            </a:p>
          </p:txBody>
        </p:sp>
        <p:sp>
          <p:nvSpPr>
            <p:cNvPr id="31" name="TextBox 31"/>
            <p:cNvSpPr txBox="1"/>
            <p:nvPr/>
          </p:nvSpPr>
          <p:spPr>
            <a:xfrm>
              <a:off x="7316152" y="3683000"/>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11.83</a:t>
              </a:r>
            </a:p>
          </p:txBody>
        </p:sp>
        <p:sp>
          <p:nvSpPr>
            <p:cNvPr id="32" name="TextBox 32"/>
            <p:cNvSpPr txBox="1"/>
            <p:nvPr/>
          </p:nvSpPr>
          <p:spPr>
            <a:xfrm>
              <a:off x="960882" y="4279900"/>
              <a:ext cx="670560" cy="469392"/>
            </a:xfrm>
            <a:prstGeom prst="rect">
              <a:avLst/>
            </a:prstGeom>
            <a:noFill/>
            <a:ln>
              <a:noFill/>
            </a:ln>
          </p:spPr>
          <p:txBody>
            <a:bodyPr wrap="none" lIns="0" tIns="0" rIns="0" bIns="0" anchor="t" anchorCtr="0">
              <a:spAutoFit/>
            </a:bodyPr>
            <a:lstStyle/>
            <a:p>
              <a:pPr algn="r"/>
              <a:r>
                <a:rPr lang="zh-CN" sz="2400" dirty="0">
                  <a:solidFill>
                    <a:schemeClr val="dk1"/>
                  </a:solidFill>
                  <a:latin typeface="Microsoft YaHei"/>
                  <a:ea typeface="Microsoft YaHei"/>
                  <a:cs typeface="Microsoft YaHei"/>
                </a:rPr>
                <a:t>小吃</a:t>
              </a:r>
            </a:p>
          </p:txBody>
        </p:sp>
        <p:sp>
          <p:nvSpPr>
            <p:cNvPr id="33" name="TextBox 33"/>
            <p:cNvSpPr txBox="1"/>
            <p:nvPr/>
          </p:nvSpPr>
          <p:spPr>
            <a:xfrm>
              <a:off x="8391049" y="4140200"/>
              <a:ext cx="74171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14.27</a:t>
              </a:r>
            </a:p>
          </p:txBody>
        </p:sp>
        <p:sp>
          <p:nvSpPr>
            <p:cNvPr id="34" name="TextBox 34"/>
            <p:cNvSpPr txBox="1"/>
            <p:nvPr/>
          </p:nvSpPr>
          <p:spPr>
            <a:xfrm>
              <a:off x="4761071" y="4397375"/>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6.03</a:t>
              </a:r>
            </a:p>
          </p:txBody>
        </p:sp>
        <p:sp>
          <p:nvSpPr>
            <p:cNvPr id="35" name="TextBox 35"/>
            <p:cNvSpPr txBox="1"/>
            <p:nvPr/>
          </p:nvSpPr>
          <p:spPr>
            <a:xfrm>
              <a:off x="960882" y="4994275"/>
              <a:ext cx="670560" cy="469392"/>
            </a:xfrm>
            <a:prstGeom prst="rect">
              <a:avLst/>
            </a:prstGeom>
            <a:noFill/>
            <a:ln>
              <a:noFill/>
            </a:ln>
          </p:spPr>
          <p:txBody>
            <a:bodyPr wrap="none" lIns="0" tIns="0" rIns="0" bIns="0" anchor="t" anchorCtr="0">
              <a:spAutoFit/>
            </a:bodyPr>
            <a:lstStyle/>
            <a:p>
              <a:pPr algn="r"/>
              <a:r>
                <a:rPr lang="zh-CN" sz="2400" dirty="0">
                  <a:solidFill>
                    <a:schemeClr val="dk1"/>
                  </a:solidFill>
                  <a:latin typeface="Microsoft YaHei"/>
                  <a:ea typeface="Microsoft YaHei"/>
                  <a:cs typeface="Microsoft YaHei"/>
                </a:rPr>
                <a:t>串类</a:t>
              </a:r>
            </a:p>
          </p:txBody>
        </p:sp>
        <p:sp>
          <p:nvSpPr>
            <p:cNvPr id="36" name="TextBox 36"/>
            <p:cNvSpPr txBox="1"/>
            <p:nvPr/>
          </p:nvSpPr>
          <p:spPr>
            <a:xfrm>
              <a:off x="4346924" y="4854575"/>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5.09</a:t>
              </a:r>
            </a:p>
          </p:txBody>
        </p:sp>
        <p:sp>
          <p:nvSpPr>
            <p:cNvPr id="37" name="TextBox 37"/>
            <p:cNvSpPr txBox="1"/>
            <p:nvPr/>
          </p:nvSpPr>
          <p:spPr>
            <a:xfrm>
              <a:off x="4593622" y="5111750"/>
              <a:ext cx="59733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5.65</a:t>
              </a:r>
            </a:p>
          </p:txBody>
        </p:sp>
      </p:grpSp>
      <p:grpSp>
        <p:nvGrpSpPr>
          <p:cNvPr id="41" name="source-and-page"/>
          <p:cNvGrpSpPr/>
          <p:nvPr/>
        </p:nvGrpSpPr>
        <p:grpSpPr>
          <a:xfrm>
            <a:off x="526542" y="6305550"/>
            <a:ext cx="11132058" cy="346583"/>
            <a:chOff x="526542" y="6305550"/>
            <a:chExt cx="11132058" cy="346583"/>
          </a:xfrm>
        </p:grpSpPr>
        <p:sp>
          <p:nvSpPr>
            <p:cNvPr id="39" name="Line 39"/>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0" name="TextBox 40"/>
            <p:cNvSpPr txBox="1"/>
            <p:nvPr/>
          </p:nvSpPr>
          <p:spPr>
            <a:xfrm>
              <a:off x="526542" y="6388100"/>
              <a:ext cx="726879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Fig.6a｜五类菜系的消费占比与排放占比；两系列均为百分比</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02 / 排放差异与全国估计</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10 / 18</a:t>
              </a:r>
            </a:p>
          </p:txBody>
        </p:sp>
      </p:grpSp>
      <p:grpSp>
        <p:nvGrpSpPr>
          <p:cNvPr id="6" name="slide-title"/>
          <p:cNvGrpSpPr/>
          <p:nvPr/>
        </p:nvGrpSpPr>
        <p:grpSpPr>
          <a:xfrm>
            <a:off x="515112" y="622300"/>
            <a:ext cx="10781944" cy="704088"/>
            <a:chOff x="515112" y="622300"/>
            <a:chExt cx="10781944" cy="704088"/>
          </a:xfrm>
        </p:grpSpPr>
        <p:sp>
          <p:nvSpPr>
            <p:cNvPr id="5" name="TextBox 5"/>
            <p:cNvSpPr txBox="1"/>
            <p:nvPr/>
          </p:nvSpPr>
          <p:spPr>
            <a:xfrm>
              <a:off x="515112" y="622300"/>
              <a:ext cx="10781944"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2020 年全国食物系统排放估计为 4.64 Gt</a:t>
              </a:r>
              <a:r>
                <a:rPr lang="en-US" sz="3600" b="1" dirty="0">
                  <a:solidFill>
                    <a:schemeClr val="accent1"/>
                  </a:solidFill>
                  <a:latin typeface="+mn-lt"/>
                  <a:ea typeface="+mn-ea"/>
                  <a:cs typeface="+mn-cs"/>
                </a:rPr>
                <a:t>CO₂eq</a:t>
              </a:r>
            </a:p>
          </p:txBody>
        </p:sp>
      </p:grpSp>
      <p:grpSp>
        <p:nvGrpSpPr>
          <p:cNvPr id="16" name="p10-main-evidence"/>
          <p:cNvGrpSpPr/>
          <p:nvPr/>
        </p:nvGrpSpPr>
        <p:grpSpPr>
          <a:xfrm>
            <a:off x="514350" y="2076450"/>
            <a:ext cx="11156442" cy="3902456"/>
            <a:chOff x="514350" y="2076450"/>
            <a:chExt cx="11156442" cy="3902456"/>
          </a:xfrm>
        </p:grpSpPr>
        <p:sp>
          <p:nvSpPr>
            <p:cNvPr id="7" name="TextBox 7"/>
            <p:cNvSpPr txBox="1"/>
            <p:nvPr/>
          </p:nvSpPr>
          <p:spPr>
            <a:xfrm>
              <a:off x="514350" y="2076450"/>
              <a:ext cx="2090517"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Microsoft YaHei"/>
                  <a:ea typeface="Microsoft YaHei"/>
                  <a:cs typeface="Microsoft YaHei"/>
                </a:rPr>
                <a:t>4.64</a:t>
              </a:r>
            </a:p>
          </p:txBody>
        </p:sp>
        <p:sp>
          <p:nvSpPr>
            <p:cNvPr id="8" name="TextBox 8"/>
            <p:cNvSpPr txBox="1"/>
            <p:nvPr/>
          </p:nvSpPr>
          <p:spPr>
            <a:xfrm>
              <a:off x="519684" y="3079750"/>
              <a:ext cx="1732679" cy="528066"/>
            </a:xfrm>
            <a:prstGeom prst="rect">
              <a:avLst/>
            </a:prstGeom>
            <a:noFill/>
            <a:ln>
              <a:noFill/>
            </a:ln>
          </p:spPr>
          <p:txBody>
            <a:bodyPr wrap="none" lIns="0" tIns="0" rIns="0" bIns="0" anchor="t" anchorCtr="0">
              <a:spAutoFit/>
            </a:bodyPr>
            <a:lstStyle/>
            <a:p>
              <a:pPr algn="l"/>
              <a:r>
                <a:rPr lang="en-US" sz="2700" dirty="0">
                  <a:solidFill>
                    <a:schemeClr val="accent5"/>
                  </a:solidFill>
                  <a:latin typeface="Microsoft YaHei"/>
                  <a:ea typeface="Microsoft YaHei"/>
                  <a:cs typeface="Microsoft YaHei"/>
                </a:rPr>
                <a:t>Gt </a:t>
              </a:r>
              <a:r>
                <a:rPr lang="en-US" sz="2700" dirty="0">
                  <a:solidFill>
                    <a:schemeClr val="accent5"/>
                  </a:solidFill>
                  <a:latin typeface="+mn-lt"/>
                  <a:ea typeface="+mn-ea"/>
                  <a:cs typeface="+mn-cs"/>
                </a:rPr>
                <a:t>CO₂eq</a:t>
              </a:r>
            </a:p>
          </p:txBody>
        </p:sp>
        <p:sp>
          <p:nvSpPr>
            <p:cNvPr id="9" name="TextBox 9"/>
            <p:cNvSpPr txBox="1"/>
            <p:nvPr/>
          </p:nvSpPr>
          <p:spPr>
            <a:xfrm>
              <a:off x="7943850" y="2076450"/>
              <a:ext cx="1763996"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Microsoft YaHei"/>
                  <a:ea typeface="Microsoft YaHei"/>
                  <a:cs typeface="Microsoft YaHei"/>
                </a:rPr>
                <a:t>37%</a:t>
              </a:r>
            </a:p>
          </p:txBody>
        </p:sp>
        <p:sp>
          <p:nvSpPr>
            <p:cNvPr id="10" name="TextBox 10"/>
            <p:cNvSpPr txBox="1"/>
            <p:nvPr/>
          </p:nvSpPr>
          <p:spPr>
            <a:xfrm>
              <a:off x="7950708" y="3117850"/>
              <a:ext cx="2286000"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icrosoft YaHei"/>
                  <a:ea typeface="Microsoft YaHei"/>
                  <a:cs typeface="Microsoft YaHei"/>
                </a:rPr>
                <a:t>约占全国总排放</a:t>
              </a:r>
            </a:p>
          </p:txBody>
        </p:sp>
        <p:sp>
          <p:nvSpPr>
            <p:cNvPr id="11" name="TextBox 11"/>
            <p:cNvSpPr txBox="1"/>
            <p:nvPr/>
          </p:nvSpPr>
          <p:spPr>
            <a:xfrm>
              <a:off x="523494" y="3702050"/>
              <a:ext cx="148986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菜品 ＋ 谷物</a:t>
              </a:r>
            </a:p>
          </p:txBody>
        </p:sp>
        <p:graphicFrame>
          <p:nvGraphicFramePr>
            <p:cNvPr id="12" name="national-baseline"/>
            <p:cNvGraphicFramePr>
              <a:graphicFrameLocks noGrp="1"/>
            </p:cNvGraphicFramePr>
            <p:nvPr/>
          </p:nvGraphicFramePr>
          <p:xfrm>
            <a:off x="533400" y="4219575"/>
            <a:ext cx="11125200" cy="5334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3"/>
            <p:cNvSpPr txBox="1"/>
            <p:nvPr/>
          </p:nvSpPr>
          <p:spPr>
            <a:xfrm>
              <a:off x="521208" y="4927600"/>
              <a:ext cx="1478280"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菜品 4.22</a:t>
              </a:r>
            </a:p>
          </p:txBody>
        </p:sp>
        <p:sp>
          <p:nvSpPr>
            <p:cNvPr id="14" name="TextBox 14"/>
            <p:cNvSpPr txBox="1"/>
            <p:nvPr/>
          </p:nvSpPr>
          <p:spPr>
            <a:xfrm>
              <a:off x="10192512" y="4927600"/>
              <a:ext cx="1478280" cy="469392"/>
            </a:xfrm>
            <a:prstGeom prst="rect">
              <a:avLst/>
            </a:prstGeom>
            <a:noFill/>
            <a:ln>
              <a:noFill/>
            </a:ln>
          </p:spPr>
          <p:txBody>
            <a:bodyPr wrap="none" lIns="0" tIns="0" rIns="0" bIns="0" anchor="t" anchorCtr="0">
              <a:spAutoFit/>
            </a:bodyPr>
            <a:lstStyle/>
            <a:p>
              <a:pPr algn="r"/>
              <a:r>
                <a:rPr lang="zh-CN" sz="2400" dirty="0">
                  <a:solidFill>
                    <a:schemeClr val="accent3"/>
                  </a:solidFill>
                  <a:latin typeface="Microsoft YaHei"/>
                  <a:ea typeface="Microsoft YaHei"/>
                  <a:cs typeface="Microsoft YaHei"/>
                </a:rPr>
                <a:t>谷物 0.42</a:t>
              </a:r>
            </a:p>
          </p:txBody>
        </p:sp>
        <p:sp>
          <p:nvSpPr>
            <p:cNvPr id="15" name="TextBox 15"/>
            <p:cNvSpPr txBox="1"/>
            <p:nvPr/>
          </p:nvSpPr>
          <p:spPr>
            <a:xfrm>
              <a:off x="523494" y="5597525"/>
              <a:ext cx="4744974"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消费侧外推，包含进口农产品相关排放。</a:t>
              </a:r>
            </a:p>
          </p:txBody>
        </p:sp>
      </p:grpSp>
      <p:grpSp>
        <p:nvGrpSpPr>
          <p:cNvPr id="19" name="source-and-page"/>
          <p:cNvGrpSpPr/>
          <p:nvPr/>
        </p:nvGrpSpPr>
        <p:grpSpPr>
          <a:xfrm>
            <a:off x="526542" y="6305550"/>
            <a:ext cx="11132058" cy="346583"/>
            <a:chOff x="526542" y="6305550"/>
            <a:chExt cx="11132058" cy="346583"/>
          </a:xfrm>
        </p:grpSpPr>
        <p:sp>
          <p:nvSpPr>
            <p:cNvPr id="17" name="Line 17"/>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8" name="TextBox 18"/>
            <p:cNvSpPr txBox="1"/>
            <p:nvPr/>
          </p:nvSpPr>
          <p:spPr>
            <a:xfrm>
              <a:off x="526542" y="6388100"/>
              <a:ext cx="76169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pp.371,375｜2020 年基年估计；与仅计国内生产的清单口径不同</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减排情景与目标边界</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11 / 18</a:t>
              </a:r>
            </a:p>
          </p:txBody>
        </p:sp>
      </p:grpSp>
      <p:grpSp>
        <p:nvGrpSpPr>
          <p:cNvPr id="6" name="slide-title"/>
          <p:cNvGrpSpPr/>
          <p:nvPr/>
        </p:nvGrpSpPr>
        <p:grpSpPr>
          <a:xfrm>
            <a:off x="515112" y="622300"/>
            <a:ext cx="7790688" cy="704088"/>
            <a:chOff x="515112" y="622300"/>
            <a:chExt cx="7790688" cy="704088"/>
          </a:xfrm>
        </p:grpSpPr>
        <p:sp>
          <p:nvSpPr>
            <p:cNvPr id="5" name="TextBox 5"/>
            <p:cNvSpPr txBox="1"/>
            <p:nvPr/>
          </p:nvSpPr>
          <p:spPr>
            <a:xfrm>
              <a:off x="515112" y="622300"/>
              <a:ext cx="7790688"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五类干预改变消费与食材的不同环节</a:t>
              </a:r>
            </a:p>
          </p:txBody>
        </p:sp>
      </p:grpSp>
      <p:grpSp>
        <p:nvGrpSpPr>
          <p:cNvPr id="40" name="p11-main-evidence"/>
          <p:cNvGrpSpPr/>
          <p:nvPr/>
        </p:nvGrpSpPr>
        <p:grpSpPr>
          <a:xfrm>
            <a:off x="523494" y="1387475"/>
            <a:ext cx="10196893" cy="4733417"/>
            <a:chOff x="523494" y="1387475"/>
            <a:chExt cx="10196893" cy="4733417"/>
          </a:xfrm>
        </p:grpSpPr>
        <p:sp>
          <p:nvSpPr>
            <p:cNvPr id="7" name="TextBox 7"/>
            <p:cNvSpPr txBox="1"/>
            <p:nvPr/>
          </p:nvSpPr>
          <p:spPr>
            <a:xfrm>
              <a:off x="523494" y="1387475"/>
              <a:ext cx="5810860"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BAU 为比较基线；以下均为作者构造的干预情景。</a:t>
              </a:r>
            </a:p>
          </p:txBody>
        </p:sp>
        <p:sp>
          <p:nvSpPr>
            <p:cNvPr id="8" name="TextBox 8"/>
            <p:cNvSpPr txBox="1"/>
            <p:nvPr/>
          </p:nvSpPr>
          <p:spPr>
            <a:xfrm>
              <a:off x="1903476" y="1898650"/>
              <a:ext cx="99364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消费量</a:t>
              </a:r>
            </a:p>
          </p:txBody>
        </p:sp>
        <p:grpSp>
          <p:nvGrpSpPr>
            <p:cNvPr id="12" name="Group 12"/>
            <p:cNvGrpSpPr/>
            <p:nvPr/>
          </p:nvGrpSpPr>
          <p:grpSpPr>
            <a:xfrm>
              <a:off x="2067306" y="2573655"/>
              <a:ext cx="692277" cy="727329"/>
              <a:chOff x="2067306" y="2573655"/>
              <a:chExt cx="692277" cy="727329"/>
            </a:xfrm>
          </p:grpSpPr>
          <p:sp>
            <p:nvSpPr>
              <p:cNvPr id="9" name="Freeform 9"/>
              <p:cNvSpPr/>
              <p:nvPr/>
            </p:nvSpPr>
            <p:spPr>
              <a:xfrm>
                <a:off x="2119884" y="2766441"/>
                <a:ext cx="587121" cy="534543"/>
              </a:xfrm>
              <a:custGeom>
                <a:avLst/>
                <a:gdLst/>
                <a:ahLst/>
                <a:cxnLst/>
                <a:rect l="l" t="t" r="r" b="b"/>
                <a:pathLst>
                  <a:path w="587121" h="534543">
                    <a:moveTo>
                      <a:pt x="0" y="0"/>
                    </a:moveTo>
                    <a:lnTo>
                      <a:pt x="78867" y="534543"/>
                    </a:lnTo>
                    <a:lnTo>
                      <a:pt x="508254" y="534543"/>
                    </a:lnTo>
                    <a:lnTo>
                      <a:pt x="587121" y="0"/>
                    </a:lnTo>
                    <a:close/>
                  </a:path>
                </a:pathLst>
              </a:custGeom>
              <a:solidFill>
                <a:schemeClr val="lt2"/>
              </a:solidFill>
              <a:ln w="26289" cap="rnd">
                <a:solidFill>
                  <a:schemeClr val="accent1"/>
                </a:solidFill>
                <a:round/>
              </a:ln>
            </p:spPr>
          </p:sp>
          <p:sp>
            <p:nvSpPr>
              <p:cNvPr id="10" name="Freeform 10"/>
              <p:cNvSpPr/>
              <p:nvPr/>
            </p:nvSpPr>
            <p:spPr>
              <a:xfrm>
                <a:off x="2067306" y="2591181"/>
                <a:ext cx="692277" cy="578358"/>
              </a:xfrm>
              <a:custGeom>
                <a:avLst/>
                <a:gdLst/>
                <a:ahLst/>
                <a:cxnLst/>
                <a:rect l="l" t="t" r="r" b="b"/>
                <a:pathLst>
                  <a:path w="692277" h="578358">
                    <a:moveTo>
                      <a:pt x="0" y="148971"/>
                    </a:moveTo>
                    <a:lnTo>
                      <a:pt x="692277" y="148971"/>
                    </a:lnTo>
                    <a:moveTo>
                      <a:pt x="236601" y="0"/>
                    </a:moveTo>
                    <a:lnTo>
                      <a:pt x="464439" y="0"/>
                    </a:lnTo>
                    <a:lnTo>
                      <a:pt x="508254" y="148971"/>
                    </a:lnTo>
                    <a:moveTo>
                      <a:pt x="236601" y="289179"/>
                    </a:moveTo>
                    <a:lnTo>
                      <a:pt x="262890" y="578358"/>
                    </a:lnTo>
                    <a:moveTo>
                      <a:pt x="455676" y="289179"/>
                    </a:moveTo>
                    <a:lnTo>
                      <a:pt x="429387" y="578358"/>
                    </a:lnTo>
                  </a:path>
                </a:pathLst>
              </a:custGeom>
              <a:noFill/>
              <a:ln w="43815" cap="rnd">
                <a:solidFill>
                  <a:schemeClr val="accent2"/>
                </a:solidFill>
                <a:round/>
              </a:ln>
            </p:spPr>
          </p:sp>
          <p:sp>
            <p:nvSpPr>
              <p:cNvPr id="11" name="Freeform 11"/>
              <p:cNvSpPr/>
              <p:nvPr/>
            </p:nvSpPr>
            <p:spPr>
              <a:xfrm>
                <a:off x="2076069" y="2573655"/>
                <a:ext cx="665988" cy="683514"/>
              </a:xfrm>
              <a:custGeom>
                <a:avLst/>
                <a:gdLst/>
                <a:ahLst/>
                <a:cxnLst/>
                <a:rect l="l" t="t" r="r" b="b"/>
                <a:pathLst>
                  <a:path w="665988" h="683514">
                    <a:moveTo>
                      <a:pt x="0" y="683514"/>
                    </a:moveTo>
                    <a:lnTo>
                      <a:pt x="665988" y="0"/>
                    </a:lnTo>
                  </a:path>
                </a:pathLst>
              </a:custGeom>
              <a:noFill/>
              <a:ln w="61341" cap="rnd">
                <a:solidFill>
                  <a:schemeClr val="accent3"/>
                </a:solidFill>
                <a:round/>
              </a:ln>
            </p:spPr>
          </p:sp>
        </p:grpSp>
        <p:sp>
          <p:nvSpPr>
            <p:cNvPr id="13" name="TextBox 13"/>
            <p:cNvSpPr txBox="1"/>
            <p:nvPr/>
          </p:nvSpPr>
          <p:spPr>
            <a:xfrm>
              <a:off x="5437632" y="1898650"/>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消费选择</a:t>
              </a:r>
            </a:p>
          </p:txBody>
        </p:sp>
        <p:grpSp>
          <p:nvGrpSpPr>
            <p:cNvPr id="19" name="Group 19"/>
            <p:cNvGrpSpPr/>
            <p:nvPr/>
          </p:nvGrpSpPr>
          <p:grpSpPr>
            <a:xfrm>
              <a:off x="5719191" y="2547366"/>
              <a:ext cx="771144" cy="753618"/>
              <a:chOff x="5719191" y="2547366"/>
              <a:chExt cx="771144" cy="753618"/>
            </a:xfrm>
          </p:grpSpPr>
          <p:sp>
            <p:nvSpPr>
              <p:cNvPr id="14" name="Ellipse 14"/>
              <p:cNvSpPr/>
              <p:nvPr/>
            </p:nvSpPr>
            <p:spPr>
              <a:xfrm>
                <a:off x="5719191" y="2827782"/>
                <a:ext cx="192786" cy="192786"/>
              </a:xfrm>
              <a:prstGeom prst="ellipse">
                <a:avLst/>
              </a:prstGeom>
              <a:solidFill>
                <a:schemeClr val="accent1"/>
              </a:solidFill>
              <a:ln>
                <a:noFill/>
              </a:ln>
            </p:spPr>
          </p:sp>
          <p:sp>
            <p:nvSpPr>
              <p:cNvPr id="15" name="Freeform 15"/>
              <p:cNvSpPr/>
              <p:nvPr/>
            </p:nvSpPr>
            <p:spPr>
              <a:xfrm>
                <a:off x="5920740" y="2634996"/>
                <a:ext cx="394335" cy="578358"/>
              </a:xfrm>
              <a:custGeom>
                <a:avLst/>
                <a:gdLst/>
                <a:ahLst/>
                <a:cxnLst/>
                <a:rect l="l" t="t" r="r" b="b"/>
                <a:pathLst>
                  <a:path w="394335" h="578358">
                    <a:moveTo>
                      <a:pt x="0" y="289179"/>
                    </a:moveTo>
                    <a:lnTo>
                      <a:pt x="166497" y="289179"/>
                    </a:lnTo>
                    <a:lnTo>
                      <a:pt x="166497" y="0"/>
                    </a:lnTo>
                    <a:lnTo>
                      <a:pt x="394335" y="0"/>
                    </a:lnTo>
                    <a:moveTo>
                      <a:pt x="166497" y="289179"/>
                    </a:moveTo>
                    <a:lnTo>
                      <a:pt x="394335" y="289179"/>
                    </a:lnTo>
                    <a:moveTo>
                      <a:pt x="166497" y="289179"/>
                    </a:moveTo>
                    <a:lnTo>
                      <a:pt x="166497" y="578358"/>
                    </a:lnTo>
                    <a:lnTo>
                      <a:pt x="394335" y="578358"/>
                    </a:lnTo>
                  </a:path>
                </a:pathLst>
              </a:custGeom>
              <a:noFill/>
              <a:ln w="35052" cap="rnd">
                <a:solidFill>
                  <a:schemeClr val="accent2"/>
                </a:solidFill>
                <a:round/>
              </a:ln>
            </p:spPr>
          </p:sp>
          <p:sp>
            <p:nvSpPr>
              <p:cNvPr id="16" name="Ellipse 16"/>
              <p:cNvSpPr/>
              <p:nvPr/>
            </p:nvSpPr>
            <p:spPr>
              <a:xfrm>
                <a:off x="6315075" y="2547366"/>
                <a:ext cx="175260" cy="175260"/>
              </a:xfrm>
              <a:prstGeom prst="ellipse">
                <a:avLst/>
              </a:prstGeom>
              <a:solidFill>
                <a:schemeClr val="accent2"/>
              </a:solidFill>
              <a:ln>
                <a:noFill/>
              </a:ln>
            </p:spPr>
          </p:sp>
          <p:sp>
            <p:nvSpPr>
              <p:cNvPr id="17" name="Ellipse 17"/>
              <p:cNvSpPr/>
              <p:nvPr/>
            </p:nvSpPr>
            <p:spPr>
              <a:xfrm>
                <a:off x="6315075" y="2836545"/>
                <a:ext cx="175260" cy="175260"/>
              </a:xfrm>
              <a:prstGeom prst="ellipse">
                <a:avLst/>
              </a:prstGeom>
              <a:solidFill>
                <a:schemeClr val="accent2"/>
              </a:solidFill>
              <a:ln>
                <a:noFill/>
              </a:ln>
            </p:spPr>
          </p:sp>
          <p:sp>
            <p:nvSpPr>
              <p:cNvPr id="18" name="Ellipse 18"/>
              <p:cNvSpPr/>
              <p:nvPr/>
            </p:nvSpPr>
            <p:spPr>
              <a:xfrm>
                <a:off x="6315075" y="3125724"/>
                <a:ext cx="175260" cy="175260"/>
              </a:xfrm>
              <a:prstGeom prst="ellipse">
                <a:avLst/>
              </a:prstGeom>
              <a:solidFill>
                <a:schemeClr val="accent2"/>
              </a:solidFill>
              <a:ln>
                <a:noFill/>
              </a:ln>
            </p:spPr>
          </p:sp>
        </p:grpSp>
        <p:sp>
          <p:nvSpPr>
            <p:cNvPr id="20" name="TextBox 20"/>
            <p:cNvSpPr txBox="1"/>
            <p:nvPr/>
          </p:nvSpPr>
          <p:spPr>
            <a:xfrm>
              <a:off x="9133332" y="1898650"/>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食材替代</a:t>
              </a:r>
            </a:p>
          </p:txBody>
        </p:sp>
        <p:grpSp>
          <p:nvGrpSpPr>
            <p:cNvPr id="25" name="Group 25"/>
            <p:cNvGrpSpPr/>
            <p:nvPr/>
          </p:nvGrpSpPr>
          <p:grpSpPr>
            <a:xfrm>
              <a:off x="9362313" y="2486025"/>
              <a:ext cx="867537" cy="911352"/>
              <a:chOff x="9362313" y="2486025"/>
              <a:chExt cx="867537" cy="911352"/>
            </a:xfrm>
          </p:grpSpPr>
          <p:sp>
            <p:nvSpPr>
              <p:cNvPr id="21" name="Freeform 21"/>
              <p:cNvSpPr/>
              <p:nvPr/>
            </p:nvSpPr>
            <p:spPr>
              <a:xfrm>
                <a:off x="9362313" y="2486025"/>
                <a:ext cx="867537" cy="911352"/>
              </a:xfrm>
              <a:custGeom>
                <a:avLst/>
                <a:gdLst/>
                <a:ahLst/>
                <a:cxnLst/>
                <a:rect l="l" t="t" r="r" b="b"/>
                <a:pathLst>
                  <a:path w="867537" h="911352">
                    <a:moveTo>
                      <a:pt x="175260" y="753618"/>
                    </a:moveTo>
                    <a:cubicBezTo>
                      <a:pt x="0" y="587121"/>
                      <a:pt x="113919" y="227838"/>
                      <a:pt x="359283" y="131445"/>
                    </a:cubicBezTo>
                    <a:cubicBezTo>
                      <a:pt x="604647" y="0"/>
                      <a:pt x="867537" y="227838"/>
                      <a:pt x="771144" y="490728"/>
                    </a:cubicBezTo>
                    <a:cubicBezTo>
                      <a:pt x="683514" y="788670"/>
                      <a:pt x="376809" y="911352"/>
                      <a:pt x="175260" y="753618"/>
                    </a:cubicBezTo>
                    <a:close/>
                  </a:path>
                </a:pathLst>
              </a:custGeom>
              <a:solidFill>
                <a:schemeClr val="accent3"/>
              </a:solidFill>
              <a:ln w="17526" cap="rnd">
                <a:solidFill>
                  <a:schemeClr val="accent1"/>
                </a:solidFill>
                <a:round/>
              </a:ln>
            </p:spPr>
          </p:sp>
          <p:sp>
            <p:nvSpPr>
              <p:cNvPr id="22" name="Freeform 22"/>
              <p:cNvSpPr/>
              <p:nvPr/>
            </p:nvSpPr>
            <p:spPr>
              <a:xfrm>
                <a:off x="9476232" y="2652522"/>
                <a:ext cx="604647" cy="578358"/>
              </a:xfrm>
              <a:custGeom>
                <a:avLst/>
                <a:gdLst/>
                <a:ahLst/>
                <a:cxnLst/>
                <a:rect l="l" t="t" r="r" b="b"/>
                <a:pathLst>
                  <a:path w="604647" h="578358">
                    <a:moveTo>
                      <a:pt x="131445" y="490728"/>
                    </a:moveTo>
                    <a:cubicBezTo>
                      <a:pt x="0" y="368046"/>
                      <a:pt x="122682" y="131445"/>
                      <a:pt x="280416" y="87630"/>
                    </a:cubicBezTo>
                    <a:cubicBezTo>
                      <a:pt x="455676" y="0"/>
                      <a:pt x="604647" y="148971"/>
                      <a:pt x="534543" y="306705"/>
                    </a:cubicBezTo>
                    <a:cubicBezTo>
                      <a:pt x="455676" y="490728"/>
                      <a:pt x="280416" y="578358"/>
                      <a:pt x="131445" y="490728"/>
                    </a:cubicBezTo>
                    <a:close/>
                  </a:path>
                </a:pathLst>
              </a:custGeom>
              <a:solidFill>
                <a:schemeClr val="lt2"/>
              </a:solidFill>
              <a:ln>
                <a:noFill/>
              </a:ln>
            </p:spPr>
          </p:sp>
          <p:sp>
            <p:nvSpPr>
              <p:cNvPr id="23" name="Ellipse 23"/>
              <p:cNvSpPr/>
              <p:nvPr/>
            </p:nvSpPr>
            <p:spPr>
              <a:xfrm>
                <a:off x="9704070" y="2862834"/>
                <a:ext cx="157734" cy="157734"/>
              </a:xfrm>
              <a:prstGeom prst="ellipse">
                <a:avLst/>
              </a:prstGeom>
              <a:solidFill>
                <a:schemeClr val="accent3"/>
              </a:solidFill>
              <a:ln>
                <a:noFill/>
              </a:ln>
            </p:spPr>
          </p:sp>
          <p:sp>
            <p:nvSpPr>
              <p:cNvPr id="24" name="Freeform 24"/>
              <p:cNvSpPr/>
              <p:nvPr/>
            </p:nvSpPr>
            <p:spPr>
              <a:xfrm>
                <a:off x="9879330" y="2521077"/>
                <a:ext cx="210312" cy="140208"/>
              </a:xfrm>
              <a:custGeom>
                <a:avLst/>
                <a:gdLst/>
                <a:ahLst/>
                <a:cxnLst/>
                <a:rect l="l" t="t" r="r" b="b"/>
                <a:pathLst>
                  <a:path w="210312" h="140208">
                    <a:moveTo>
                      <a:pt x="0" y="0"/>
                    </a:moveTo>
                    <a:lnTo>
                      <a:pt x="210312" y="0"/>
                    </a:lnTo>
                    <a:moveTo>
                      <a:pt x="105156" y="0"/>
                    </a:moveTo>
                    <a:lnTo>
                      <a:pt x="105156" y="140208"/>
                    </a:lnTo>
                  </a:path>
                </a:pathLst>
              </a:custGeom>
              <a:noFill/>
              <a:ln w="26289" cap="rnd">
                <a:solidFill>
                  <a:schemeClr val="accent1"/>
                </a:solidFill>
                <a:round/>
              </a:ln>
            </p:spPr>
          </p:sp>
        </p:grpSp>
        <p:sp>
          <p:nvSpPr>
            <p:cNvPr id="26" name="TextBox 26"/>
            <p:cNvSpPr txBox="1"/>
            <p:nvPr/>
          </p:nvSpPr>
          <p:spPr>
            <a:xfrm>
              <a:off x="1418844" y="3698875"/>
              <a:ext cx="1962912" cy="469392"/>
            </a:xfrm>
            <a:prstGeom prst="rect">
              <a:avLst/>
            </a:prstGeom>
            <a:noFill/>
            <a:ln>
              <a:noFill/>
            </a:ln>
          </p:spPr>
          <p:txBody>
            <a:bodyPr wrap="none" lIns="0" tIns="0" rIns="0" bIns="0" anchor="t" anchorCtr="0">
              <a:spAutoFit/>
            </a:bodyPr>
            <a:lstStyle/>
            <a:p>
              <a:pPr algn="ctr"/>
              <a:r>
                <a:rPr lang="zh-CN" sz="2400" dirty="0">
                  <a:solidFill>
                    <a:schemeClr val="dk1"/>
                  </a:solidFill>
                  <a:latin typeface="Microsoft YaHei"/>
                  <a:ea typeface="Microsoft YaHei"/>
                  <a:cs typeface="Microsoft YaHei"/>
                </a:rPr>
                <a:t>减少食物浪费</a:t>
              </a:r>
            </a:p>
          </p:txBody>
        </p:sp>
        <p:sp>
          <p:nvSpPr>
            <p:cNvPr id="27" name="TextBox 27"/>
            <p:cNvSpPr txBox="1"/>
            <p:nvPr/>
          </p:nvSpPr>
          <p:spPr>
            <a:xfrm>
              <a:off x="1471612" y="4206875"/>
              <a:ext cx="1857375" cy="381381"/>
            </a:xfrm>
            <a:prstGeom prst="rect">
              <a:avLst/>
            </a:prstGeom>
            <a:noFill/>
            <a:ln>
              <a:noFill/>
            </a:ln>
          </p:spPr>
          <p:txBody>
            <a:bodyPr wrap="none" lIns="0" tIns="0" rIns="0" bIns="0" anchor="t" anchorCtr="0">
              <a:spAutoFit/>
            </a:bodyPr>
            <a:lstStyle/>
            <a:p>
              <a:pPr algn="ctr"/>
              <a:r>
                <a:rPr lang="zh-CN" sz="1950" dirty="0">
                  <a:solidFill>
                    <a:schemeClr val="accent5"/>
                  </a:solidFill>
                  <a:latin typeface="Microsoft YaHei"/>
                  <a:ea typeface="Microsoft YaHei"/>
                  <a:cs typeface="Microsoft YaHei"/>
                </a:rPr>
                <a:t>减少消费端浪费</a:t>
              </a:r>
            </a:p>
          </p:txBody>
        </p:sp>
        <p:sp>
          <p:nvSpPr>
            <p:cNvPr id="28" name="TextBox 28"/>
            <p:cNvSpPr txBox="1"/>
            <p:nvPr/>
          </p:nvSpPr>
          <p:spPr>
            <a:xfrm>
              <a:off x="4904804" y="3597275"/>
              <a:ext cx="2382393"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icrosoft YaHei"/>
                  <a:ea typeface="Microsoft YaHei"/>
                  <a:cs typeface="Microsoft YaHei"/>
                </a:rPr>
                <a:t>城市转型：消费模式</a:t>
              </a:r>
            </a:p>
          </p:txBody>
        </p:sp>
        <p:sp>
          <p:nvSpPr>
            <p:cNvPr id="29" name="TextBox 29"/>
            <p:cNvSpPr txBox="1"/>
            <p:nvPr/>
          </p:nvSpPr>
          <p:spPr>
            <a:xfrm>
              <a:off x="4904804" y="4016375"/>
              <a:ext cx="2382393"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icrosoft YaHei"/>
                  <a:ea typeface="Microsoft YaHei"/>
                  <a:cs typeface="Microsoft YaHei"/>
                </a:rPr>
                <a:t>菜系转型：菜系选择</a:t>
              </a:r>
            </a:p>
          </p:txBody>
        </p:sp>
        <p:sp>
          <p:nvSpPr>
            <p:cNvPr id="30" name="TextBox 30"/>
            <p:cNvSpPr txBox="1"/>
            <p:nvPr/>
          </p:nvSpPr>
          <p:spPr>
            <a:xfrm>
              <a:off x="4904804" y="4435475"/>
              <a:ext cx="2382393" cy="381381"/>
            </a:xfrm>
            <a:prstGeom prst="rect">
              <a:avLst/>
            </a:prstGeom>
            <a:noFill/>
            <a:ln>
              <a:noFill/>
            </a:ln>
          </p:spPr>
          <p:txBody>
            <a:bodyPr wrap="none" lIns="0" tIns="0" rIns="0" bIns="0" anchor="t" anchorCtr="0">
              <a:spAutoFit/>
            </a:bodyPr>
            <a:lstStyle/>
            <a:p>
              <a:pPr algn="ctr"/>
              <a:r>
                <a:rPr lang="zh-CN" sz="1950" dirty="0">
                  <a:solidFill>
                    <a:schemeClr val="dk1"/>
                  </a:solidFill>
                  <a:latin typeface="Microsoft YaHei"/>
                  <a:ea typeface="Microsoft YaHei"/>
                  <a:cs typeface="Microsoft YaHei"/>
                </a:rPr>
                <a:t>菜品转型：菜品选择</a:t>
              </a:r>
            </a:p>
          </p:txBody>
        </p:sp>
        <p:sp>
          <p:nvSpPr>
            <p:cNvPr id="31" name="TextBox 31"/>
            <p:cNvSpPr txBox="1"/>
            <p:nvPr/>
          </p:nvSpPr>
          <p:spPr>
            <a:xfrm>
              <a:off x="8971788" y="3698875"/>
              <a:ext cx="1639824" cy="469392"/>
            </a:xfrm>
            <a:prstGeom prst="rect">
              <a:avLst/>
            </a:prstGeom>
            <a:noFill/>
            <a:ln>
              <a:noFill/>
            </a:ln>
          </p:spPr>
          <p:txBody>
            <a:bodyPr wrap="none" lIns="0" tIns="0" rIns="0" bIns="0" anchor="t" anchorCtr="0">
              <a:spAutoFit/>
            </a:bodyPr>
            <a:lstStyle/>
            <a:p>
              <a:pPr algn="ctr"/>
              <a:r>
                <a:rPr lang="zh-CN" sz="2400" dirty="0">
                  <a:solidFill>
                    <a:schemeClr val="dk1"/>
                  </a:solidFill>
                  <a:latin typeface="Microsoft YaHei"/>
                  <a:ea typeface="Microsoft YaHei"/>
                  <a:cs typeface="Microsoft YaHei"/>
                </a:rPr>
                <a:t>培养肉替代</a:t>
              </a:r>
            </a:p>
          </p:txBody>
        </p:sp>
        <p:sp>
          <p:nvSpPr>
            <p:cNvPr id="32" name="TextBox 32"/>
            <p:cNvSpPr txBox="1"/>
            <p:nvPr/>
          </p:nvSpPr>
          <p:spPr>
            <a:xfrm>
              <a:off x="8863012" y="4206875"/>
              <a:ext cx="1857375" cy="381381"/>
            </a:xfrm>
            <a:prstGeom prst="rect">
              <a:avLst/>
            </a:prstGeom>
            <a:noFill/>
            <a:ln>
              <a:noFill/>
            </a:ln>
          </p:spPr>
          <p:txBody>
            <a:bodyPr wrap="none" lIns="0" tIns="0" rIns="0" bIns="0" anchor="t" anchorCtr="0">
              <a:spAutoFit/>
            </a:bodyPr>
            <a:lstStyle/>
            <a:p>
              <a:pPr algn="ctr"/>
              <a:r>
                <a:rPr lang="zh-CN" sz="1950" dirty="0">
                  <a:solidFill>
                    <a:schemeClr val="accent5"/>
                  </a:solidFill>
                  <a:latin typeface="Microsoft YaHei"/>
                  <a:ea typeface="Microsoft YaHei"/>
                  <a:cs typeface="Microsoft YaHei"/>
                </a:rPr>
                <a:t>替换动物性食材</a:t>
              </a:r>
            </a:p>
          </p:txBody>
        </p:sp>
        <p:grpSp>
          <p:nvGrpSpPr>
            <p:cNvPr id="37" name="path-18"/>
            <p:cNvGrpSpPr/>
            <p:nvPr/>
          </p:nvGrpSpPr>
          <p:grpSpPr>
            <a:xfrm>
              <a:off x="2400300" y="4848225"/>
              <a:ext cx="7400925" cy="676275"/>
              <a:chOff x="2400300" y="4848225"/>
              <a:chExt cx="7400925" cy="676275"/>
            </a:xfrm>
          </p:grpSpPr>
          <p:sp>
            <p:nvSpPr>
              <p:cNvPr id="33" name="Line 33"/>
              <p:cNvSpPr/>
              <p:nvPr/>
            </p:nvSpPr>
            <p:spPr>
              <a:xfrm>
                <a:off x="2400300" y="4848225"/>
                <a:ext cx="9525" cy="361950"/>
              </a:xfrm>
              <a:custGeom>
                <a:avLst/>
                <a:gdLst/>
                <a:ahLst/>
                <a:cxnLst/>
                <a:rect l="l" t="t" r="r" b="b"/>
                <a:pathLst>
                  <a:path w="9525" h="361950">
                    <a:moveTo>
                      <a:pt x="0" y="0"/>
                    </a:moveTo>
                    <a:lnTo>
                      <a:pt x="0" y="361950"/>
                    </a:lnTo>
                  </a:path>
                </a:pathLst>
              </a:custGeom>
              <a:noFill/>
              <a:ln w="19050">
                <a:solidFill>
                  <a:schemeClr val="accent2"/>
                </a:solidFill>
              </a:ln>
            </p:spPr>
          </p:sp>
          <p:sp>
            <p:nvSpPr>
              <p:cNvPr id="34" name="Line 34"/>
              <p:cNvSpPr/>
              <p:nvPr/>
            </p:nvSpPr>
            <p:spPr>
              <a:xfrm>
                <a:off x="2400300" y="5210175"/>
                <a:ext cx="7391400" cy="9525"/>
              </a:xfrm>
              <a:custGeom>
                <a:avLst/>
                <a:gdLst/>
                <a:ahLst/>
                <a:cxnLst/>
                <a:rect l="l" t="t" r="r" b="b"/>
                <a:pathLst>
                  <a:path w="7391400" h="9525">
                    <a:moveTo>
                      <a:pt x="0" y="0"/>
                    </a:moveTo>
                    <a:lnTo>
                      <a:pt x="7391400" y="0"/>
                    </a:lnTo>
                  </a:path>
                </a:pathLst>
              </a:custGeom>
              <a:noFill/>
              <a:ln w="19050">
                <a:solidFill>
                  <a:schemeClr val="accent2"/>
                </a:solidFill>
              </a:ln>
            </p:spPr>
          </p:sp>
          <p:sp>
            <p:nvSpPr>
              <p:cNvPr id="35" name="Line 35"/>
              <p:cNvSpPr/>
              <p:nvPr/>
            </p:nvSpPr>
            <p:spPr>
              <a:xfrm>
                <a:off x="9791700" y="4848225"/>
                <a:ext cx="9525" cy="361950"/>
              </a:xfrm>
              <a:custGeom>
                <a:avLst/>
                <a:gdLst/>
                <a:ahLst/>
                <a:cxnLst/>
                <a:rect l="l" t="t" r="r" b="b"/>
                <a:pathLst>
                  <a:path w="9525" h="361950">
                    <a:moveTo>
                      <a:pt x="0" y="0"/>
                    </a:moveTo>
                    <a:lnTo>
                      <a:pt x="0" y="361950"/>
                    </a:lnTo>
                  </a:path>
                </a:pathLst>
              </a:custGeom>
              <a:noFill/>
              <a:ln w="19050">
                <a:solidFill>
                  <a:schemeClr val="accent2"/>
                </a:solidFill>
              </a:ln>
            </p:spPr>
          </p:sp>
          <p:sp>
            <p:nvSpPr>
              <p:cNvPr id="36" name="Line 36"/>
              <p:cNvSpPr/>
              <p:nvPr/>
            </p:nvSpPr>
            <p:spPr>
              <a:xfrm>
                <a:off x="6096000" y="4886325"/>
                <a:ext cx="1" cy="638175"/>
              </a:xfrm>
              <a:prstGeom prst="line">
                <a:avLst/>
              </a:prstGeom>
              <a:noFill/>
              <a:ln w="19050">
                <a:solidFill>
                  <a:schemeClr val="accent2"/>
                </a:solidFill>
                <a:tailEnd type="triangle" w="lg" len="lg"/>
              </a:ln>
            </p:spPr>
          </p:sp>
        </p:grpSp>
        <p:sp>
          <p:nvSpPr>
            <p:cNvPr id="38" name="Rectangle 38"/>
            <p:cNvSpPr/>
            <p:nvPr/>
          </p:nvSpPr>
          <p:spPr>
            <a:xfrm>
              <a:off x="2857500" y="5562600"/>
              <a:ext cx="6477000" cy="542925"/>
            </a:xfrm>
            <a:prstGeom prst="rect">
              <a:avLst/>
            </a:prstGeom>
            <a:solidFill>
              <a:schemeClr val="lt2"/>
            </a:solidFill>
            <a:ln>
              <a:noFill/>
            </a:ln>
          </p:spPr>
        </p:sp>
        <p:sp>
          <p:nvSpPr>
            <p:cNvPr id="39" name="TextBox 39"/>
            <p:cNvSpPr txBox="1"/>
            <p:nvPr/>
          </p:nvSpPr>
          <p:spPr>
            <a:xfrm>
              <a:off x="3983736" y="5651500"/>
              <a:ext cx="422452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icrosoft YaHei"/>
                  <a:ea typeface="Microsoft YaHei"/>
                  <a:cs typeface="Microsoft YaHei"/>
                </a:rPr>
                <a:t>综合策略＝上述五类干预组合</a:t>
              </a:r>
            </a:p>
          </p:txBody>
        </p:sp>
      </p:grpSp>
      <p:grpSp>
        <p:nvGrpSpPr>
          <p:cNvPr id="43" name="source-and-page"/>
          <p:cNvGrpSpPr/>
          <p:nvPr/>
        </p:nvGrpSpPr>
        <p:grpSpPr>
          <a:xfrm>
            <a:off x="526542" y="6305550"/>
            <a:ext cx="11132058" cy="346583"/>
            <a:chOff x="526542" y="6305550"/>
            <a:chExt cx="11132058" cy="346583"/>
          </a:xfrm>
        </p:grpSpPr>
        <p:sp>
          <p:nvSpPr>
            <p:cNvPr id="41" name="Line 41"/>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2" name="TextBox 42"/>
            <p:cNvSpPr txBox="1"/>
            <p:nvPr/>
          </p:nvSpPr>
          <p:spPr>
            <a:xfrm>
              <a:off x="526542" y="6388100"/>
              <a:ext cx="705248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Methods pp.375–376｜参数及原文措辞核对提示见备份页</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减排情景与目标边界</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12 / 18</a:t>
              </a:r>
            </a:p>
          </p:txBody>
        </p:sp>
      </p:grpSp>
      <p:grpSp>
        <p:nvGrpSpPr>
          <p:cNvPr id="6" name="slide-title"/>
          <p:cNvGrpSpPr/>
          <p:nvPr/>
        </p:nvGrpSpPr>
        <p:grpSpPr>
          <a:xfrm>
            <a:off x="515112" y="622300"/>
            <a:ext cx="5492321" cy="704088"/>
            <a:chOff x="515112" y="622300"/>
            <a:chExt cx="5492321" cy="704088"/>
          </a:xfrm>
        </p:grpSpPr>
        <p:sp>
          <p:nvSpPr>
            <p:cNvPr id="5" name="TextBox 5"/>
            <p:cNvSpPr txBox="1"/>
            <p:nvPr/>
          </p:nvSpPr>
          <p:spPr>
            <a:xfrm>
              <a:off x="515112" y="622300"/>
              <a:ext cx="5492321"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综合情景累计减排约 69%</a:t>
              </a:r>
            </a:p>
          </p:txBody>
        </p:sp>
      </p:grpSp>
      <p:grpSp>
        <p:nvGrpSpPr>
          <p:cNvPr id="41" name="p12-main-evidence"/>
          <p:cNvGrpSpPr/>
          <p:nvPr/>
        </p:nvGrpSpPr>
        <p:grpSpPr>
          <a:xfrm>
            <a:off x="523494" y="1387475"/>
            <a:ext cx="11145012" cy="4628007"/>
            <a:chOff x="523494" y="1387475"/>
            <a:chExt cx="11145012" cy="4628007"/>
          </a:xfrm>
        </p:grpSpPr>
        <p:sp>
          <p:nvSpPr>
            <p:cNvPr id="7" name="TextBox 7"/>
            <p:cNvSpPr txBox="1"/>
            <p:nvPr/>
          </p:nvSpPr>
          <p:spPr>
            <a:xfrm>
              <a:off x="523494" y="1387475"/>
              <a:ext cx="525464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2020—2100 累计食物系统排放（Gt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a:t>
              </a:r>
            </a:p>
          </p:txBody>
        </p:sp>
        <p:sp>
          <p:nvSpPr>
            <p:cNvPr id="8" name="TextBox 8"/>
            <p:cNvSpPr txBox="1"/>
            <p:nvPr/>
          </p:nvSpPr>
          <p:spPr>
            <a:xfrm>
              <a:off x="10455783" y="1654175"/>
              <a:ext cx="1211199"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icrosoft YaHei"/>
                  <a:ea typeface="Microsoft YaHei"/>
                  <a:cs typeface="Microsoft YaHei"/>
                </a:rPr>
                <a:t>较 BAU 减少</a:t>
              </a:r>
            </a:p>
          </p:txBody>
        </p:sp>
        <p:sp>
          <p:nvSpPr>
            <p:cNvPr id="9" name="Line 9"/>
            <p:cNvSpPr/>
            <p:nvPr/>
          </p:nvSpPr>
          <p:spPr>
            <a:xfrm>
              <a:off x="2952750" y="2038350"/>
              <a:ext cx="9525" cy="3486150"/>
            </a:xfrm>
            <a:custGeom>
              <a:avLst/>
              <a:gdLst/>
              <a:ahLst/>
              <a:cxnLst/>
              <a:rect l="l" t="t" r="r" b="b"/>
              <a:pathLst>
                <a:path w="9525" h="3486150">
                  <a:moveTo>
                    <a:pt x="0" y="0"/>
                  </a:moveTo>
                  <a:lnTo>
                    <a:pt x="0" y="3486150"/>
                  </a:lnTo>
                </a:path>
              </a:pathLst>
            </a:custGeom>
            <a:noFill/>
            <a:ln w="9525">
              <a:solidFill>
                <a:srgbClr val="E5EDE7"/>
              </a:solidFill>
            </a:ln>
          </p:spPr>
        </p:sp>
        <p:sp>
          <p:nvSpPr>
            <p:cNvPr id="10" name="TextBox 10"/>
            <p:cNvSpPr txBox="1"/>
            <p:nvPr/>
          </p:nvSpPr>
          <p:spPr>
            <a:xfrm>
              <a:off x="2883284" y="5692775"/>
              <a:ext cx="13893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0</a:t>
              </a:r>
            </a:p>
          </p:txBody>
        </p:sp>
        <p:sp>
          <p:nvSpPr>
            <p:cNvPr id="11" name="Line 11"/>
            <p:cNvSpPr/>
            <p:nvPr/>
          </p:nvSpPr>
          <p:spPr>
            <a:xfrm>
              <a:off x="4966621" y="2038350"/>
              <a:ext cx="9525" cy="3486150"/>
            </a:xfrm>
            <a:custGeom>
              <a:avLst/>
              <a:gdLst/>
              <a:ahLst/>
              <a:cxnLst/>
              <a:rect l="l" t="t" r="r" b="b"/>
              <a:pathLst>
                <a:path w="9525" h="3486150">
                  <a:moveTo>
                    <a:pt x="0" y="0"/>
                  </a:moveTo>
                  <a:lnTo>
                    <a:pt x="0" y="3486150"/>
                  </a:lnTo>
                </a:path>
              </a:pathLst>
            </a:custGeom>
            <a:noFill/>
            <a:ln w="9525">
              <a:solidFill>
                <a:srgbClr val="E5EDE7"/>
              </a:solidFill>
            </a:ln>
          </p:spPr>
        </p:sp>
        <p:sp>
          <p:nvSpPr>
            <p:cNvPr id="12" name="TextBox 12"/>
            <p:cNvSpPr txBox="1"/>
            <p:nvPr/>
          </p:nvSpPr>
          <p:spPr>
            <a:xfrm>
              <a:off x="4774987" y="5692775"/>
              <a:ext cx="383267"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100</a:t>
              </a:r>
            </a:p>
          </p:txBody>
        </p:sp>
        <p:sp>
          <p:nvSpPr>
            <p:cNvPr id="13" name="Line 13"/>
            <p:cNvSpPr/>
            <p:nvPr/>
          </p:nvSpPr>
          <p:spPr>
            <a:xfrm>
              <a:off x="6980492" y="2038350"/>
              <a:ext cx="9525" cy="3486150"/>
            </a:xfrm>
            <a:custGeom>
              <a:avLst/>
              <a:gdLst/>
              <a:ahLst/>
              <a:cxnLst/>
              <a:rect l="l" t="t" r="r" b="b"/>
              <a:pathLst>
                <a:path w="9525" h="3486150">
                  <a:moveTo>
                    <a:pt x="0" y="0"/>
                  </a:moveTo>
                  <a:lnTo>
                    <a:pt x="0" y="3486150"/>
                  </a:lnTo>
                </a:path>
              </a:pathLst>
            </a:custGeom>
            <a:noFill/>
            <a:ln w="9525">
              <a:solidFill>
                <a:srgbClr val="E5EDE7"/>
              </a:solidFill>
            </a:ln>
          </p:spPr>
        </p:sp>
        <p:sp>
          <p:nvSpPr>
            <p:cNvPr id="14" name="TextBox 14"/>
            <p:cNvSpPr txBox="1"/>
            <p:nvPr/>
          </p:nvSpPr>
          <p:spPr>
            <a:xfrm>
              <a:off x="6788858" y="5692775"/>
              <a:ext cx="383267"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200</a:t>
              </a:r>
            </a:p>
          </p:txBody>
        </p:sp>
        <p:sp>
          <p:nvSpPr>
            <p:cNvPr id="15" name="Line 15"/>
            <p:cNvSpPr/>
            <p:nvPr/>
          </p:nvSpPr>
          <p:spPr>
            <a:xfrm>
              <a:off x="8994362" y="2038350"/>
              <a:ext cx="9525" cy="3486150"/>
            </a:xfrm>
            <a:custGeom>
              <a:avLst/>
              <a:gdLst/>
              <a:ahLst/>
              <a:cxnLst/>
              <a:rect l="l" t="t" r="r" b="b"/>
              <a:pathLst>
                <a:path w="9525" h="3486150">
                  <a:moveTo>
                    <a:pt x="0" y="0"/>
                  </a:moveTo>
                  <a:lnTo>
                    <a:pt x="0" y="3486150"/>
                  </a:lnTo>
                </a:path>
              </a:pathLst>
            </a:custGeom>
            <a:noFill/>
            <a:ln w="9525">
              <a:solidFill>
                <a:srgbClr val="E5EDE7"/>
              </a:solidFill>
            </a:ln>
          </p:spPr>
        </p:sp>
        <p:sp>
          <p:nvSpPr>
            <p:cNvPr id="16" name="TextBox 16"/>
            <p:cNvSpPr txBox="1"/>
            <p:nvPr/>
          </p:nvSpPr>
          <p:spPr>
            <a:xfrm>
              <a:off x="8802729" y="5692775"/>
              <a:ext cx="383267"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300</a:t>
              </a:r>
            </a:p>
          </p:txBody>
        </p:sp>
        <p:sp>
          <p:nvSpPr>
            <p:cNvPr id="17" name="Line 17"/>
            <p:cNvSpPr/>
            <p:nvPr/>
          </p:nvSpPr>
          <p:spPr>
            <a:xfrm>
              <a:off x="10001250" y="2038350"/>
              <a:ext cx="9525" cy="3486150"/>
            </a:xfrm>
            <a:custGeom>
              <a:avLst/>
              <a:gdLst/>
              <a:ahLst/>
              <a:cxnLst/>
              <a:rect l="l" t="t" r="r" b="b"/>
              <a:pathLst>
                <a:path w="9525" h="3486150">
                  <a:moveTo>
                    <a:pt x="0" y="0"/>
                  </a:moveTo>
                  <a:lnTo>
                    <a:pt x="0" y="3486150"/>
                  </a:lnTo>
                </a:path>
              </a:pathLst>
            </a:custGeom>
            <a:noFill/>
            <a:ln w="9525">
              <a:solidFill>
                <a:srgbClr val="E5EDE7"/>
              </a:solidFill>
            </a:ln>
          </p:spPr>
        </p:sp>
        <p:sp>
          <p:nvSpPr>
            <p:cNvPr id="18" name="TextBox 18"/>
            <p:cNvSpPr txBox="1"/>
            <p:nvPr/>
          </p:nvSpPr>
          <p:spPr>
            <a:xfrm>
              <a:off x="9809617" y="5692775"/>
              <a:ext cx="383267"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icrosoft YaHei"/>
                  <a:ea typeface="Microsoft YaHei"/>
                  <a:cs typeface="Microsoft YaHei"/>
                </a:rPr>
                <a:t>350</a:t>
              </a:r>
            </a:p>
          </p:txBody>
        </p:sp>
        <p:sp>
          <p:nvSpPr>
            <p:cNvPr id="19" name="TextBox 19"/>
            <p:cNvSpPr txBox="1"/>
            <p:nvPr/>
          </p:nvSpPr>
          <p:spPr>
            <a:xfrm>
              <a:off x="2180387" y="2120900"/>
              <a:ext cx="477469" cy="381381"/>
            </a:xfrm>
            <a:prstGeom prst="rect">
              <a:avLst/>
            </a:prstGeom>
            <a:noFill/>
            <a:ln>
              <a:noFill/>
            </a:ln>
          </p:spPr>
          <p:txBody>
            <a:bodyPr wrap="none" lIns="0" tIns="0" rIns="0" bIns="0" anchor="t" anchorCtr="0">
              <a:spAutoFit/>
            </a:bodyPr>
            <a:lstStyle/>
            <a:p>
              <a:pPr algn="r"/>
              <a:r>
                <a:rPr lang="en-US" sz="1950" dirty="0">
                  <a:solidFill>
                    <a:schemeClr val="dk1"/>
                  </a:solidFill>
                  <a:latin typeface="Microsoft YaHei"/>
                  <a:ea typeface="Microsoft YaHei"/>
                  <a:cs typeface="Microsoft YaHei"/>
                </a:rPr>
                <a:t>BAU</a:t>
              </a:r>
            </a:p>
          </p:txBody>
        </p:sp>
        <p:graphicFrame>
          <p:nvGraphicFramePr>
            <p:cNvPr id="20" name="cumulative-mitigation"/>
            <p:cNvGraphicFramePr>
              <a:graphicFrameLocks noGrp="1"/>
            </p:cNvGraphicFramePr>
            <p:nvPr/>
          </p:nvGraphicFramePr>
          <p:xfrm>
            <a:off x="2952750" y="2028825"/>
            <a:ext cx="7048500" cy="346710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1"/>
            <p:cNvSpPr txBox="1"/>
            <p:nvPr/>
          </p:nvSpPr>
          <p:spPr>
            <a:xfrm>
              <a:off x="9916954" y="21209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340.63</a:t>
              </a:r>
            </a:p>
          </p:txBody>
        </p:sp>
        <p:sp>
          <p:nvSpPr>
            <p:cNvPr id="22" name="TextBox 22"/>
            <p:cNvSpPr txBox="1"/>
            <p:nvPr/>
          </p:nvSpPr>
          <p:spPr>
            <a:xfrm>
              <a:off x="11504314" y="2120900"/>
              <a:ext cx="164192"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a:t>
              </a:r>
            </a:p>
          </p:txBody>
        </p:sp>
        <p:sp>
          <p:nvSpPr>
            <p:cNvPr id="23" name="TextBox 23"/>
            <p:cNvSpPr txBox="1"/>
            <p:nvPr/>
          </p:nvSpPr>
          <p:spPr>
            <a:xfrm>
              <a:off x="1588008" y="2616200"/>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减少浪费</a:t>
              </a:r>
            </a:p>
          </p:txBody>
        </p:sp>
        <p:sp>
          <p:nvSpPr>
            <p:cNvPr id="24" name="TextBox 24"/>
            <p:cNvSpPr txBox="1"/>
            <p:nvPr/>
          </p:nvSpPr>
          <p:spPr>
            <a:xfrm>
              <a:off x="9176290" y="26162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303.85</a:t>
              </a:r>
            </a:p>
          </p:txBody>
        </p:sp>
        <p:sp>
          <p:nvSpPr>
            <p:cNvPr id="25" name="TextBox 25"/>
            <p:cNvSpPr txBox="1"/>
            <p:nvPr/>
          </p:nvSpPr>
          <p:spPr>
            <a:xfrm>
              <a:off x="10874292" y="2616200"/>
              <a:ext cx="794214"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10.8%</a:t>
              </a:r>
            </a:p>
          </p:txBody>
        </p:sp>
        <p:sp>
          <p:nvSpPr>
            <p:cNvPr id="26" name="TextBox 26"/>
            <p:cNvSpPr txBox="1"/>
            <p:nvPr/>
          </p:nvSpPr>
          <p:spPr>
            <a:xfrm>
              <a:off x="1588008" y="3111500"/>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城市转型</a:t>
              </a:r>
            </a:p>
          </p:txBody>
        </p:sp>
        <p:sp>
          <p:nvSpPr>
            <p:cNvPr id="27" name="TextBox 27"/>
            <p:cNvSpPr txBox="1"/>
            <p:nvPr/>
          </p:nvSpPr>
          <p:spPr>
            <a:xfrm>
              <a:off x="9305734" y="31115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310.28</a:t>
              </a:r>
            </a:p>
          </p:txBody>
        </p:sp>
        <p:sp>
          <p:nvSpPr>
            <p:cNvPr id="28" name="TextBox 28"/>
            <p:cNvSpPr txBox="1"/>
            <p:nvPr/>
          </p:nvSpPr>
          <p:spPr>
            <a:xfrm>
              <a:off x="11018672" y="3111500"/>
              <a:ext cx="649834"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8.9%</a:t>
              </a:r>
            </a:p>
          </p:txBody>
        </p:sp>
        <p:sp>
          <p:nvSpPr>
            <p:cNvPr id="29" name="TextBox 29"/>
            <p:cNvSpPr txBox="1"/>
            <p:nvPr/>
          </p:nvSpPr>
          <p:spPr>
            <a:xfrm>
              <a:off x="1588008" y="3606800"/>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菜系转型</a:t>
              </a:r>
            </a:p>
          </p:txBody>
        </p:sp>
        <p:sp>
          <p:nvSpPr>
            <p:cNvPr id="30" name="TextBox 30"/>
            <p:cNvSpPr txBox="1"/>
            <p:nvPr/>
          </p:nvSpPr>
          <p:spPr>
            <a:xfrm>
              <a:off x="7961090" y="36068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243.51</a:t>
              </a:r>
            </a:p>
          </p:txBody>
        </p:sp>
        <p:sp>
          <p:nvSpPr>
            <p:cNvPr id="31" name="TextBox 31"/>
            <p:cNvSpPr txBox="1"/>
            <p:nvPr/>
          </p:nvSpPr>
          <p:spPr>
            <a:xfrm>
              <a:off x="10874292" y="3606800"/>
              <a:ext cx="794214"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28.5%</a:t>
              </a:r>
            </a:p>
          </p:txBody>
        </p:sp>
        <p:sp>
          <p:nvSpPr>
            <p:cNvPr id="32" name="TextBox 32"/>
            <p:cNvSpPr txBox="1"/>
            <p:nvPr/>
          </p:nvSpPr>
          <p:spPr>
            <a:xfrm>
              <a:off x="1588008" y="4102100"/>
              <a:ext cx="1069848"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菜品转型</a:t>
              </a:r>
            </a:p>
          </p:txBody>
        </p:sp>
        <p:sp>
          <p:nvSpPr>
            <p:cNvPr id="33" name="TextBox 33"/>
            <p:cNvSpPr txBox="1"/>
            <p:nvPr/>
          </p:nvSpPr>
          <p:spPr>
            <a:xfrm>
              <a:off x="7276148" y="41021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209.50</a:t>
              </a:r>
            </a:p>
          </p:txBody>
        </p:sp>
        <p:sp>
          <p:nvSpPr>
            <p:cNvPr id="34" name="TextBox 34"/>
            <p:cNvSpPr txBox="1"/>
            <p:nvPr/>
          </p:nvSpPr>
          <p:spPr>
            <a:xfrm>
              <a:off x="10874292" y="4102100"/>
              <a:ext cx="794214"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38.5%</a:t>
              </a:r>
            </a:p>
          </p:txBody>
        </p:sp>
        <p:sp>
          <p:nvSpPr>
            <p:cNvPr id="35" name="TextBox 35"/>
            <p:cNvSpPr txBox="1"/>
            <p:nvPr/>
          </p:nvSpPr>
          <p:spPr>
            <a:xfrm>
              <a:off x="1325499" y="4597400"/>
              <a:ext cx="1332357" cy="381381"/>
            </a:xfrm>
            <a:prstGeom prst="rect">
              <a:avLst/>
            </a:prstGeom>
            <a:noFill/>
            <a:ln>
              <a:noFill/>
            </a:ln>
          </p:spPr>
          <p:txBody>
            <a:bodyPr wrap="none" lIns="0" tIns="0" rIns="0" bIns="0" anchor="t" anchorCtr="0">
              <a:spAutoFit/>
            </a:bodyPr>
            <a:lstStyle/>
            <a:p>
              <a:pPr algn="r"/>
              <a:r>
                <a:rPr lang="zh-CN" sz="1950" dirty="0">
                  <a:solidFill>
                    <a:schemeClr val="dk1"/>
                  </a:solidFill>
                  <a:latin typeface="Microsoft YaHei"/>
                  <a:ea typeface="Microsoft YaHei"/>
                  <a:cs typeface="Microsoft YaHei"/>
                </a:rPr>
                <a:t>培养肉替代</a:t>
              </a:r>
            </a:p>
          </p:txBody>
        </p:sp>
        <p:sp>
          <p:nvSpPr>
            <p:cNvPr id="36" name="TextBox 36"/>
            <p:cNvSpPr txBox="1"/>
            <p:nvPr/>
          </p:nvSpPr>
          <p:spPr>
            <a:xfrm>
              <a:off x="5923026" y="4597400"/>
              <a:ext cx="88609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142.31</a:t>
              </a:r>
            </a:p>
          </p:txBody>
        </p:sp>
        <p:sp>
          <p:nvSpPr>
            <p:cNvPr id="37" name="TextBox 37"/>
            <p:cNvSpPr txBox="1"/>
            <p:nvPr/>
          </p:nvSpPr>
          <p:spPr>
            <a:xfrm>
              <a:off x="10874292" y="4597400"/>
              <a:ext cx="794214" cy="381381"/>
            </a:xfrm>
            <a:prstGeom prst="rect">
              <a:avLst/>
            </a:prstGeom>
            <a:noFill/>
            <a:ln>
              <a:noFill/>
            </a:ln>
          </p:spPr>
          <p:txBody>
            <a:bodyPr wrap="none" lIns="0" tIns="0" rIns="0" bIns="0" anchor="t" anchorCtr="0">
              <a:spAutoFit/>
            </a:bodyPr>
            <a:lstStyle/>
            <a:p>
              <a:pPr algn="r"/>
              <a:r>
                <a:rPr lang="zh-CN" sz="1950" dirty="0">
                  <a:solidFill>
                    <a:schemeClr val="accent5"/>
                  </a:solidFill>
                  <a:latin typeface="Microsoft YaHei"/>
                  <a:ea typeface="Microsoft YaHei"/>
                  <a:cs typeface="Microsoft YaHei"/>
                </a:rPr>
                <a:t>58.2%</a:t>
              </a:r>
            </a:p>
          </p:txBody>
        </p:sp>
        <p:sp>
          <p:nvSpPr>
            <p:cNvPr id="38" name="TextBox 38"/>
            <p:cNvSpPr txBox="1"/>
            <p:nvPr/>
          </p:nvSpPr>
          <p:spPr>
            <a:xfrm>
              <a:off x="1588008" y="5092700"/>
              <a:ext cx="1069848" cy="381381"/>
            </a:xfrm>
            <a:prstGeom prst="rect">
              <a:avLst/>
            </a:prstGeom>
            <a:noFill/>
            <a:ln>
              <a:noFill/>
            </a:ln>
          </p:spPr>
          <p:txBody>
            <a:bodyPr wrap="none" lIns="0" tIns="0" rIns="0" bIns="0" anchor="t" anchorCtr="0">
              <a:spAutoFit/>
            </a:bodyPr>
            <a:lstStyle/>
            <a:p>
              <a:pPr algn="r"/>
              <a:r>
                <a:rPr lang="zh-CN" sz="1950" b="1" dirty="0">
                  <a:solidFill>
                    <a:schemeClr val="accent1"/>
                  </a:solidFill>
                  <a:latin typeface="Microsoft YaHei"/>
                  <a:ea typeface="Microsoft YaHei"/>
                  <a:cs typeface="Microsoft YaHei"/>
                </a:rPr>
                <a:t>综合策略</a:t>
              </a:r>
            </a:p>
          </p:txBody>
        </p:sp>
        <p:sp>
          <p:nvSpPr>
            <p:cNvPr id="39" name="TextBox 39"/>
            <p:cNvSpPr txBox="1"/>
            <p:nvPr/>
          </p:nvSpPr>
          <p:spPr>
            <a:xfrm>
              <a:off x="5198078" y="5092700"/>
              <a:ext cx="929406"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icrosoft YaHei"/>
                  <a:ea typeface="Microsoft YaHei"/>
                  <a:cs typeface="Microsoft YaHei"/>
                </a:rPr>
                <a:t>106.31</a:t>
              </a:r>
            </a:p>
          </p:txBody>
        </p:sp>
        <p:sp>
          <p:nvSpPr>
            <p:cNvPr id="40" name="TextBox 40"/>
            <p:cNvSpPr txBox="1"/>
            <p:nvPr/>
          </p:nvSpPr>
          <p:spPr>
            <a:xfrm>
              <a:off x="10835572" y="5092700"/>
              <a:ext cx="832934" cy="381381"/>
            </a:xfrm>
            <a:prstGeom prst="rect">
              <a:avLst/>
            </a:prstGeom>
            <a:noFill/>
            <a:ln>
              <a:noFill/>
            </a:ln>
          </p:spPr>
          <p:txBody>
            <a:bodyPr wrap="none" lIns="0" tIns="0" rIns="0" bIns="0" anchor="t" anchorCtr="0">
              <a:spAutoFit/>
            </a:bodyPr>
            <a:lstStyle/>
            <a:p>
              <a:pPr algn="r"/>
              <a:r>
                <a:rPr lang="zh-CN" sz="1950" b="1" dirty="0">
                  <a:solidFill>
                    <a:schemeClr val="accent2"/>
                  </a:solidFill>
                  <a:latin typeface="Microsoft YaHei"/>
                  <a:ea typeface="Microsoft YaHei"/>
                  <a:cs typeface="Microsoft YaHei"/>
                </a:rPr>
                <a:t>68.8%</a:t>
              </a:r>
            </a:p>
          </p:txBody>
        </p:sp>
      </p:grpSp>
      <p:grpSp>
        <p:nvGrpSpPr>
          <p:cNvPr id="44" name="source-and-page"/>
          <p:cNvGrpSpPr/>
          <p:nvPr/>
        </p:nvGrpSpPr>
        <p:grpSpPr>
          <a:xfrm>
            <a:off x="526542" y="6305550"/>
            <a:ext cx="11132058" cy="346583"/>
            <a:chOff x="526542" y="6305550"/>
            <a:chExt cx="11132058" cy="346583"/>
          </a:xfrm>
        </p:grpSpPr>
        <p:sp>
          <p:nvSpPr>
            <p:cNvPr id="42" name="Line 42"/>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3" name="TextBox 43"/>
            <p:cNvSpPr txBox="1"/>
            <p:nvPr/>
          </p:nvSpPr>
          <p:spPr>
            <a:xfrm>
              <a:off x="526542" y="6388100"/>
              <a:ext cx="773788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Fig.7b｜减排率由累计值相对 BAU 340.63 计算；68.8% 约为 69%</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减排情景与目标边界</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13 / 18</a:t>
              </a:r>
            </a:p>
          </p:txBody>
        </p:sp>
      </p:grpSp>
      <p:grpSp>
        <p:nvGrpSpPr>
          <p:cNvPr id="6" name="slide-title"/>
          <p:cNvGrpSpPr/>
          <p:nvPr/>
        </p:nvGrpSpPr>
        <p:grpSpPr>
          <a:xfrm>
            <a:off x="515112" y="622300"/>
            <a:ext cx="8540496" cy="704088"/>
            <a:chOff x="515112" y="622300"/>
            <a:chExt cx="8540496" cy="704088"/>
          </a:xfrm>
        </p:grpSpPr>
        <p:sp>
          <p:nvSpPr>
            <p:cNvPr id="5" name="TextBox 5"/>
            <p:cNvSpPr txBox="1"/>
            <p:nvPr/>
          </p:nvSpPr>
          <p:spPr>
            <a:xfrm>
              <a:off x="515112" y="622300"/>
              <a:ext cx="8540496"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减排结果如何对照 2°C、1.5°C 预算？</a:t>
              </a:r>
            </a:p>
          </p:txBody>
        </p:sp>
      </p:grpSp>
      <p:grpSp>
        <p:nvGrpSpPr>
          <p:cNvPr id="54" name="p13-main-evidence"/>
          <p:cNvGrpSpPr/>
          <p:nvPr/>
        </p:nvGrpSpPr>
        <p:grpSpPr>
          <a:xfrm>
            <a:off x="523494" y="1387475"/>
            <a:ext cx="10874788" cy="4772406"/>
            <a:chOff x="523494" y="1387475"/>
            <a:chExt cx="10874788" cy="4772406"/>
          </a:xfrm>
        </p:grpSpPr>
        <p:sp>
          <p:nvSpPr>
            <p:cNvPr id="7" name="TextBox 7"/>
            <p:cNvSpPr txBox="1"/>
            <p:nvPr/>
          </p:nvSpPr>
          <p:spPr>
            <a:xfrm>
              <a:off x="523494" y="1387475"/>
              <a:ext cx="5963416"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食物＋非食物累计排放，2020—2100（Gt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a:t>
              </a:r>
            </a:p>
          </p:txBody>
        </p:sp>
        <p:sp>
          <p:nvSpPr>
            <p:cNvPr id="8" name="Rectangle 8"/>
            <p:cNvSpPr/>
            <p:nvPr/>
          </p:nvSpPr>
          <p:spPr>
            <a:xfrm>
              <a:off x="533400" y="1847850"/>
              <a:ext cx="209550" cy="171450"/>
            </a:xfrm>
            <a:prstGeom prst="rect">
              <a:avLst/>
            </a:prstGeom>
            <a:solidFill>
              <a:schemeClr val="accent1"/>
            </a:solidFill>
            <a:ln>
              <a:noFill/>
            </a:ln>
          </p:spPr>
        </p:sp>
        <p:sp>
          <p:nvSpPr>
            <p:cNvPr id="9" name="TextBox 9"/>
            <p:cNvSpPr txBox="1"/>
            <p:nvPr/>
          </p:nvSpPr>
          <p:spPr>
            <a:xfrm>
              <a:off x="857631" y="1812925"/>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icrosoft YaHei"/>
                  <a:ea typeface="Microsoft YaHei"/>
                  <a:cs typeface="Microsoft YaHei"/>
                </a:rPr>
                <a:t>食物系统</a:t>
              </a:r>
            </a:p>
          </p:txBody>
        </p:sp>
        <p:sp>
          <p:nvSpPr>
            <p:cNvPr id="10" name="Rectangle 10"/>
            <p:cNvSpPr/>
            <p:nvPr/>
          </p:nvSpPr>
          <p:spPr>
            <a:xfrm>
              <a:off x="2476500" y="1847850"/>
              <a:ext cx="209550" cy="171450"/>
            </a:xfrm>
            <a:prstGeom prst="rect">
              <a:avLst/>
            </a:prstGeom>
            <a:solidFill>
              <a:schemeClr val="accent6"/>
            </a:solidFill>
            <a:ln>
              <a:noFill/>
            </a:ln>
          </p:spPr>
        </p:sp>
        <p:sp>
          <p:nvSpPr>
            <p:cNvPr id="11" name="TextBox 11"/>
            <p:cNvSpPr txBox="1"/>
            <p:nvPr/>
          </p:nvSpPr>
          <p:spPr>
            <a:xfrm>
              <a:off x="2800731" y="1812925"/>
              <a:ext cx="122986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icrosoft YaHei"/>
                  <a:ea typeface="Microsoft YaHei"/>
                  <a:cs typeface="Microsoft YaHei"/>
                </a:rPr>
                <a:t>非食物系统</a:t>
              </a:r>
            </a:p>
          </p:txBody>
        </p:sp>
        <p:sp>
          <p:nvSpPr>
            <p:cNvPr id="12" name="Line 12"/>
            <p:cNvSpPr/>
            <p:nvPr/>
          </p:nvSpPr>
          <p:spPr>
            <a:xfrm>
              <a:off x="2343150"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13" name="TextBox 13"/>
            <p:cNvSpPr txBox="1"/>
            <p:nvPr/>
          </p:nvSpPr>
          <p:spPr>
            <a:xfrm>
              <a:off x="2279999" y="5070475"/>
              <a:ext cx="126302"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0</a:t>
              </a:r>
            </a:p>
          </p:txBody>
        </p:sp>
        <p:sp>
          <p:nvSpPr>
            <p:cNvPr id="14" name="Line 14"/>
            <p:cNvSpPr/>
            <p:nvPr/>
          </p:nvSpPr>
          <p:spPr>
            <a:xfrm>
              <a:off x="4235482"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15" name="TextBox 15"/>
            <p:cNvSpPr txBox="1"/>
            <p:nvPr/>
          </p:nvSpPr>
          <p:spPr>
            <a:xfrm>
              <a:off x="4061270" y="5070475"/>
              <a:ext cx="348425"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100</a:t>
              </a:r>
            </a:p>
          </p:txBody>
        </p:sp>
        <p:sp>
          <p:nvSpPr>
            <p:cNvPr id="16" name="Line 16"/>
            <p:cNvSpPr/>
            <p:nvPr/>
          </p:nvSpPr>
          <p:spPr>
            <a:xfrm>
              <a:off x="6127718"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17" name="TextBox 17"/>
            <p:cNvSpPr txBox="1"/>
            <p:nvPr/>
          </p:nvSpPr>
          <p:spPr>
            <a:xfrm>
              <a:off x="5953506" y="5070475"/>
              <a:ext cx="348425"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200</a:t>
              </a:r>
            </a:p>
          </p:txBody>
        </p:sp>
        <p:sp>
          <p:nvSpPr>
            <p:cNvPr id="18" name="Line 18"/>
            <p:cNvSpPr/>
            <p:nvPr/>
          </p:nvSpPr>
          <p:spPr>
            <a:xfrm>
              <a:off x="8020050"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19" name="TextBox 19"/>
            <p:cNvSpPr txBox="1"/>
            <p:nvPr/>
          </p:nvSpPr>
          <p:spPr>
            <a:xfrm>
              <a:off x="7845838" y="5070475"/>
              <a:ext cx="348425"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300</a:t>
              </a:r>
            </a:p>
          </p:txBody>
        </p:sp>
        <p:sp>
          <p:nvSpPr>
            <p:cNvPr id="20" name="Line 20"/>
            <p:cNvSpPr/>
            <p:nvPr/>
          </p:nvSpPr>
          <p:spPr>
            <a:xfrm>
              <a:off x="9912382"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21" name="TextBox 21"/>
            <p:cNvSpPr txBox="1"/>
            <p:nvPr/>
          </p:nvSpPr>
          <p:spPr>
            <a:xfrm>
              <a:off x="9738170" y="5070475"/>
              <a:ext cx="348425"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400</a:t>
              </a:r>
            </a:p>
          </p:txBody>
        </p:sp>
        <p:sp>
          <p:nvSpPr>
            <p:cNvPr id="22" name="Line 22"/>
            <p:cNvSpPr/>
            <p:nvPr/>
          </p:nvSpPr>
          <p:spPr>
            <a:xfrm>
              <a:off x="10858500" y="2419350"/>
              <a:ext cx="9525" cy="2552700"/>
            </a:xfrm>
            <a:custGeom>
              <a:avLst/>
              <a:gdLst/>
              <a:ahLst/>
              <a:cxnLst/>
              <a:rect l="l" t="t" r="r" b="b"/>
              <a:pathLst>
                <a:path w="9525" h="2552700">
                  <a:moveTo>
                    <a:pt x="0" y="0"/>
                  </a:moveTo>
                  <a:lnTo>
                    <a:pt x="0" y="2552700"/>
                  </a:lnTo>
                </a:path>
              </a:pathLst>
            </a:custGeom>
            <a:noFill/>
            <a:ln w="9525">
              <a:solidFill>
                <a:srgbClr val="E5EDE7"/>
              </a:solidFill>
            </a:ln>
          </p:spPr>
        </p:sp>
        <p:sp>
          <p:nvSpPr>
            <p:cNvPr id="23" name="TextBox 23"/>
            <p:cNvSpPr txBox="1"/>
            <p:nvPr/>
          </p:nvSpPr>
          <p:spPr>
            <a:xfrm>
              <a:off x="10684288" y="5070475"/>
              <a:ext cx="348425"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icrosoft YaHei"/>
                  <a:ea typeface="Microsoft YaHei"/>
                  <a:cs typeface="Microsoft YaHei"/>
                </a:rPr>
                <a:t>450</a:t>
              </a:r>
            </a:p>
          </p:txBody>
        </p:sp>
        <p:sp>
          <p:nvSpPr>
            <p:cNvPr id="24" name="Line 24"/>
            <p:cNvSpPr/>
            <p:nvPr/>
          </p:nvSpPr>
          <p:spPr>
            <a:xfrm>
              <a:off x="4386834" y="2419350"/>
              <a:ext cx="9525" cy="2552700"/>
            </a:xfrm>
            <a:custGeom>
              <a:avLst/>
              <a:gdLst/>
              <a:ahLst/>
              <a:cxnLst/>
              <a:rect l="l" t="t" r="r" b="b"/>
              <a:pathLst>
                <a:path w="9525" h="2552700">
                  <a:moveTo>
                    <a:pt x="0" y="0"/>
                  </a:moveTo>
                  <a:lnTo>
                    <a:pt x="0" y="2552700"/>
                  </a:lnTo>
                </a:path>
              </a:pathLst>
            </a:custGeom>
            <a:noFill/>
            <a:ln w="15240">
              <a:solidFill>
                <a:schemeClr val="accent3"/>
              </a:solidFill>
              <a:custDash>
                <a:ds d="375000" sp="312500"/>
              </a:custDash>
            </a:ln>
          </p:spPr>
        </p:sp>
        <p:sp>
          <p:nvSpPr>
            <p:cNvPr id="25" name="TextBox 25"/>
            <p:cNvSpPr txBox="1"/>
            <p:nvPr/>
          </p:nvSpPr>
          <p:spPr>
            <a:xfrm>
              <a:off x="4195201" y="2139950"/>
              <a:ext cx="383267" cy="322707"/>
            </a:xfrm>
            <a:prstGeom prst="rect">
              <a:avLst/>
            </a:prstGeom>
            <a:noFill/>
            <a:ln>
              <a:noFill/>
            </a:ln>
          </p:spPr>
          <p:txBody>
            <a:bodyPr wrap="none" lIns="0" tIns="0" rIns="0" bIns="0" anchor="t" anchorCtr="0">
              <a:spAutoFit/>
            </a:bodyPr>
            <a:lstStyle/>
            <a:p>
              <a:pPr algn="ctr"/>
              <a:r>
                <a:rPr lang="zh-CN" sz="1650" dirty="0">
                  <a:solidFill>
                    <a:schemeClr val="accent3"/>
                  </a:solidFill>
                  <a:latin typeface="Microsoft YaHei"/>
                  <a:ea typeface="Microsoft YaHei"/>
                  <a:cs typeface="Microsoft YaHei"/>
                </a:rPr>
                <a:t>108</a:t>
              </a:r>
            </a:p>
          </p:txBody>
        </p:sp>
        <p:sp>
          <p:nvSpPr>
            <p:cNvPr id="26" name="Line 26"/>
            <p:cNvSpPr/>
            <p:nvPr/>
          </p:nvSpPr>
          <p:spPr>
            <a:xfrm>
              <a:off x="5219414" y="2419350"/>
              <a:ext cx="9525" cy="2552700"/>
            </a:xfrm>
            <a:custGeom>
              <a:avLst/>
              <a:gdLst/>
              <a:ahLst/>
              <a:cxnLst/>
              <a:rect l="l" t="t" r="r" b="b"/>
              <a:pathLst>
                <a:path w="9525" h="2552700">
                  <a:moveTo>
                    <a:pt x="0" y="0"/>
                  </a:moveTo>
                  <a:lnTo>
                    <a:pt x="0" y="2552700"/>
                  </a:lnTo>
                </a:path>
              </a:pathLst>
            </a:custGeom>
            <a:noFill/>
            <a:ln w="15240">
              <a:solidFill>
                <a:schemeClr val="accent3"/>
              </a:solidFill>
              <a:custDash>
                <a:ds d="375000" sp="312500"/>
              </a:custDash>
            </a:ln>
          </p:spPr>
        </p:sp>
        <p:sp>
          <p:nvSpPr>
            <p:cNvPr id="27" name="TextBox 27"/>
            <p:cNvSpPr txBox="1"/>
            <p:nvPr/>
          </p:nvSpPr>
          <p:spPr>
            <a:xfrm>
              <a:off x="5027781" y="2139950"/>
              <a:ext cx="383267" cy="322707"/>
            </a:xfrm>
            <a:prstGeom prst="rect">
              <a:avLst/>
            </a:prstGeom>
            <a:noFill/>
            <a:ln>
              <a:noFill/>
            </a:ln>
          </p:spPr>
          <p:txBody>
            <a:bodyPr wrap="none" lIns="0" tIns="0" rIns="0" bIns="0" anchor="t" anchorCtr="0">
              <a:spAutoFit/>
            </a:bodyPr>
            <a:lstStyle/>
            <a:p>
              <a:pPr algn="ctr"/>
              <a:r>
                <a:rPr lang="zh-CN" sz="1650" dirty="0">
                  <a:solidFill>
                    <a:schemeClr val="accent3"/>
                  </a:solidFill>
                  <a:latin typeface="Microsoft YaHei"/>
                  <a:ea typeface="Microsoft YaHei"/>
                  <a:cs typeface="Microsoft YaHei"/>
                </a:rPr>
                <a:t>152</a:t>
              </a:r>
            </a:p>
          </p:txBody>
        </p:sp>
        <p:sp>
          <p:nvSpPr>
            <p:cNvPr id="28" name="Line 28"/>
            <p:cNvSpPr/>
            <p:nvPr/>
          </p:nvSpPr>
          <p:spPr>
            <a:xfrm>
              <a:off x="8057864" y="2419350"/>
              <a:ext cx="9525" cy="2552700"/>
            </a:xfrm>
            <a:custGeom>
              <a:avLst/>
              <a:gdLst/>
              <a:ahLst/>
              <a:cxnLst/>
              <a:rect l="l" t="t" r="r" b="b"/>
              <a:pathLst>
                <a:path w="9525" h="2552700">
                  <a:moveTo>
                    <a:pt x="0" y="0"/>
                  </a:moveTo>
                  <a:lnTo>
                    <a:pt x="0" y="2552700"/>
                  </a:lnTo>
                </a:path>
              </a:pathLst>
            </a:custGeom>
            <a:noFill/>
            <a:ln w="15240">
              <a:solidFill>
                <a:schemeClr val="accent2"/>
              </a:solidFill>
              <a:custDash>
                <a:ds d="375000" sp="312500"/>
              </a:custDash>
            </a:ln>
          </p:spPr>
        </p:sp>
        <p:sp>
          <p:nvSpPr>
            <p:cNvPr id="29" name="TextBox 29"/>
            <p:cNvSpPr txBox="1"/>
            <p:nvPr/>
          </p:nvSpPr>
          <p:spPr>
            <a:xfrm>
              <a:off x="7866231" y="2139950"/>
              <a:ext cx="383267"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icrosoft YaHei"/>
                  <a:ea typeface="Microsoft YaHei"/>
                  <a:cs typeface="Microsoft YaHei"/>
                </a:rPr>
                <a:t>302</a:t>
              </a:r>
            </a:p>
          </p:txBody>
        </p:sp>
        <p:sp>
          <p:nvSpPr>
            <p:cNvPr id="30" name="Line 30"/>
            <p:cNvSpPr/>
            <p:nvPr/>
          </p:nvSpPr>
          <p:spPr>
            <a:xfrm>
              <a:off x="9723120" y="2419350"/>
              <a:ext cx="9525" cy="2552700"/>
            </a:xfrm>
            <a:custGeom>
              <a:avLst/>
              <a:gdLst/>
              <a:ahLst/>
              <a:cxnLst/>
              <a:rect l="l" t="t" r="r" b="b"/>
              <a:pathLst>
                <a:path w="9525" h="2552700">
                  <a:moveTo>
                    <a:pt x="0" y="0"/>
                  </a:moveTo>
                  <a:lnTo>
                    <a:pt x="0" y="2552700"/>
                  </a:lnTo>
                </a:path>
              </a:pathLst>
            </a:custGeom>
            <a:noFill/>
            <a:ln w="15240">
              <a:solidFill>
                <a:schemeClr val="accent2"/>
              </a:solidFill>
              <a:custDash>
                <a:ds d="375000" sp="312500"/>
              </a:custDash>
            </a:ln>
          </p:spPr>
        </p:sp>
        <p:sp>
          <p:nvSpPr>
            <p:cNvPr id="31" name="TextBox 31"/>
            <p:cNvSpPr txBox="1"/>
            <p:nvPr/>
          </p:nvSpPr>
          <p:spPr>
            <a:xfrm>
              <a:off x="9531487" y="2139950"/>
              <a:ext cx="383267"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icrosoft YaHei"/>
                  <a:ea typeface="Microsoft YaHei"/>
                  <a:cs typeface="Microsoft YaHei"/>
                </a:rPr>
                <a:t>390</a:t>
              </a:r>
            </a:p>
          </p:txBody>
        </p:sp>
        <p:sp>
          <p:nvSpPr>
            <p:cNvPr id="32" name="TextBox 32"/>
            <p:cNvSpPr txBox="1"/>
            <p:nvPr/>
          </p:nvSpPr>
          <p:spPr>
            <a:xfrm>
              <a:off x="1534820" y="2584450"/>
              <a:ext cx="514198" cy="410718"/>
            </a:xfrm>
            <a:prstGeom prst="rect">
              <a:avLst/>
            </a:prstGeom>
            <a:noFill/>
            <a:ln>
              <a:noFill/>
            </a:ln>
          </p:spPr>
          <p:txBody>
            <a:bodyPr wrap="none" lIns="0" tIns="0" rIns="0" bIns="0" anchor="t" anchorCtr="0">
              <a:spAutoFit/>
            </a:bodyPr>
            <a:lstStyle/>
            <a:p>
              <a:pPr algn="r"/>
              <a:r>
                <a:rPr lang="en-US" sz="2100" dirty="0">
                  <a:solidFill>
                    <a:schemeClr val="dk1"/>
                  </a:solidFill>
                  <a:latin typeface="Microsoft YaHei"/>
                  <a:ea typeface="Microsoft YaHei"/>
                  <a:cs typeface="Microsoft YaHei"/>
                </a:rPr>
                <a:t>BAU</a:t>
              </a:r>
            </a:p>
          </p:txBody>
        </p:sp>
        <p:graphicFrame>
          <p:nvGraphicFramePr>
            <p:cNvPr id="33" name="national-budget-comparison"/>
            <p:cNvGraphicFramePr>
              <a:graphicFrameLocks noGrp="1"/>
            </p:cNvGraphicFramePr>
            <p:nvPr/>
          </p:nvGraphicFramePr>
          <p:xfrm>
            <a:off x="2343150" y="2295525"/>
            <a:ext cx="851535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34"/>
            <p:cNvSpPr txBox="1"/>
            <p:nvPr/>
          </p:nvSpPr>
          <p:spPr>
            <a:xfrm>
              <a:off x="5157064" y="2613025"/>
              <a:ext cx="817931"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icrosoft YaHei"/>
                  <a:ea typeface="Microsoft YaHei"/>
                  <a:cs typeface="Microsoft YaHei"/>
                </a:rPr>
                <a:t>340.63</a:t>
              </a:r>
            </a:p>
          </p:txBody>
        </p:sp>
        <p:sp>
          <p:nvSpPr>
            <p:cNvPr id="35" name="TextBox 35"/>
            <p:cNvSpPr txBox="1"/>
            <p:nvPr/>
          </p:nvSpPr>
          <p:spPr>
            <a:xfrm>
              <a:off x="9165431" y="2613025"/>
              <a:ext cx="684657"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icrosoft YaHei"/>
                  <a:ea typeface="Microsoft YaHei"/>
                  <a:cs typeface="Microsoft YaHei"/>
                </a:rPr>
                <a:t>75.98</a:t>
              </a:r>
            </a:p>
          </p:txBody>
        </p:sp>
        <p:grpSp>
          <p:nvGrpSpPr>
            <p:cNvPr id="38" name="text-20"/>
            <p:cNvGrpSpPr/>
            <p:nvPr/>
          </p:nvGrpSpPr>
          <p:grpSpPr>
            <a:xfrm>
              <a:off x="10312432" y="2581275"/>
              <a:ext cx="1085850" cy="413893"/>
              <a:chOff x="10312432" y="2581275"/>
              <a:chExt cx="1085850" cy="413893"/>
            </a:xfrm>
          </p:grpSpPr>
          <p:sp>
            <p:nvSpPr>
              <p:cNvPr id="36" name="Rectangle 36"/>
              <p:cNvSpPr/>
              <p:nvPr/>
            </p:nvSpPr>
            <p:spPr>
              <a:xfrm>
                <a:off x="10312432" y="2581275"/>
                <a:ext cx="1085850" cy="361950"/>
              </a:xfrm>
              <a:prstGeom prst="rect">
                <a:avLst/>
              </a:prstGeom>
              <a:solidFill>
                <a:schemeClr val="lt1"/>
              </a:solidFill>
              <a:ln>
                <a:noFill/>
              </a:ln>
            </p:spPr>
          </p:sp>
          <p:sp>
            <p:nvSpPr>
              <p:cNvPr id="37" name="TextBox 37"/>
              <p:cNvSpPr txBox="1"/>
              <p:nvPr/>
            </p:nvSpPr>
            <p:spPr>
              <a:xfrm>
                <a:off x="10330339" y="2584450"/>
                <a:ext cx="100089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icrosoft YaHei"/>
                    <a:ea typeface="Microsoft YaHei"/>
                    <a:cs typeface="Microsoft YaHei"/>
                  </a:rPr>
                  <a:t>416.61</a:t>
                </a:r>
              </a:p>
            </p:txBody>
          </p:sp>
        </p:grpSp>
        <p:sp>
          <p:nvSpPr>
            <p:cNvPr id="39" name="TextBox 39"/>
            <p:cNvSpPr txBox="1"/>
            <p:nvPr/>
          </p:nvSpPr>
          <p:spPr>
            <a:xfrm>
              <a:off x="896874" y="3498850"/>
              <a:ext cx="1152144" cy="410718"/>
            </a:xfrm>
            <a:prstGeom prst="rect">
              <a:avLst/>
            </a:prstGeom>
            <a:noFill/>
            <a:ln>
              <a:noFill/>
            </a:ln>
          </p:spPr>
          <p:txBody>
            <a:bodyPr wrap="none" lIns="0" tIns="0" rIns="0" bIns="0" anchor="t" anchorCtr="0">
              <a:spAutoFit/>
            </a:bodyPr>
            <a:lstStyle/>
            <a:p>
              <a:pPr algn="r"/>
              <a:r>
                <a:rPr lang="zh-CN" sz="2100" dirty="0">
                  <a:solidFill>
                    <a:schemeClr val="dk1"/>
                  </a:solidFill>
                  <a:latin typeface="Microsoft YaHei"/>
                  <a:ea typeface="Microsoft YaHei"/>
                  <a:cs typeface="Microsoft YaHei"/>
                </a:rPr>
                <a:t>菜品转型</a:t>
              </a:r>
            </a:p>
          </p:txBody>
        </p:sp>
        <p:sp>
          <p:nvSpPr>
            <p:cNvPr id="40" name="TextBox 40"/>
            <p:cNvSpPr txBox="1"/>
            <p:nvPr/>
          </p:nvSpPr>
          <p:spPr>
            <a:xfrm>
              <a:off x="3916337" y="3527425"/>
              <a:ext cx="817931"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icrosoft YaHei"/>
                  <a:ea typeface="Microsoft YaHei"/>
                  <a:cs typeface="Microsoft YaHei"/>
                </a:rPr>
                <a:t>209.50</a:t>
              </a:r>
            </a:p>
          </p:txBody>
        </p:sp>
        <p:sp>
          <p:nvSpPr>
            <p:cNvPr id="41" name="TextBox 41"/>
            <p:cNvSpPr txBox="1"/>
            <p:nvPr/>
          </p:nvSpPr>
          <p:spPr>
            <a:xfrm>
              <a:off x="6684073" y="3527425"/>
              <a:ext cx="684657"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icrosoft YaHei"/>
                  <a:ea typeface="Microsoft YaHei"/>
                  <a:cs typeface="Microsoft YaHei"/>
                </a:rPr>
                <a:t>75.98</a:t>
              </a:r>
            </a:p>
          </p:txBody>
        </p:sp>
        <p:grpSp>
          <p:nvGrpSpPr>
            <p:cNvPr id="44" name="text-24"/>
            <p:cNvGrpSpPr/>
            <p:nvPr/>
          </p:nvGrpSpPr>
          <p:grpSpPr>
            <a:xfrm>
              <a:off x="7830979" y="3495675"/>
              <a:ext cx="1085850" cy="413893"/>
              <a:chOff x="7830979" y="3495675"/>
              <a:chExt cx="1085850" cy="413893"/>
            </a:xfrm>
          </p:grpSpPr>
          <p:sp>
            <p:nvSpPr>
              <p:cNvPr id="42" name="Rectangle 42"/>
              <p:cNvSpPr/>
              <p:nvPr/>
            </p:nvSpPr>
            <p:spPr>
              <a:xfrm>
                <a:off x="7830979" y="3495675"/>
                <a:ext cx="1085850" cy="361950"/>
              </a:xfrm>
              <a:prstGeom prst="rect">
                <a:avLst/>
              </a:prstGeom>
              <a:solidFill>
                <a:schemeClr val="lt1"/>
              </a:solidFill>
              <a:ln>
                <a:noFill/>
              </a:ln>
            </p:spPr>
          </p:sp>
          <p:sp>
            <p:nvSpPr>
              <p:cNvPr id="43" name="TextBox 43"/>
              <p:cNvSpPr txBox="1"/>
              <p:nvPr/>
            </p:nvSpPr>
            <p:spPr>
              <a:xfrm>
                <a:off x="7848886" y="3498850"/>
                <a:ext cx="100089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icrosoft YaHei"/>
                    <a:ea typeface="Microsoft YaHei"/>
                    <a:cs typeface="Microsoft YaHei"/>
                  </a:rPr>
                  <a:t>285.48</a:t>
                </a:r>
              </a:p>
            </p:txBody>
          </p:sp>
        </p:grpSp>
        <p:sp>
          <p:nvSpPr>
            <p:cNvPr id="45" name="TextBox 45"/>
            <p:cNvSpPr txBox="1"/>
            <p:nvPr/>
          </p:nvSpPr>
          <p:spPr>
            <a:xfrm>
              <a:off x="896874" y="4413250"/>
              <a:ext cx="1152144" cy="410718"/>
            </a:xfrm>
            <a:prstGeom prst="rect">
              <a:avLst/>
            </a:prstGeom>
            <a:noFill/>
            <a:ln>
              <a:noFill/>
            </a:ln>
          </p:spPr>
          <p:txBody>
            <a:bodyPr wrap="none" lIns="0" tIns="0" rIns="0" bIns="0" anchor="t" anchorCtr="0">
              <a:spAutoFit/>
            </a:bodyPr>
            <a:lstStyle/>
            <a:p>
              <a:pPr algn="r"/>
              <a:r>
                <a:rPr lang="zh-CN" sz="2100" dirty="0">
                  <a:solidFill>
                    <a:schemeClr val="dk1"/>
                  </a:solidFill>
                  <a:latin typeface="Microsoft YaHei"/>
                  <a:ea typeface="Microsoft YaHei"/>
                  <a:cs typeface="Microsoft YaHei"/>
                </a:rPr>
                <a:t>综合策略</a:t>
              </a:r>
            </a:p>
          </p:txBody>
        </p:sp>
        <p:sp>
          <p:nvSpPr>
            <p:cNvPr id="46" name="TextBox 46"/>
            <p:cNvSpPr txBox="1"/>
            <p:nvPr/>
          </p:nvSpPr>
          <p:spPr>
            <a:xfrm>
              <a:off x="2940025" y="4441825"/>
              <a:ext cx="817931"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icrosoft YaHei"/>
                  <a:ea typeface="Microsoft YaHei"/>
                  <a:cs typeface="Microsoft YaHei"/>
                </a:rPr>
                <a:t>106.31</a:t>
              </a:r>
            </a:p>
          </p:txBody>
        </p:sp>
        <p:sp>
          <p:nvSpPr>
            <p:cNvPr id="47" name="TextBox 47"/>
            <p:cNvSpPr txBox="1"/>
            <p:nvPr/>
          </p:nvSpPr>
          <p:spPr>
            <a:xfrm>
              <a:off x="4731448" y="4441825"/>
              <a:ext cx="684657"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icrosoft YaHei"/>
                  <a:ea typeface="Microsoft YaHei"/>
                  <a:cs typeface="Microsoft YaHei"/>
                </a:rPr>
                <a:t>75.98</a:t>
              </a:r>
            </a:p>
          </p:txBody>
        </p:sp>
        <p:grpSp>
          <p:nvGrpSpPr>
            <p:cNvPr id="50" name="text-28"/>
            <p:cNvGrpSpPr/>
            <p:nvPr/>
          </p:nvGrpSpPr>
          <p:grpSpPr>
            <a:xfrm>
              <a:off x="5878354" y="4410075"/>
              <a:ext cx="1085850" cy="413893"/>
              <a:chOff x="5878354" y="4410075"/>
              <a:chExt cx="1085850" cy="413893"/>
            </a:xfrm>
          </p:grpSpPr>
          <p:sp>
            <p:nvSpPr>
              <p:cNvPr id="48" name="Rectangle 48"/>
              <p:cNvSpPr/>
              <p:nvPr/>
            </p:nvSpPr>
            <p:spPr>
              <a:xfrm>
                <a:off x="5878354" y="4410075"/>
                <a:ext cx="1085850" cy="361950"/>
              </a:xfrm>
              <a:prstGeom prst="rect">
                <a:avLst/>
              </a:prstGeom>
              <a:solidFill>
                <a:schemeClr val="lt1"/>
              </a:solidFill>
              <a:ln>
                <a:noFill/>
              </a:ln>
            </p:spPr>
          </p:sp>
          <p:sp>
            <p:nvSpPr>
              <p:cNvPr id="49" name="TextBox 49"/>
              <p:cNvSpPr txBox="1"/>
              <p:nvPr/>
            </p:nvSpPr>
            <p:spPr>
              <a:xfrm>
                <a:off x="5896261" y="4413250"/>
                <a:ext cx="100089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icrosoft YaHei"/>
                    <a:ea typeface="Microsoft YaHei"/>
                    <a:cs typeface="Microsoft YaHei"/>
                  </a:rPr>
                  <a:t>182.29</a:t>
                </a:r>
              </a:p>
            </p:txBody>
          </p:sp>
        </p:grpSp>
        <p:sp>
          <p:nvSpPr>
            <p:cNvPr id="51" name="TextBox 51"/>
            <p:cNvSpPr txBox="1"/>
            <p:nvPr/>
          </p:nvSpPr>
          <p:spPr>
            <a:xfrm>
              <a:off x="524256" y="5375275"/>
              <a:ext cx="3460547"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icrosoft YaHei"/>
                  <a:ea typeface="Microsoft YaHei"/>
                  <a:cs typeface="Microsoft YaHei"/>
                </a:rPr>
                <a:t>1.5°C：67% → 108；50% → 152</a:t>
              </a:r>
            </a:p>
          </p:txBody>
        </p:sp>
        <p:sp>
          <p:nvSpPr>
            <p:cNvPr id="52" name="TextBox 52"/>
            <p:cNvSpPr txBox="1"/>
            <p:nvPr/>
          </p:nvSpPr>
          <p:spPr>
            <a:xfrm>
              <a:off x="6467856" y="5375275"/>
              <a:ext cx="317891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icrosoft YaHei"/>
                  <a:ea typeface="Microsoft YaHei"/>
                  <a:cs typeface="Microsoft YaHei"/>
                </a:rPr>
                <a:t>2°C：67% → 302；50% → 390</a:t>
              </a:r>
            </a:p>
          </p:txBody>
        </p:sp>
        <p:sp>
          <p:nvSpPr>
            <p:cNvPr id="53" name="TextBox 53"/>
            <p:cNvSpPr txBox="1"/>
            <p:nvPr/>
          </p:nvSpPr>
          <p:spPr>
            <a:xfrm>
              <a:off x="523494" y="5778500"/>
              <a:ext cx="822495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菜品转型低于 2°C / 67% 预算；综合策略仍高于 1.5°C / 50% 预算。</a:t>
              </a:r>
            </a:p>
          </p:txBody>
        </p:sp>
      </p:grpSp>
      <p:grpSp>
        <p:nvGrpSpPr>
          <p:cNvPr id="57" name="source-and-page"/>
          <p:cNvGrpSpPr/>
          <p:nvPr/>
        </p:nvGrpSpPr>
        <p:grpSpPr>
          <a:xfrm>
            <a:off x="526542" y="6305550"/>
            <a:ext cx="11132058" cy="346583"/>
            <a:chOff x="526542" y="6305550"/>
            <a:chExt cx="11132058" cy="346583"/>
          </a:xfrm>
        </p:grpSpPr>
        <p:sp>
          <p:nvSpPr>
            <p:cNvPr id="55" name="Line 55"/>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6" name="TextBox 56"/>
            <p:cNvSpPr txBox="1"/>
            <p:nvPr/>
          </p:nvSpPr>
          <p:spPr>
            <a:xfrm>
              <a:off x="526542" y="6388100"/>
              <a:ext cx="886125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Fig.8 / Methods p.375｜概率指预算构造；比较依赖模型假设，非情景置信区间</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减排情景与目标边界</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14 / 18</a:t>
              </a:r>
            </a:p>
          </p:txBody>
        </p:sp>
      </p:grpSp>
      <p:grpSp>
        <p:nvGrpSpPr>
          <p:cNvPr id="6" name="slide-title"/>
          <p:cNvGrpSpPr/>
          <p:nvPr/>
        </p:nvGrpSpPr>
        <p:grpSpPr>
          <a:xfrm>
            <a:off x="515112" y="622300"/>
            <a:ext cx="7306056" cy="704088"/>
            <a:chOff x="515112" y="622300"/>
            <a:chExt cx="7306056" cy="704088"/>
          </a:xfrm>
        </p:grpSpPr>
        <p:sp>
          <p:nvSpPr>
            <p:cNvPr id="5" name="TextBox 5"/>
            <p:cNvSpPr txBox="1"/>
            <p:nvPr/>
          </p:nvSpPr>
          <p:spPr>
            <a:xfrm>
              <a:off x="515112" y="622300"/>
              <a:ext cx="7306056"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结论依赖消费代理与长期情景假设</a:t>
              </a:r>
            </a:p>
          </p:txBody>
        </p:sp>
      </p:grpSp>
      <p:grpSp>
        <p:nvGrpSpPr>
          <p:cNvPr id="42" name="p14-main-evidence"/>
          <p:cNvGrpSpPr/>
          <p:nvPr/>
        </p:nvGrpSpPr>
        <p:grpSpPr>
          <a:xfrm>
            <a:off x="523494" y="1473200"/>
            <a:ext cx="11135106" cy="4296156"/>
            <a:chOff x="523494" y="1473200"/>
            <a:chExt cx="11135106" cy="4296156"/>
          </a:xfrm>
        </p:grpSpPr>
        <p:sp>
          <p:nvSpPr>
            <p:cNvPr id="7" name="TextBox 7"/>
            <p:cNvSpPr txBox="1"/>
            <p:nvPr/>
          </p:nvSpPr>
          <p:spPr>
            <a:xfrm>
              <a:off x="523494" y="1473200"/>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关键依赖</a:t>
              </a:r>
            </a:p>
          </p:txBody>
        </p:sp>
        <p:sp>
          <p:nvSpPr>
            <p:cNvPr id="8" name="TextBox 8"/>
            <p:cNvSpPr txBox="1"/>
            <p:nvPr/>
          </p:nvSpPr>
          <p:spPr>
            <a:xfrm>
              <a:off x="5895594" y="1473200"/>
              <a:ext cx="1594866"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对结论的影响</a:t>
              </a:r>
            </a:p>
          </p:txBody>
        </p:sp>
        <p:sp>
          <p:nvSpPr>
            <p:cNvPr id="9" name="Ellipse 9"/>
            <p:cNvSpPr/>
            <p:nvPr/>
          </p:nvSpPr>
          <p:spPr>
            <a:xfrm>
              <a:off x="523875" y="1962150"/>
              <a:ext cx="857250" cy="857250"/>
            </a:xfrm>
            <a:prstGeom prst="ellipse">
              <a:avLst/>
            </a:prstGeom>
            <a:solidFill>
              <a:schemeClr val="accent2">
                <a:alpha val="7000"/>
              </a:schemeClr>
            </a:solidFill>
            <a:ln>
              <a:noFill/>
            </a:ln>
          </p:spPr>
        </p:sp>
        <p:grpSp>
          <p:nvGrpSpPr>
            <p:cNvPr id="12" name="Group 12"/>
            <p:cNvGrpSpPr/>
            <p:nvPr/>
          </p:nvGrpSpPr>
          <p:grpSpPr>
            <a:xfrm>
              <a:off x="665798" y="2118360"/>
              <a:ext cx="526732" cy="506730"/>
              <a:chOff x="665798" y="2118360"/>
              <a:chExt cx="526732" cy="506730"/>
            </a:xfrm>
          </p:grpSpPr>
          <p:sp>
            <p:nvSpPr>
              <p:cNvPr id="10" name="Freeform 10"/>
              <p:cNvSpPr/>
              <p:nvPr/>
            </p:nvSpPr>
            <p:spPr>
              <a:xfrm>
                <a:off x="665798" y="2118360"/>
                <a:ext cx="526732" cy="506730"/>
              </a:xfrm>
              <a:custGeom>
                <a:avLst/>
                <a:gdLst/>
                <a:ahLst/>
                <a:cxnLst/>
                <a:rect l="l" t="t" r="r" b="b"/>
                <a:pathLst>
                  <a:path w="526732" h="506730">
                    <a:moveTo>
                      <a:pt x="0" y="0"/>
                    </a:moveTo>
                    <a:lnTo>
                      <a:pt x="526732" y="0"/>
                    </a:lnTo>
                    <a:lnTo>
                      <a:pt x="526732" y="386715"/>
                    </a:lnTo>
                    <a:lnTo>
                      <a:pt x="266700" y="386715"/>
                    </a:lnTo>
                    <a:lnTo>
                      <a:pt x="113347" y="506730"/>
                    </a:lnTo>
                    <a:lnTo>
                      <a:pt x="113347" y="386715"/>
                    </a:lnTo>
                    <a:lnTo>
                      <a:pt x="0" y="386715"/>
                    </a:lnTo>
                    <a:close/>
                  </a:path>
                </a:pathLst>
              </a:custGeom>
              <a:solidFill>
                <a:schemeClr val="lt2"/>
              </a:solidFill>
              <a:ln w="20002" cap="rnd">
                <a:solidFill>
                  <a:schemeClr val="accent1"/>
                </a:solidFill>
                <a:round/>
              </a:ln>
            </p:spPr>
          </p:sp>
          <p:sp>
            <p:nvSpPr>
              <p:cNvPr id="11" name="Freeform 11"/>
              <p:cNvSpPr/>
              <p:nvPr/>
            </p:nvSpPr>
            <p:spPr>
              <a:xfrm>
                <a:off x="765810" y="2231708"/>
                <a:ext cx="320040" cy="173355"/>
              </a:xfrm>
              <a:custGeom>
                <a:avLst/>
                <a:gdLst/>
                <a:ahLst/>
                <a:cxnLst/>
                <a:rect l="l" t="t" r="r" b="b"/>
                <a:pathLst>
                  <a:path w="320040" h="173355">
                    <a:moveTo>
                      <a:pt x="0" y="0"/>
                    </a:moveTo>
                    <a:lnTo>
                      <a:pt x="320040" y="0"/>
                    </a:lnTo>
                    <a:moveTo>
                      <a:pt x="0" y="86677"/>
                    </a:moveTo>
                    <a:lnTo>
                      <a:pt x="260032" y="86677"/>
                    </a:lnTo>
                    <a:moveTo>
                      <a:pt x="0" y="173355"/>
                    </a:moveTo>
                    <a:lnTo>
                      <a:pt x="320040" y="173355"/>
                    </a:lnTo>
                  </a:path>
                </a:pathLst>
              </a:custGeom>
              <a:noFill/>
              <a:ln w="33338" cap="rnd">
                <a:solidFill>
                  <a:schemeClr val="accent2"/>
                </a:solidFill>
                <a:round/>
              </a:ln>
            </p:spPr>
          </p:sp>
        </p:grpSp>
        <p:sp>
          <p:nvSpPr>
            <p:cNvPr id="13" name="TextBox 13"/>
            <p:cNvSpPr txBox="1"/>
            <p:nvPr/>
          </p:nvSpPr>
          <p:spPr>
            <a:xfrm>
              <a:off x="1681734" y="20034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评论代理</a:t>
              </a:r>
            </a:p>
          </p:txBody>
        </p:sp>
        <p:sp>
          <p:nvSpPr>
            <p:cNvPr id="14" name="TextBox 14"/>
            <p:cNvSpPr txBox="1"/>
            <p:nvPr/>
          </p:nvSpPr>
          <p:spPr>
            <a:xfrm>
              <a:off x="1685544" y="2530475"/>
              <a:ext cx="2644902"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评论频次用于代理销量</a:t>
              </a:r>
            </a:p>
          </p:txBody>
        </p:sp>
        <p:sp>
          <p:nvSpPr>
            <p:cNvPr id="15" name="TextBox 15"/>
            <p:cNvSpPr txBox="1"/>
            <p:nvPr/>
          </p:nvSpPr>
          <p:spPr>
            <a:xfrm>
              <a:off x="5893308" y="2041525"/>
              <a:ext cx="4224528"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评论样本能否代表真实点单？</a:t>
              </a:r>
            </a:p>
          </p:txBody>
        </p:sp>
        <p:sp>
          <p:nvSpPr>
            <p:cNvPr id="16" name="TextBox 16"/>
            <p:cNvSpPr txBox="1"/>
            <p:nvPr/>
          </p:nvSpPr>
          <p:spPr>
            <a:xfrm>
              <a:off x="5895594" y="2530475"/>
              <a:ext cx="3432429"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偏好估计依赖平台评论行为。</a:t>
              </a:r>
            </a:p>
          </p:txBody>
        </p:sp>
        <p:sp>
          <p:nvSpPr>
            <p:cNvPr id="17" name="Line 17"/>
            <p:cNvSpPr/>
            <p:nvPr/>
          </p:nvSpPr>
          <p:spPr>
            <a:xfrm>
              <a:off x="533400" y="30670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8" name="Ellipse 18"/>
            <p:cNvSpPr/>
            <p:nvPr/>
          </p:nvSpPr>
          <p:spPr>
            <a:xfrm>
              <a:off x="523875" y="3390900"/>
              <a:ext cx="857250" cy="857250"/>
            </a:xfrm>
            <a:prstGeom prst="ellipse">
              <a:avLst/>
            </a:prstGeom>
            <a:solidFill>
              <a:schemeClr val="accent2">
                <a:alpha val="7000"/>
              </a:schemeClr>
            </a:solidFill>
            <a:ln>
              <a:noFill/>
            </a:ln>
          </p:spPr>
        </p:sp>
        <p:grpSp>
          <p:nvGrpSpPr>
            <p:cNvPr id="27" name="Group 27"/>
            <p:cNvGrpSpPr/>
            <p:nvPr/>
          </p:nvGrpSpPr>
          <p:grpSpPr>
            <a:xfrm>
              <a:off x="632460" y="3520440"/>
              <a:ext cx="640080" cy="582930"/>
              <a:chOff x="632460" y="3520440"/>
              <a:chExt cx="640080" cy="582930"/>
            </a:xfrm>
          </p:grpSpPr>
          <p:sp>
            <p:nvSpPr>
              <p:cNvPr id="19" name="Freeform 19"/>
              <p:cNvSpPr/>
              <p:nvPr/>
            </p:nvSpPr>
            <p:spPr>
              <a:xfrm>
                <a:off x="639128" y="3647122"/>
                <a:ext cx="313373" cy="146685"/>
              </a:xfrm>
              <a:custGeom>
                <a:avLst/>
                <a:gdLst/>
                <a:ahLst/>
                <a:cxnLst/>
                <a:rect l="l" t="t" r="r" b="b"/>
                <a:pathLst>
                  <a:path w="313373" h="146685">
                    <a:moveTo>
                      <a:pt x="0" y="146685"/>
                    </a:moveTo>
                    <a:lnTo>
                      <a:pt x="160020" y="0"/>
                    </a:lnTo>
                    <a:lnTo>
                      <a:pt x="313373" y="146685"/>
                    </a:lnTo>
                    <a:close/>
                  </a:path>
                </a:pathLst>
              </a:custGeom>
              <a:solidFill>
                <a:schemeClr val="accent2"/>
              </a:solidFill>
              <a:ln>
                <a:noFill/>
              </a:ln>
            </p:spPr>
          </p:sp>
          <p:sp>
            <p:nvSpPr>
              <p:cNvPr id="20" name="Rectangle 20"/>
              <p:cNvSpPr/>
              <p:nvPr/>
            </p:nvSpPr>
            <p:spPr>
              <a:xfrm>
                <a:off x="672465" y="3793808"/>
                <a:ext cx="246698" cy="266700"/>
              </a:xfrm>
              <a:prstGeom prst="roundRect">
                <a:avLst>
                  <a:gd name="adj" fmla="val 5405"/>
                </a:avLst>
              </a:prstGeom>
              <a:solidFill>
                <a:schemeClr val="lt2"/>
              </a:solidFill>
              <a:ln w="13335">
                <a:solidFill>
                  <a:schemeClr val="accent1"/>
                </a:solidFill>
              </a:ln>
            </p:spPr>
          </p:sp>
          <p:sp>
            <p:nvSpPr>
              <p:cNvPr id="21" name="Freeform 21"/>
              <p:cNvSpPr/>
              <p:nvPr/>
            </p:nvSpPr>
            <p:spPr>
              <a:xfrm>
                <a:off x="912495" y="3520440"/>
                <a:ext cx="340042" cy="160020"/>
              </a:xfrm>
              <a:custGeom>
                <a:avLst/>
                <a:gdLst/>
                <a:ahLst/>
                <a:cxnLst/>
                <a:rect l="l" t="t" r="r" b="b"/>
                <a:pathLst>
                  <a:path w="340042" h="160020">
                    <a:moveTo>
                      <a:pt x="0" y="160020"/>
                    </a:moveTo>
                    <a:lnTo>
                      <a:pt x="166688" y="0"/>
                    </a:lnTo>
                    <a:lnTo>
                      <a:pt x="340042" y="160020"/>
                    </a:lnTo>
                    <a:close/>
                  </a:path>
                </a:pathLst>
              </a:custGeom>
              <a:solidFill>
                <a:schemeClr val="accent1"/>
              </a:solidFill>
              <a:ln>
                <a:noFill/>
              </a:ln>
            </p:spPr>
          </p:sp>
          <p:sp>
            <p:nvSpPr>
              <p:cNvPr id="22" name="Rectangle 22"/>
              <p:cNvSpPr/>
              <p:nvPr/>
            </p:nvSpPr>
            <p:spPr>
              <a:xfrm>
                <a:off x="945833" y="3680460"/>
                <a:ext cx="273368" cy="380048"/>
              </a:xfrm>
              <a:prstGeom prst="roundRect">
                <a:avLst>
                  <a:gd name="adj" fmla="val 4878"/>
                </a:avLst>
              </a:prstGeom>
              <a:solidFill>
                <a:schemeClr val="lt2"/>
              </a:solidFill>
              <a:ln w="13335">
                <a:solidFill>
                  <a:schemeClr val="accent1"/>
                </a:solidFill>
              </a:ln>
            </p:spPr>
          </p:sp>
          <p:sp>
            <p:nvSpPr>
              <p:cNvPr id="23" name="Rectangle 23"/>
              <p:cNvSpPr/>
              <p:nvPr/>
            </p:nvSpPr>
            <p:spPr>
              <a:xfrm>
                <a:off x="745807" y="3907155"/>
                <a:ext cx="86678" cy="153353"/>
              </a:xfrm>
              <a:prstGeom prst="roundRect">
                <a:avLst>
                  <a:gd name="adj" fmla="val 15385"/>
                </a:avLst>
              </a:prstGeom>
              <a:solidFill>
                <a:schemeClr val="accent2"/>
              </a:solidFill>
              <a:ln>
                <a:noFill/>
              </a:ln>
            </p:spPr>
          </p:sp>
          <p:sp>
            <p:nvSpPr>
              <p:cNvPr id="24" name="Rectangle 24"/>
              <p:cNvSpPr/>
              <p:nvPr/>
            </p:nvSpPr>
            <p:spPr>
              <a:xfrm>
                <a:off x="1025842" y="3880485"/>
                <a:ext cx="100012" cy="180023"/>
              </a:xfrm>
              <a:prstGeom prst="roundRect">
                <a:avLst>
                  <a:gd name="adj" fmla="val 13333"/>
                </a:avLst>
              </a:prstGeom>
              <a:solidFill>
                <a:schemeClr val="accent2"/>
              </a:solidFill>
              <a:ln>
                <a:noFill/>
              </a:ln>
            </p:spPr>
          </p:sp>
          <p:sp>
            <p:nvSpPr>
              <p:cNvPr id="25" name="Rectangle 25"/>
              <p:cNvSpPr/>
              <p:nvPr/>
            </p:nvSpPr>
            <p:spPr>
              <a:xfrm>
                <a:off x="1019175" y="3733800"/>
                <a:ext cx="80010" cy="80010"/>
              </a:xfrm>
              <a:prstGeom prst="roundRect">
                <a:avLst>
                  <a:gd name="adj" fmla="val 16667"/>
                </a:avLst>
              </a:prstGeom>
              <a:solidFill>
                <a:schemeClr val="accent2"/>
              </a:solidFill>
              <a:ln>
                <a:noFill/>
              </a:ln>
            </p:spPr>
          </p:sp>
          <p:sp>
            <p:nvSpPr>
              <p:cNvPr id="26" name="Freeform 26"/>
              <p:cNvSpPr/>
              <p:nvPr/>
            </p:nvSpPr>
            <p:spPr>
              <a:xfrm>
                <a:off x="632460" y="4093845"/>
                <a:ext cx="640080" cy="9525"/>
              </a:xfrm>
              <a:custGeom>
                <a:avLst/>
                <a:gdLst/>
                <a:ahLst/>
                <a:cxnLst/>
                <a:rect l="l" t="t" r="r" b="b"/>
                <a:pathLst>
                  <a:path w="640080" h="9525">
                    <a:moveTo>
                      <a:pt x="0" y="0"/>
                    </a:moveTo>
                    <a:lnTo>
                      <a:pt x="640080" y="0"/>
                    </a:lnTo>
                  </a:path>
                </a:pathLst>
              </a:custGeom>
              <a:noFill/>
              <a:ln w="26670" cap="rnd">
                <a:solidFill>
                  <a:schemeClr val="accent1"/>
                </a:solidFill>
                <a:round/>
              </a:ln>
            </p:spPr>
          </p:sp>
        </p:grpSp>
        <p:sp>
          <p:nvSpPr>
            <p:cNvPr id="28" name="TextBox 28"/>
            <p:cNvSpPr txBox="1"/>
            <p:nvPr/>
          </p:nvSpPr>
          <p:spPr>
            <a:xfrm>
              <a:off x="1681734" y="343217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家庭外推</a:t>
              </a:r>
            </a:p>
          </p:txBody>
        </p:sp>
        <p:sp>
          <p:nvSpPr>
            <p:cNvPr id="29" name="TextBox 29"/>
            <p:cNvSpPr txBox="1"/>
            <p:nvPr/>
          </p:nvSpPr>
          <p:spPr>
            <a:xfrm>
              <a:off x="1685544" y="3959225"/>
              <a:ext cx="2382393"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家庭与餐馆偏好一致</a:t>
              </a:r>
            </a:p>
          </p:txBody>
        </p:sp>
        <p:sp>
          <p:nvSpPr>
            <p:cNvPr id="30" name="TextBox 30"/>
            <p:cNvSpPr txBox="1"/>
            <p:nvPr/>
          </p:nvSpPr>
          <p:spPr>
            <a:xfrm>
              <a:off x="5893308" y="3470275"/>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餐馆偏好能否外推家庭？</a:t>
              </a:r>
            </a:p>
          </p:txBody>
        </p:sp>
        <p:sp>
          <p:nvSpPr>
            <p:cNvPr id="31" name="TextBox 31"/>
            <p:cNvSpPr txBox="1"/>
            <p:nvPr/>
          </p:nvSpPr>
          <p:spPr>
            <a:xfrm>
              <a:off x="5895594" y="3959225"/>
              <a:ext cx="369493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城乡修正仍依赖共同偏好假设。</a:t>
              </a:r>
            </a:p>
          </p:txBody>
        </p:sp>
        <p:sp>
          <p:nvSpPr>
            <p:cNvPr id="32" name="Line 32"/>
            <p:cNvSpPr/>
            <p:nvPr/>
          </p:nvSpPr>
          <p:spPr>
            <a:xfrm>
              <a:off x="533400" y="449580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3" name="Ellipse 33"/>
            <p:cNvSpPr/>
            <p:nvPr/>
          </p:nvSpPr>
          <p:spPr>
            <a:xfrm>
              <a:off x="523875" y="4819650"/>
              <a:ext cx="857250" cy="857250"/>
            </a:xfrm>
            <a:prstGeom prst="ellipse">
              <a:avLst/>
            </a:prstGeom>
            <a:solidFill>
              <a:schemeClr val="accent2">
                <a:alpha val="7000"/>
              </a:schemeClr>
            </a:solidFill>
            <a:ln>
              <a:noFill/>
            </a:ln>
          </p:spPr>
        </p:sp>
        <p:grpSp>
          <p:nvGrpSpPr>
            <p:cNvPr id="37" name="Group 37"/>
            <p:cNvGrpSpPr/>
            <p:nvPr/>
          </p:nvGrpSpPr>
          <p:grpSpPr>
            <a:xfrm>
              <a:off x="665798" y="4942522"/>
              <a:ext cx="573405" cy="573405"/>
              <a:chOff x="665798" y="4942522"/>
              <a:chExt cx="573405" cy="573405"/>
            </a:xfrm>
          </p:grpSpPr>
          <p:sp>
            <p:nvSpPr>
              <p:cNvPr id="34" name="Ellipse 34"/>
              <p:cNvSpPr/>
              <p:nvPr/>
            </p:nvSpPr>
            <p:spPr>
              <a:xfrm>
                <a:off x="692468" y="4969192"/>
                <a:ext cx="520065" cy="520065"/>
              </a:xfrm>
              <a:prstGeom prst="ellipse">
                <a:avLst/>
              </a:prstGeom>
              <a:solidFill>
                <a:schemeClr val="lt2"/>
              </a:solidFill>
              <a:ln w="20002">
                <a:solidFill>
                  <a:schemeClr val="accent1"/>
                </a:solidFill>
              </a:ln>
            </p:spPr>
          </p:sp>
          <p:sp>
            <p:nvSpPr>
              <p:cNvPr id="35" name="Freeform 35"/>
              <p:cNvSpPr/>
              <p:nvPr/>
            </p:nvSpPr>
            <p:spPr>
              <a:xfrm>
                <a:off x="952500" y="5042535"/>
                <a:ext cx="146685" cy="266700"/>
              </a:xfrm>
              <a:custGeom>
                <a:avLst/>
                <a:gdLst/>
                <a:ahLst/>
                <a:cxnLst/>
                <a:rect l="l" t="t" r="r" b="b"/>
                <a:pathLst>
                  <a:path w="146685" h="266700">
                    <a:moveTo>
                      <a:pt x="0" y="0"/>
                    </a:moveTo>
                    <a:lnTo>
                      <a:pt x="0" y="186690"/>
                    </a:lnTo>
                    <a:lnTo>
                      <a:pt x="146685" y="266700"/>
                    </a:lnTo>
                  </a:path>
                </a:pathLst>
              </a:custGeom>
              <a:noFill/>
              <a:ln w="40005" cap="rnd">
                <a:solidFill>
                  <a:schemeClr val="accent2"/>
                </a:solidFill>
                <a:round/>
              </a:ln>
            </p:spPr>
          </p:sp>
          <p:sp>
            <p:nvSpPr>
              <p:cNvPr id="36" name="Freeform 36"/>
              <p:cNvSpPr/>
              <p:nvPr/>
            </p:nvSpPr>
            <p:spPr>
              <a:xfrm>
                <a:off x="665798" y="4942522"/>
                <a:ext cx="573405" cy="573405"/>
              </a:xfrm>
              <a:custGeom>
                <a:avLst/>
                <a:gdLst/>
                <a:ahLst/>
                <a:cxnLst/>
                <a:rect l="l" t="t" r="r" b="b"/>
                <a:pathLst>
                  <a:path w="573405" h="573405">
                    <a:moveTo>
                      <a:pt x="280035" y="0"/>
                    </a:moveTo>
                    <a:lnTo>
                      <a:pt x="280035" y="46672"/>
                    </a:lnTo>
                    <a:moveTo>
                      <a:pt x="280035" y="526733"/>
                    </a:moveTo>
                    <a:lnTo>
                      <a:pt x="280035" y="573405"/>
                    </a:lnTo>
                    <a:moveTo>
                      <a:pt x="0" y="286703"/>
                    </a:moveTo>
                    <a:lnTo>
                      <a:pt x="46672" y="286703"/>
                    </a:lnTo>
                    <a:moveTo>
                      <a:pt x="526732" y="286703"/>
                    </a:moveTo>
                    <a:lnTo>
                      <a:pt x="573405" y="286703"/>
                    </a:lnTo>
                  </a:path>
                </a:pathLst>
              </a:custGeom>
              <a:noFill/>
              <a:ln w="20002" cap="rnd">
                <a:solidFill>
                  <a:schemeClr val="accent1"/>
                </a:solidFill>
                <a:round/>
              </a:ln>
            </p:spPr>
          </p:sp>
        </p:grpSp>
        <p:sp>
          <p:nvSpPr>
            <p:cNvPr id="38" name="TextBox 38"/>
            <p:cNvSpPr txBox="1"/>
            <p:nvPr/>
          </p:nvSpPr>
          <p:spPr>
            <a:xfrm>
              <a:off x="1681734" y="48609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长期路径</a:t>
              </a:r>
            </a:p>
          </p:txBody>
        </p:sp>
        <p:sp>
          <p:nvSpPr>
            <p:cNvPr id="39" name="TextBox 39"/>
            <p:cNvSpPr txBox="1"/>
            <p:nvPr/>
          </p:nvSpPr>
          <p:spPr>
            <a:xfrm>
              <a:off x="1685544" y="5387975"/>
              <a:ext cx="3169920"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排放因子、非食物、培养肉</a:t>
              </a:r>
            </a:p>
          </p:txBody>
        </p:sp>
        <p:sp>
          <p:nvSpPr>
            <p:cNvPr id="40" name="TextBox 40"/>
            <p:cNvSpPr txBox="1"/>
            <p:nvPr/>
          </p:nvSpPr>
          <p:spPr>
            <a:xfrm>
              <a:off x="5893308" y="48990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icrosoft YaHei"/>
                  <a:ea typeface="Microsoft YaHei"/>
                  <a:cs typeface="Microsoft YaHei"/>
                </a:rPr>
                <a:t>替代节奏与排放路径如何变化？</a:t>
              </a:r>
            </a:p>
          </p:txBody>
        </p:sp>
        <p:sp>
          <p:nvSpPr>
            <p:cNvPr id="41" name="TextBox 41"/>
            <p:cNvSpPr txBox="1"/>
            <p:nvPr/>
          </p:nvSpPr>
          <p:spPr>
            <a:xfrm>
              <a:off x="5895594" y="5387975"/>
              <a:ext cx="3169920"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影响长期减排和预算比较。</a:t>
              </a:r>
            </a:p>
          </p:txBody>
        </p:sp>
      </p:grpSp>
      <p:grpSp>
        <p:nvGrpSpPr>
          <p:cNvPr id="45" name="source-and-page"/>
          <p:cNvGrpSpPr/>
          <p:nvPr/>
        </p:nvGrpSpPr>
        <p:grpSpPr>
          <a:xfrm>
            <a:off x="526542" y="6305550"/>
            <a:ext cx="11132058" cy="346583"/>
            <a:chOff x="526542" y="6305550"/>
            <a:chExt cx="11132058" cy="346583"/>
          </a:xfrm>
        </p:grpSpPr>
        <p:sp>
          <p:nvSpPr>
            <p:cNvPr id="43" name="Line 43"/>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4" name="TextBox 44"/>
            <p:cNvSpPr txBox="1"/>
            <p:nvPr/>
          </p:nvSpPr>
          <p:spPr>
            <a:xfrm>
              <a:off x="526542" y="6388100"/>
              <a:ext cx="683043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来源：基于 Yang et al. (2024), Methods 的汇报解读｜原文措辞核对提示见备份页</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20582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减排情景与目标边界</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15 / 18</a:t>
              </a:r>
            </a:p>
          </p:txBody>
        </p:sp>
      </p:grpSp>
      <p:grpSp>
        <p:nvGrpSpPr>
          <p:cNvPr id="6" name="slide-title"/>
          <p:cNvGrpSpPr/>
          <p:nvPr/>
        </p:nvGrpSpPr>
        <p:grpSpPr>
          <a:xfrm>
            <a:off x="515112" y="622300"/>
            <a:ext cx="6821424" cy="704088"/>
            <a:chOff x="515112" y="622300"/>
            <a:chExt cx="6821424" cy="704088"/>
          </a:xfrm>
        </p:grpSpPr>
        <p:sp>
          <p:nvSpPr>
            <p:cNvPr id="5" name="TextBox 5"/>
            <p:cNvSpPr txBox="1"/>
            <p:nvPr/>
          </p:nvSpPr>
          <p:spPr>
            <a:xfrm>
              <a:off x="515112" y="622300"/>
              <a:ext cx="6821424"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菜品级管理提供需求侧减排抓手</a:t>
              </a:r>
            </a:p>
          </p:txBody>
        </p:sp>
      </p:grpSp>
      <p:grpSp>
        <p:nvGrpSpPr>
          <p:cNvPr id="55" name="p15-main-evidence"/>
          <p:cNvGrpSpPr/>
          <p:nvPr/>
        </p:nvGrpSpPr>
        <p:grpSpPr>
          <a:xfrm>
            <a:off x="581025" y="1955800"/>
            <a:ext cx="11068431" cy="3823081"/>
            <a:chOff x="581025" y="1955800"/>
            <a:chExt cx="11068431" cy="3823081"/>
          </a:xfrm>
        </p:grpSpPr>
        <p:sp>
          <p:nvSpPr>
            <p:cNvPr id="7" name="Freeform 7"/>
            <p:cNvSpPr/>
            <p:nvPr/>
          </p:nvSpPr>
          <p:spPr>
            <a:xfrm>
              <a:off x="4038600" y="2886075"/>
              <a:ext cx="1152525" cy="581025"/>
            </a:xfrm>
            <a:custGeom>
              <a:avLst/>
              <a:gdLst/>
              <a:ahLst/>
              <a:cxnLst/>
              <a:rect l="l" t="t" r="r" b="b"/>
              <a:pathLst>
                <a:path w="1152525" h="581025">
                  <a:moveTo>
                    <a:pt x="0" y="0"/>
                  </a:moveTo>
                  <a:lnTo>
                    <a:pt x="1152525" y="581025"/>
                  </a:lnTo>
                </a:path>
              </a:pathLst>
            </a:custGeom>
            <a:noFill/>
            <a:ln w="19050">
              <a:solidFill>
                <a:schemeClr val="accent6"/>
              </a:solidFill>
            </a:ln>
          </p:spPr>
        </p:sp>
        <p:sp>
          <p:nvSpPr>
            <p:cNvPr id="8" name="Freeform 8"/>
            <p:cNvSpPr/>
            <p:nvPr/>
          </p:nvSpPr>
          <p:spPr>
            <a:xfrm>
              <a:off x="7000875" y="2886075"/>
              <a:ext cx="542925" cy="581025"/>
            </a:xfrm>
            <a:custGeom>
              <a:avLst/>
              <a:gdLst/>
              <a:ahLst/>
              <a:cxnLst/>
              <a:rect l="l" t="t" r="r" b="b"/>
              <a:pathLst>
                <a:path w="542925" h="581025">
                  <a:moveTo>
                    <a:pt x="542925" y="0"/>
                  </a:moveTo>
                  <a:lnTo>
                    <a:pt x="0" y="581025"/>
                  </a:lnTo>
                </a:path>
              </a:pathLst>
            </a:custGeom>
            <a:noFill/>
            <a:ln w="19050">
              <a:solidFill>
                <a:schemeClr val="accent6"/>
              </a:solidFill>
            </a:ln>
          </p:spPr>
        </p:sp>
        <p:sp>
          <p:nvSpPr>
            <p:cNvPr id="9" name="Freeform 9"/>
            <p:cNvSpPr/>
            <p:nvPr/>
          </p:nvSpPr>
          <p:spPr>
            <a:xfrm>
              <a:off x="4038600" y="4191000"/>
              <a:ext cx="1152525" cy="666750"/>
            </a:xfrm>
            <a:custGeom>
              <a:avLst/>
              <a:gdLst/>
              <a:ahLst/>
              <a:cxnLst/>
              <a:rect l="l" t="t" r="r" b="b"/>
              <a:pathLst>
                <a:path w="1152525" h="666750">
                  <a:moveTo>
                    <a:pt x="0" y="666750"/>
                  </a:moveTo>
                  <a:lnTo>
                    <a:pt x="1152525" y="0"/>
                  </a:lnTo>
                </a:path>
              </a:pathLst>
            </a:custGeom>
            <a:noFill/>
            <a:ln w="19050">
              <a:solidFill>
                <a:schemeClr val="accent6"/>
              </a:solidFill>
            </a:ln>
          </p:spPr>
        </p:sp>
        <p:sp>
          <p:nvSpPr>
            <p:cNvPr id="10" name="Freeform 10"/>
            <p:cNvSpPr/>
            <p:nvPr/>
          </p:nvSpPr>
          <p:spPr>
            <a:xfrm>
              <a:off x="7000875" y="4191000"/>
              <a:ext cx="542925" cy="666750"/>
            </a:xfrm>
            <a:custGeom>
              <a:avLst/>
              <a:gdLst/>
              <a:ahLst/>
              <a:cxnLst/>
              <a:rect l="l" t="t" r="r" b="b"/>
              <a:pathLst>
                <a:path w="542925" h="666750">
                  <a:moveTo>
                    <a:pt x="542925" y="666750"/>
                  </a:moveTo>
                  <a:lnTo>
                    <a:pt x="0" y="0"/>
                  </a:lnTo>
                </a:path>
              </a:pathLst>
            </a:custGeom>
            <a:noFill/>
            <a:ln w="19050">
              <a:solidFill>
                <a:schemeClr val="accent6"/>
              </a:solidFill>
            </a:ln>
          </p:spPr>
        </p:sp>
        <p:sp>
          <p:nvSpPr>
            <p:cNvPr id="11" name="Ellipse 11"/>
            <p:cNvSpPr/>
            <p:nvPr/>
          </p:nvSpPr>
          <p:spPr>
            <a:xfrm>
              <a:off x="5181600" y="2895600"/>
              <a:ext cx="1828800" cy="1828800"/>
            </a:xfrm>
            <a:prstGeom prst="ellipse">
              <a:avLst/>
            </a:prstGeom>
            <a:solidFill>
              <a:schemeClr val="accent2">
                <a:alpha val="10000"/>
              </a:schemeClr>
            </a:solidFill>
            <a:ln>
              <a:noFill/>
            </a:ln>
          </p:spPr>
        </p:sp>
        <p:grpSp>
          <p:nvGrpSpPr>
            <p:cNvPr id="18" name="Group 18"/>
            <p:cNvGrpSpPr/>
            <p:nvPr/>
          </p:nvGrpSpPr>
          <p:grpSpPr>
            <a:xfrm>
              <a:off x="5743956" y="3067050"/>
              <a:ext cx="656082" cy="736092"/>
              <a:chOff x="5743956" y="3067050"/>
              <a:chExt cx="656082" cy="736092"/>
            </a:xfrm>
          </p:grpSpPr>
          <p:sp>
            <p:nvSpPr>
              <p:cNvPr id="12" name="Freeform 12"/>
              <p:cNvSpPr/>
              <p:nvPr/>
            </p:nvSpPr>
            <p:spPr>
              <a:xfrm>
                <a:off x="5791962" y="3475101"/>
                <a:ext cx="608076" cy="328041"/>
              </a:xfrm>
              <a:custGeom>
                <a:avLst/>
                <a:gdLst/>
                <a:ahLst/>
                <a:cxnLst/>
                <a:rect l="l" t="t" r="r" b="b"/>
                <a:pathLst>
                  <a:path w="608076" h="328041">
                    <a:moveTo>
                      <a:pt x="0" y="0"/>
                    </a:moveTo>
                    <a:cubicBezTo>
                      <a:pt x="202692" y="53340"/>
                      <a:pt x="405384" y="53340"/>
                      <a:pt x="608076" y="0"/>
                    </a:cubicBezTo>
                    <a:cubicBezTo>
                      <a:pt x="576072" y="232029"/>
                      <a:pt x="464058" y="328041"/>
                      <a:pt x="304038" y="328041"/>
                    </a:cubicBezTo>
                    <a:cubicBezTo>
                      <a:pt x="144018" y="328041"/>
                      <a:pt x="32004" y="232029"/>
                      <a:pt x="0" y="0"/>
                    </a:cubicBezTo>
                    <a:close/>
                  </a:path>
                </a:pathLst>
              </a:custGeom>
              <a:solidFill>
                <a:schemeClr val="accent1"/>
              </a:solidFill>
              <a:ln>
                <a:noFill/>
              </a:ln>
            </p:spPr>
          </p:sp>
          <p:sp>
            <p:nvSpPr>
              <p:cNvPr id="13" name="Freeform 13"/>
              <p:cNvSpPr/>
              <p:nvPr/>
            </p:nvSpPr>
            <p:spPr>
              <a:xfrm>
                <a:off x="5743956" y="3147060"/>
                <a:ext cx="592074" cy="328041"/>
              </a:xfrm>
              <a:custGeom>
                <a:avLst/>
                <a:gdLst/>
                <a:ahLst/>
                <a:cxnLst/>
                <a:rect l="l" t="t" r="r" b="b"/>
                <a:pathLst>
                  <a:path w="592074" h="328041">
                    <a:moveTo>
                      <a:pt x="80010" y="328041"/>
                    </a:moveTo>
                    <a:cubicBezTo>
                      <a:pt x="0" y="144018"/>
                      <a:pt x="176022" y="72009"/>
                      <a:pt x="264033" y="264033"/>
                    </a:cubicBezTo>
                    <a:cubicBezTo>
                      <a:pt x="192024" y="32004"/>
                      <a:pt x="392049" y="0"/>
                      <a:pt x="408051" y="200025"/>
                    </a:cubicBezTo>
                    <a:cubicBezTo>
                      <a:pt x="424053" y="56007"/>
                      <a:pt x="592074" y="112014"/>
                      <a:pt x="552069" y="304038"/>
                    </a:cubicBezTo>
                    <a:close/>
                  </a:path>
                </a:pathLst>
              </a:custGeom>
              <a:solidFill>
                <a:schemeClr val="accent2"/>
              </a:solidFill>
              <a:ln>
                <a:noFill/>
              </a:ln>
            </p:spPr>
          </p:sp>
          <p:sp>
            <p:nvSpPr>
              <p:cNvPr id="14" name="Freeform 14"/>
              <p:cNvSpPr/>
              <p:nvPr/>
            </p:nvSpPr>
            <p:spPr>
              <a:xfrm>
                <a:off x="6120003" y="3251073"/>
                <a:ext cx="248031" cy="224028"/>
              </a:xfrm>
              <a:custGeom>
                <a:avLst/>
                <a:gdLst/>
                <a:ahLst/>
                <a:cxnLst/>
                <a:rect l="l" t="t" r="r" b="b"/>
                <a:pathLst>
                  <a:path w="248031" h="224028">
                    <a:moveTo>
                      <a:pt x="0" y="208026"/>
                    </a:moveTo>
                    <a:cubicBezTo>
                      <a:pt x="16002" y="32004"/>
                      <a:pt x="136017" y="0"/>
                      <a:pt x="184023" y="88011"/>
                    </a:cubicBezTo>
                    <a:lnTo>
                      <a:pt x="248031" y="224028"/>
                    </a:lnTo>
                    <a:close/>
                  </a:path>
                </a:pathLst>
              </a:custGeom>
              <a:solidFill>
                <a:schemeClr val="accent3"/>
              </a:solidFill>
              <a:ln>
                <a:noFill/>
              </a:ln>
            </p:spPr>
          </p:sp>
          <p:sp>
            <p:nvSpPr>
              <p:cNvPr id="15" name="Freeform 15"/>
              <p:cNvSpPr/>
              <p:nvPr/>
            </p:nvSpPr>
            <p:spPr>
              <a:xfrm>
                <a:off x="5895975" y="3291078"/>
                <a:ext cx="360045" cy="184023"/>
              </a:xfrm>
              <a:custGeom>
                <a:avLst/>
                <a:gdLst/>
                <a:ahLst/>
                <a:cxnLst/>
                <a:rect l="l" t="t" r="r" b="b"/>
                <a:pathLst>
                  <a:path w="360045" h="184023">
                    <a:moveTo>
                      <a:pt x="0" y="80010"/>
                    </a:moveTo>
                    <a:lnTo>
                      <a:pt x="40005" y="184023"/>
                    </a:lnTo>
                    <a:moveTo>
                      <a:pt x="168021" y="0"/>
                    </a:moveTo>
                    <a:lnTo>
                      <a:pt x="168021" y="184023"/>
                    </a:lnTo>
                    <a:moveTo>
                      <a:pt x="360045" y="64008"/>
                    </a:moveTo>
                    <a:lnTo>
                      <a:pt x="312039" y="184023"/>
                    </a:lnTo>
                  </a:path>
                </a:pathLst>
              </a:custGeom>
              <a:noFill/>
              <a:ln w="16002" cap="rnd">
                <a:solidFill>
                  <a:srgbClr val="FFFFFF"/>
                </a:solidFill>
                <a:round/>
              </a:ln>
            </p:spPr>
          </p:sp>
          <p:sp>
            <p:nvSpPr>
              <p:cNvPr id="16" name="Freeform 16"/>
              <p:cNvSpPr/>
              <p:nvPr/>
            </p:nvSpPr>
            <p:spPr>
              <a:xfrm>
                <a:off x="5791962" y="3475101"/>
                <a:ext cx="608076" cy="53340"/>
              </a:xfrm>
              <a:custGeom>
                <a:avLst/>
                <a:gdLst/>
                <a:ahLst/>
                <a:cxnLst/>
                <a:rect l="l" t="t" r="r" b="b"/>
                <a:pathLst>
                  <a:path w="608076" h="53340">
                    <a:moveTo>
                      <a:pt x="0" y="0"/>
                    </a:moveTo>
                    <a:cubicBezTo>
                      <a:pt x="202692" y="53340"/>
                      <a:pt x="405384" y="53340"/>
                      <a:pt x="608076" y="0"/>
                    </a:cubicBezTo>
                  </a:path>
                </a:pathLst>
              </a:custGeom>
              <a:noFill/>
              <a:ln w="16002" cap="rnd">
                <a:solidFill>
                  <a:srgbClr val="FFFFFF"/>
                </a:solidFill>
                <a:round/>
              </a:ln>
            </p:spPr>
          </p:sp>
          <p:sp>
            <p:nvSpPr>
              <p:cNvPr id="17" name="Freeform 17"/>
              <p:cNvSpPr/>
              <p:nvPr/>
            </p:nvSpPr>
            <p:spPr>
              <a:xfrm>
                <a:off x="5911977" y="3067050"/>
                <a:ext cx="384048" cy="136017"/>
              </a:xfrm>
              <a:custGeom>
                <a:avLst/>
                <a:gdLst/>
                <a:ahLst/>
                <a:cxnLst/>
                <a:rect l="l" t="t" r="r" b="b"/>
                <a:pathLst>
                  <a:path w="384048" h="136017">
                    <a:moveTo>
                      <a:pt x="48006" y="120015"/>
                    </a:moveTo>
                    <a:cubicBezTo>
                      <a:pt x="0" y="72009"/>
                      <a:pt x="104013" y="48006"/>
                      <a:pt x="64008" y="0"/>
                    </a:cubicBezTo>
                    <a:moveTo>
                      <a:pt x="192024" y="112014"/>
                    </a:moveTo>
                    <a:cubicBezTo>
                      <a:pt x="144018" y="64008"/>
                      <a:pt x="240030" y="32004"/>
                      <a:pt x="192024" y="0"/>
                    </a:cubicBezTo>
                    <a:moveTo>
                      <a:pt x="336042" y="136017"/>
                    </a:moveTo>
                    <a:cubicBezTo>
                      <a:pt x="288036" y="88011"/>
                      <a:pt x="384048" y="48006"/>
                      <a:pt x="336042" y="16002"/>
                    </a:cubicBezTo>
                  </a:path>
                </a:pathLst>
              </a:custGeom>
              <a:noFill/>
              <a:ln w="20002" cap="rnd">
                <a:solidFill>
                  <a:schemeClr val="accent1"/>
                </a:solidFill>
                <a:round/>
              </a:ln>
            </p:spPr>
          </p:sp>
        </p:grpSp>
        <p:sp>
          <p:nvSpPr>
            <p:cNvPr id="19" name="TextBox 19"/>
            <p:cNvSpPr txBox="1"/>
            <p:nvPr/>
          </p:nvSpPr>
          <p:spPr>
            <a:xfrm>
              <a:off x="5378577" y="4032250"/>
              <a:ext cx="1434846" cy="410718"/>
            </a:xfrm>
            <a:prstGeom prst="rect">
              <a:avLst/>
            </a:prstGeom>
            <a:noFill/>
            <a:ln>
              <a:noFill/>
            </a:ln>
          </p:spPr>
          <p:txBody>
            <a:bodyPr wrap="none" lIns="0" tIns="0" rIns="0" bIns="0" anchor="t" anchorCtr="0">
              <a:spAutoFit/>
            </a:bodyPr>
            <a:lstStyle/>
            <a:p>
              <a:pPr algn="ctr"/>
              <a:r>
                <a:rPr lang="zh-CN" sz="2100" b="1" dirty="0">
                  <a:solidFill>
                    <a:schemeClr val="accent1"/>
                  </a:solidFill>
                  <a:latin typeface="Microsoft YaHei"/>
                  <a:ea typeface="Microsoft YaHei"/>
                  <a:cs typeface="Microsoft YaHei"/>
                </a:rPr>
                <a:t>菜品级管理</a:t>
              </a:r>
            </a:p>
          </p:txBody>
        </p:sp>
        <p:sp>
          <p:nvSpPr>
            <p:cNvPr id="20" name="Ellipse 20"/>
            <p:cNvSpPr/>
            <p:nvPr/>
          </p:nvSpPr>
          <p:spPr>
            <a:xfrm>
              <a:off x="581025" y="2038350"/>
              <a:ext cx="933450" cy="933450"/>
            </a:xfrm>
            <a:prstGeom prst="ellipse">
              <a:avLst/>
            </a:prstGeom>
            <a:solidFill>
              <a:schemeClr val="accent2">
                <a:alpha val="8000"/>
              </a:schemeClr>
            </a:solidFill>
            <a:ln>
              <a:noFill/>
            </a:ln>
          </p:spPr>
        </p:sp>
        <p:grpSp>
          <p:nvGrpSpPr>
            <p:cNvPr id="25" name="Group 25"/>
            <p:cNvGrpSpPr/>
            <p:nvPr/>
          </p:nvGrpSpPr>
          <p:grpSpPr>
            <a:xfrm>
              <a:off x="761048" y="2211705"/>
              <a:ext cx="560070" cy="573405"/>
              <a:chOff x="761048" y="2211705"/>
              <a:chExt cx="560070" cy="573405"/>
            </a:xfrm>
          </p:grpSpPr>
          <p:sp>
            <p:nvSpPr>
              <p:cNvPr id="21" name="Freeform 21"/>
              <p:cNvSpPr/>
              <p:nvPr/>
            </p:nvSpPr>
            <p:spPr>
              <a:xfrm>
                <a:off x="761048" y="2211705"/>
                <a:ext cx="560070" cy="573405"/>
              </a:xfrm>
              <a:custGeom>
                <a:avLst/>
                <a:gdLst/>
                <a:ahLst/>
                <a:cxnLst/>
                <a:rect l="l" t="t" r="r" b="b"/>
                <a:pathLst>
                  <a:path w="560070" h="573405">
                    <a:moveTo>
                      <a:pt x="0" y="260033"/>
                    </a:moveTo>
                    <a:lnTo>
                      <a:pt x="266700" y="0"/>
                    </a:lnTo>
                    <a:lnTo>
                      <a:pt x="560070" y="0"/>
                    </a:lnTo>
                    <a:lnTo>
                      <a:pt x="560070" y="300038"/>
                    </a:lnTo>
                    <a:lnTo>
                      <a:pt x="286702" y="573405"/>
                    </a:lnTo>
                    <a:close/>
                  </a:path>
                </a:pathLst>
              </a:custGeom>
              <a:solidFill>
                <a:schemeClr val="lt2"/>
              </a:solidFill>
              <a:ln w="20002" cap="rnd">
                <a:solidFill>
                  <a:schemeClr val="accent1"/>
                </a:solidFill>
                <a:round/>
              </a:ln>
            </p:spPr>
          </p:sp>
          <p:sp>
            <p:nvSpPr>
              <p:cNvPr id="22" name="Ellipse 22"/>
              <p:cNvSpPr/>
              <p:nvPr/>
            </p:nvSpPr>
            <p:spPr>
              <a:xfrm>
                <a:off x="1181100" y="2285048"/>
                <a:ext cx="66675" cy="66675"/>
              </a:xfrm>
              <a:prstGeom prst="ellipse">
                <a:avLst/>
              </a:prstGeom>
              <a:solidFill>
                <a:schemeClr val="accent2"/>
              </a:solidFill>
              <a:ln>
                <a:noFill/>
              </a:ln>
            </p:spPr>
          </p:sp>
          <p:sp>
            <p:nvSpPr>
              <p:cNvPr id="23" name="Freeform 23"/>
              <p:cNvSpPr/>
              <p:nvPr/>
            </p:nvSpPr>
            <p:spPr>
              <a:xfrm>
                <a:off x="901065" y="2365058"/>
                <a:ext cx="253365" cy="253365"/>
              </a:xfrm>
              <a:custGeom>
                <a:avLst/>
                <a:gdLst/>
                <a:ahLst/>
                <a:cxnLst/>
                <a:rect l="l" t="t" r="r" b="b"/>
                <a:pathLst>
                  <a:path w="253365" h="253365">
                    <a:moveTo>
                      <a:pt x="0" y="180022"/>
                    </a:moveTo>
                    <a:cubicBezTo>
                      <a:pt x="40005" y="40005"/>
                      <a:pt x="146685" y="0"/>
                      <a:pt x="253365" y="13335"/>
                    </a:cubicBezTo>
                    <a:cubicBezTo>
                      <a:pt x="246698" y="166688"/>
                      <a:pt x="133350" y="253365"/>
                      <a:pt x="0" y="180022"/>
                    </a:cubicBezTo>
                    <a:close/>
                  </a:path>
                </a:pathLst>
              </a:custGeom>
              <a:solidFill>
                <a:schemeClr val="accent2"/>
              </a:solidFill>
              <a:ln>
                <a:noFill/>
              </a:ln>
            </p:spPr>
          </p:sp>
          <p:sp>
            <p:nvSpPr>
              <p:cNvPr id="24" name="Freeform 24"/>
              <p:cNvSpPr/>
              <p:nvPr/>
            </p:nvSpPr>
            <p:spPr>
              <a:xfrm>
                <a:off x="887730" y="2418398"/>
                <a:ext cx="200025" cy="186690"/>
              </a:xfrm>
              <a:custGeom>
                <a:avLst/>
                <a:gdLst/>
                <a:ahLst/>
                <a:cxnLst/>
                <a:rect l="l" t="t" r="r" b="b"/>
                <a:pathLst>
                  <a:path w="200025" h="186690">
                    <a:moveTo>
                      <a:pt x="0" y="186690"/>
                    </a:moveTo>
                    <a:lnTo>
                      <a:pt x="200025" y="0"/>
                    </a:lnTo>
                  </a:path>
                </a:pathLst>
              </a:custGeom>
              <a:noFill/>
              <a:ln w="20002" cap="rnd">
                <a:solidFill>
                  <a:schemeClr val="accent1"/>
                </a:solidFill>
                <a:round/>
              </a:ln>
            </p:spPr>
          </p:sp>
        </p:grpSp>
        <p:sp>
          <p:nvSpPr>
            <p:cNvPr id="26" name="TextBox 26"/>
            <p:cNvSpPr txBox="1"/>
            <p:nvPr/>
          </p:nvSpPr>
          <p:spPr>
            <a:xfrm>
              <a:off x="1776984" y="1955800"/>
              <a:ext cx="111785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碳标签</a:t>
              </a:r>
            </a:p>
          </p:txBody>
        </p:sp>
        <p:sp>
          <p:nvSpPr>
            <p:cNvPr id="27" name="TextBox 27"/>
            <p:cNvSpPr txBox="1"/>
            <p:nvPr/>
          </p:nvSpPr>
          <p:spPr>
            <a:xfrm>
              <a:off x="1780794" y="2435225"/>
              <a:ext cx="17533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dk1"/>
                  </a:solidFill>
                  <a:latin typeface="Microsoft YaHei"/>
                  <a:ea typeface="Microsoft YaHei"/>
                  <a:cs typeface="Microsoft YaHei"/>
                </a:rPr>
                <a:t>让消费者看见</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菜品排放信息。</a:t>
              </a:r>
            </a:p>
          </p:txBody>
        </p:sp>
        <p:sp>
          <p:nvSpPr>
            <p:cNvPr id="28" name="Ellipse 28"/>
            <p:cNvSpPr/>
            <p:nvPr/>
          </p:nvSpPr>
          <p:spPr>
            <a:xfrm>
              <a:off x="7686675" y="2038350"/>
              <a:ext cx="933450" cy="933450"/>
            </a:xfrm>
            <a:prstGeom prst="ellipse">
              <a:avLst/>
            </a:prstGeom>
            <a:solidFill>
              <a:schemeClr val="accent2">
                <a:alpha val="8000"/>
              </a:schemeClr>
            </a:solidFill>
            <a:ln>
              <a:noFill/>
            </a:ln>
          </p:spPr>
        </p:sp>
        <p:grpSp>
          <p:nvGrpSpPr>
            <p:cNvPr id="33" name="Group 33"/>
            <p:cNvGrpSpPr/>
            <p:nvPr/>
          </p:nvGrpSpPr>
          <p:grpSpPr>
            <a:xfrm>
              <a:off x="7933372" y="2178368"/>
              <a:ext cx="453390" cy="620077"/>
              <a:chOff x="7933372" y="2178368"/>
              <a:chExt cx="453390" cy="620077"/>
            </a:xfrm>
          </p:grpSpPr>
          <p:sp>
            <p:nvSpPr>
              <p:cNvPr id="29" name="Rectangle 29"/>
              <p:cNvSpPr/>
              <p:nvPr/>
            </p:nvSpPr>
            <p:spPr>
              <a:xfrm>
                <a:off x="7933373" y="2211705"/>
                <a:ext cx="453390" cy="586740"/>
              </a:xfrm>
              <a:prstGeom prst="roundRect">
                <a:avLst>
                  <a:gd name="adj" fmla="val 2941"/>
                </a:avLst>
              </a:prstGeom>
              <a:solidFill>
                <a:schemeClr val="lt2"/>
              </a:solidFill>
              <a:ln w="20002">
                <a:solidFill>
                  <a:schemeClr val="accent1"/>
                </a:solidFill>
              </a:ln>
            </p:spPr>
          </p:sp>
          <p:sp>
            <p:nvSpPr>
              <p:cNvPr id="30" name="Rectangle 30"/>
              <p:cNvSpPr/>
              <p:nvPr/>
            </p:nvSpPr>
            <p:spPr>
              <a:xfrm>
                <a:off x="8040053" y="2178368"/>
                <a:ext cx="240030" cy="93345"/>
              </a:xfrm>
              <a:prstGeom prst="roundRect">
                <a:avLst>
                  <a:gd name="adj" fmla="val 14286"/>
                </a:avLst>
              </a:prstGeom>
              <a:solidFill>
                <a:schemeClr val="accent2"/>
              </a:solidFill>
              <a:ln>
                <a:noFill/>
              </a:ln>
            </p:spPr>
          </p:sp>
          <p:sp>
            <p:nvSpPr>
              <p:cNvPr id="31" name="Freeform 31"/>
              <p:cNvSpPr/>
              <p:nvPr/>
            </p:nvSpPr>
            <p:spPr>
              <a:xfrm>
                <a:off x="8133398" y="2378392"/>
                <a:ext cx="166688" cy="300038"/>
              </a:xfrm>
              <a:custGeom>
                <a:avLst/>
                <a:gdLst/>
                <a:ahLst/>
                <a:cxnLst/>
                <a:rect l="l" t="t" r="r" b="b"/>
                <a:pathLst>
                  <a:path w="166688" h="300038">
                    <a:moveTo>
                      <a:pt x="0" y="0"/>
                    </a:moveTo>
                    <a:lnTo>
                      <a:pt x="166688" y="0"/>
                    </a:lnTo>
                    <a:moveTo>
                      <a:pt x="0" y="146685"/>
                    </a:moveTo>
                    <a:lnTo>
                      <a:pt x="166688" y="146685"/>
                    </a:lnTo>
                    <a:moveTo>
                      <a:pt x="0" y="300038"/>
                    </a:moveTo>
                    <a:lnTo>
                      <a:pt x="166688" y="300038"/>
                    </a:lnTo>
                  </a:path>
                </a:pathLst>
              </a:custGeom>
              <a:noFill/>
              <a:ln w="20002" cap="rnd">
                <a:solidFill>
                  <a:schemeClr val="accent1"/>
                </a:solidFill>
                <a:round/>
              </a:ln>
            </p:spPr>
          </p:sp>
          <p:sp>
            <p:nvSpPr>
              <p:cNvPr id="32" name="Freeform 32"/>
              <p:cNvSpPr/>
              <p:nvPr/>
            </p:nvSpPr>
            <p:spPr>
              <a:xfrm>
                <a:off x="7986712" y="2338388"/>
                <a:ext cx="93345" cy="373380"/>
              </a:xfrm>
              <a:custGeom>
                <a:avLst/>
                <a:gdLst/>
                <a:ahLst/>
                <a:cxnLst/>
                <a:rect l="l" t="t" r="r" b="b"/>
                <a:pathLst>
                  <a:path w="93345" h="373380">
                    <a:moveTo>
                      <a:pt x="0" y="33338"/>
                    </a:moveTo>
                    <a:lnTo>
                      <a:pt x="40005" y="73342"/>
                    </a:lnTo>
                    <a:lnTo>
                      <a:pt x="93345" y="0"/>
                    </a:lnTo>
                    <a:moveTo>
                      <a:pt x="0" y="180022"/>
                    </a:moveTo>
                    <a:lnTo>
                      <a:pt x="40005" y="220028"/>
                    </a:lnTo>
                    <a:lnTo>
                      <a:pt x="93345" y="146685"/>
                    </a:lnTo>
                    <a:moveTo>
                      <a:pt x="0" y="333375"/>
                    </a:moveTo>
                    <a:lnTo>
                      <a:pt x="40005" y="373380"/>
                    </a:lnTo>
                    <a:lnTo>
                      <a:pt x="93345" y="300038"/>
                    </a:lnTo>
                  </a:path>
                </a:pathLst>
              </a:custGeom>
              <a:noFill/>
              <a:ln w="26670" cap="rnd">
                <a:solidFill>
                  <a:schemeClr val="accent2"/>
                </a:solidFill>
                <a:round/>
              </a:ln>
            </p:spPr>
          </p:sp>
        </p:grpSp>
        <p:sp>
          <p:nvSpPr>
            <p:cNvPr id="34" name="TextBox 34"/>
            <p:cNvSpPr txBox="1"/>
            <p:nvPr/>
          </p:nvSpPr>
          <p:spPr>
            <a:xfrm>
              <a:off x="8901684" y="1955800"/>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菜单供给</a:t>
              </a:r>
            </a:p>
          </p:txBody>
        </p:sp>
        <p:sp>
          <p:nvSpPr>
            <p:cNvPr id="35" name="TextBox 35"/>
            <p:cNvSpPr txBox="1"/>
            <p:nvPr/>
          </p:nvSpPr>
          <p:spPr>
            <a:xfrm>
              <a:off x="8905494" y="2435225"/>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dk1"/>
                  </a:solidFill>
                  <a:latin typeface="Microsoft YaHei"/>
                  <a:ea typeface="Microsoft YaHei"/>
                  <a:cs typeface="Microsoft YaHei"/>
                </a:rPr>
                <a:t>增加低排放菜品的</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多样性与可选性。</a:t>
              </a:r>
            </a:p>
          </p:txBody>
        </p:sp>
        <p:sp>
          <p:nvSpPr>
            <p:cNvPr id="36" name="Ellipse 36"/>
            <p:cNvSpPr/>
            <p:nvPr/>
          </p:nvSpPr>
          <p:spPr>
            <a:xfrm>
              <a:off x="581025" y="4638675"/>
              <a:ext cx="933450" cy="933450"/>
            </a:xfrm>
            <a:prstGeom prst="ellipse">
              <a:avLst/>
            </a:prstGeom>
            <a:solidFill>
              <a:schemeClr val="accent2">
                <a:alpha val="8000"/>
              </a:schemeClr>
            </a:solidFill>
            <a:ln>
              <a:noFill/>
            </a:ln>
          </p:spPr>
        </p:sp>
        <p:grpSp>
          <p:nvGrpSpPr>
            <p:cNvPr id="42" name="Group 42"/>
            <p:cNvGrpSpPr/>
            <p:nvPr/>
          </p:nvGrpSpPr>
          <p:grpSpPr>
            <a:xfrm>
              <a:off x="754380" y="4852035"/>
              <a:ext cx="586740" cy="546735"/>
              <a:chOff x="754380" y="4852035"/>
              <a:chExt cx="586740" cy="546735"/>
            </a:xfrm>
          </p:grpSpPr>
          <p:sp>
            <p:nvSpPr>
              <p:cNvPr id="37" name="Rectangle 37"/>
              <p:cNvSpPr/>
              <p:nvPr/>
            </p:nvSpPr>
            <p:spPr>
              <a:xfrm>
                <a:off x="754380" y="4852035"/>
                <a:ext cx="586740" cy="393383"/>
              </a:xfrm>
              <a:prstGeom prst="roundRect">
                <a:avLst>
                  <a:gd name="adj" fmla="val 3390"/>
                </a:avLst>
              </a:prstGeom>
              <a:solidFill>
                <a:schemeClr val="lt2"/>
              </a:solidFill>
              <a:ln w="20002">
                <a:solidFill>
                  <a:schemeClr val="accent1"/>
                </a:solidFill>
              </a:ln>
            </p:spPr>
          </p:sp>
          <p:sp>
            <p:nvSpPr>
              <p:cNvPr id="38" name="Freeform 38"/>
              <p:cNvSpPr/>
              <p:nvPr/>
            </p:nvSpPr>
            <p:spPr>
              <a:xfrm>
                <a:off x="861060" y="5265420"/>
                <a:ext cx="373380" cy="133350"/>
              </a:xfrm>
              <a:custGeom>
                <a:avLst/>
                <a:gdLst/>
                <a:ahLst/>
                <a:cxnLst/>
                <a:rect l="l" t="t" r="r" b="b"/>
                <a:pathLst>
                  <a:path w="373380" h="133350">
                    <a:moveTo>
                      <a:pt x="93345" y="0"/>
                    </a:moveTo>
                    <a:lnTo>
                      <a:pt x="73342" y="113348"/>
                    </a:lnTo>
                    <a:lnTo>
                      <a:pt x="306705" y="113348"/>
                    </a:lnTo>
                    <a:lnTo>
                      <a:pt x="280035" y="0"/>
                    </a:lnTo>
                    <a:moveTo>
                      <a:pt x="0" y="133350"/>
                    </a:moveTo>
                    <a:lnTo>
                      <a:pt x="373380" y="133350"/>
                    </a:lnTo>
                  </a:path>
                </a:pathLst>
              </a:custGeom>
              <a:noFill/>
              <a:ln w="26670" cap="rnd">
                <a:solidFill>
                  <a:schemeClr val="accent1"/>
                </a:solidFill>
                <a:round/>
              </a:ln>
            </p:spPr>
          </p:sp>
          <p:sp>
            <p:nvSpPr>
              <p:cNvPr id="39" name="Rectangle 39"/>
              <p:cNvSpPr/>
              <p:nvPr/>
            </p:nvSpPr>
            <p:spPr>
              <a:xfrm>
                <a:off x="847725" y="5058727"/>
                <a:ext cx="73343" cy="113347"/>
              </a:xfrm>
              <a:prstGeom prst="roundRect">
                <a:avLst>
                  <a:gd name="adj" fmla="val 18182"/>
                </a:avLst>
              </a:prstGeom>
              <a:solidFill>
                <a:schemeClr val="accent2"/>
              </a:solidFill>
              <a:ln>
                <a:noFill/>
              </a:ln>
            </p:spPr>
          </p:sp>
          <p:sp>
            <p:nvSpPr>
              <p:cNvPr id="40" name="Rectangle 40"/>
              <p:cNvSpPr/>
              <p:nvPr/>
            </p:nvSpPr>
            <p:spPr>
              <a:xfrm>
                <a:off x="1001078" y="4978718"/>
                <a:ext cx="73343" cy="193357"/>
              </a:xfrm>
              <a:prstGeom prst="roundRect">
                <a:avLst>
                  <a:gd name="adj" fmla="val 18182"/>
                </a:avLst>
              </a:prstGeom>
              <a:solidFill>
                <a:schemeClr val="accent2"/>
              </a:solidFill>
              <a:ln>
                <a:noFill/>
              </a:ln>
            </p:spPr>
          </p:sp>
          <p:sp>
            <p:nvSpPr>
              <p:cNvPr id="41" name="Rectangle 41"/>
              <p:cNvSpPr/>
              <p:nvPr/>
            </p:nvSpPr>
            <p:spPr>
              <a:xfrm>
                <a:off x="1154430" y="4918710"/>
                <a:ext cx="73343" cy="253365"/>
              </a:xfrm>
              <a:prstGeom prst="roundRect">
                <a:avLst>
                  <a:gd name="adj" fmla="val 18182"/>
                </a:avLst>
              </a:prstGeom>
              <a:solidFill>
                <a:schemeClr val="accent2"/>
              </a:solidFill>
              <a:ln>
                <a:noFill/>
              </a:ln>
            </p:spPr>
          </p:sp>
        </p:grpSp>
        <p:sp>
          <p:nvSpPr>
            <p:cNvPr id="43" name="TextBox 43"/>
            <p:cNvSpPr txBox="1"/>
            <p:nvPr/>
          </p:nvSpPr>
          <p:spPr>
            <a:xfrm>
              <a:off x="1776984" y="45561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数字管理</a:t>
              </a:r>
            </a:p>
          </p:txBody>
        </p:sp>
        <p:sp>
          <p:nvSpPr>
            <p:cNvPr id="44" name="TextBox 44"/>
            <p:cNvSpPr txBox="1"/>
            <p:nvPr/>
          </p:nvSpPr>
          <p:spPr>
            <a:xfrm>
              <a:off x="1780794" y="5035550"/>
              <a:ext cx="200101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dk1"/>
                  </a:solidFill>
                  <a:latin typeface="Microsoft YaHei"/>
                  <a:ea typeface="Microsoft YaHei"/>
                  <a:cs typeface="Microsoft YaHei"/>
                </a:rPr>
                <a:t>将排放信息接入</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能源和销售管理。</a:t>
              </a:r>
            </a:p>
          </p:txBody>
        </p:sp>
        <p:sp>
          <p:nvSpPr>
            <p:cNvPr id="45" name="Ellipse 45"/>
            <p:cNvSpPr/>
            <p:nvPr/>
          </p:nvSpPr>
          <p:spPr>
            <a:xfrm>
              <a:off x="7686675" y="4638675"/>
              <a:ext cx="933450" cy="933450"/>
            </a:xfrm>
            <a:prstGeom prst="ellipse">
              <a:avLst/>
            </a:prstGeom>
            <a:solidFill>
              <a:schemeClr val="accent2">
                <a:alpha val="8000"/>
              </a:schemeClr>
            </a:solidFill>
            <a:ln>
              <a:noFill/>
            </a:ln>
          </p:spPr>
        </p:sp>
        <p:grpSp>
          <p:nvGrpSpPr>
            <p:cNvPr id="52" name="Group 52"/>
            <p:cNvGrpSpPr/>
            <p:nvPr/>
          </p:nvGrpSpPr>
          <p:grpSpPr>
            <a:xfrm>
              <a:off x="7846695" y="4832032"/>
              <a:ext cx="613410" cy="546736"/>
              <a:chOff x="7846695" y="4832032"/>
              <a:chExt cx="613410" cy="546736"/>
            </a:xfrm>
          </p:grpSpPr>
          <p:sp>
            <p:nvSpPr>
              <p:cNvPr id="46" name="Ellipse 46"/>
              <p:cNvSpPr/>
              <p:nvPr/>
            </p:nvSpPr>
            <p:spPr>
              <a:xfrm>
                <a:off x="8066722" y="4832032"/>
                <a:ext cx="173355" cy="173355"/>
              </a:xfrm>
              <a:prstGeom prst="ellipse">
                <a:avLst/>
              </a:prstGeom>
              <a:solidFill>
                <a:schemeClr val="accent1"/>
              </a:solidFill>
              <a:ln>
                <a:noFill/>
              </a:ln>
            </p:spPr>
          </p:sp>
          <p:sp>
            <p:nvSpPr>
              <p:cNvPr id="47" name="Ellipse 47"/>
              <p:cNvSpPr/>
              <p:nvPr/>
            </p:nvSpPr>
            <p:spPr>
              <a:xfrm>
                <a:off x="7880032" y="4952048"/>
                <a:ext cx="133350" cy="133350"/>
              </a:xfrm>
              <a:prstGeom prst="ellipse">
                <a:avLst/>
              </a:prstGeom>
              <a:solidFill>
                <a:schemeClr val="accent2"/>
              </a:solidFill>
              <a:ln>
                <a:noFill/>
              </a:ln>
            </p:spPr>
          </p:sp>
          <p:sp>
            <p:nvSpPr>
              <p:cNvPr id="48" name="Ellipse 48"/>
              <p:cNvSpPr/>
              <p:nvPr/>
            </p:nvSpPr>
            <p:spPr>
              <a:xfrm>
                <a:off x="8293418" y="4952048"/>
                <a:ext cx="133350" cy="133350"/>
              </a:xfrm>
              <a:prstGeom prst="ellipse">
                <a:avLst/>
              </a:prstGeom>
              <a:solidFill>
                <a:schemeClr val="accent2"/>
              </a:solidFill>
              <a:ln>
                <a:noFill/>
              </a:ln>
            </p:spPr>
          </p:sp>
          <p:sp>
            <p:nvSpPr>
              <p:cNvPr id="49" name="Freeform 49"/>
              <p:cNvSpPr/>
              <p:nvPr/>
            </p:nvSpPr>
            <p:spPr>
              <a:xfrm>
                <a:off x="8020050" y="5025390"/>
                <a:ext cx="266700" cy="353378"/>
              </a:xfrm>
              <a:custGeom>
                <a:avLst/>
                <a:gdLst/>
                <a:ahLst/>
                <a:cxnLst/>
                <a:rect l="l" t="t" r="r" b="b"/>
                <a:pathLst>
                  <a:path w="266700" h="353378">
                    <a:moveTo>
                      <a:pt x="0" y="353378"/>
                    </a:moveTo>
                    <a:lnTo>
                      <a:pt x="0" y="146685"/>
                    </a:lnTo>
                    <a:cubicBezTo>
                      <a:pt x="0" y="0"/>
                      <a:pt x="266700" y="0"/>
                      <a:pt x="266700" y="146685"/>
                    </a:cubicBezTo>
                    <a:lnTo>
                      <a:pt x="266700" y="353378"/>
                    </a:lnTo>
                    <a:close/>
                  </a:path>
                </a:pathLst>
              </a:custGeom>
              <a:solidFill>
                <a:schemeClr val="accent1"/>
              </a:solidFill>
              <a:ln>
                <a:noFill/>
              </a:ln>
            </p:spPr>
          </p:sp>
          <p:sp>
            <p:nvSpPr>
              <p:cNvPr id="50" name="Freeform 50"/>
              <p:cNvSpPr/>
              <p:nvPr/>
            </p:nvSpPr>
            <p:spPr>
              <a:xfrm>
                <a:off x="7846695" y="5085398"/>
                <a:ext cx="160020" cy="273368"/>
              </a:xfrm>
              <a:custGeom>
                <a:avLst/>
                <a:gdLst/>
                <a:ahLst/>
                <a:cxnLst/>
                <a:rect l="l" t="t" r="r" b="b"/>
                <a:pathLst>
                  <a:path w="160020" h="273368">
                    <a:moveTo>
                      <a:pt x="0" y="273368"/>
                    </a:moveTo>
                    <a:lnTo>
                      <a:pt x="0" y="113347"/>
                    </a:lnTo>
                    <a:cubicBezTo>
                      <a:pt x="0" y="0"/>
                      <a:pt x="140018" y="0"/>
                      <a:pt x="160020" y="86678"/>
                    </a:cubicBezTo>
                    <a:lnTo>
                      <a:pt x="160020" y="273368"/>
                    </a:lnTo>
                    <a:close/>
                  </a:path>
                </a:pathLst>
              </a:custGeom>
              <a:solidFill>
                <a:schemeClr val="accent2"/>
              </a:solidFill>
              <a:ln>
                <a:noFill/>
              </a:ln>
            </p:spPr>
          </p:sp>
          <p:sp>
            <p:nvSpPr>
              <p:cNvPr id="51" name="Freeform 51"/>
              <p:cNvSpPr/>
              <p:nvPr/>
            </p:nvSpPr>
            <p:spPr>
              <a:xfrm>
                <a:off x="8300085" y="5085398"/>
                <a:ext cx="160020" cy="273368"/>
              </a:xfrm>
              <a:custGeom>
                <a:avLst/>
                <a:gdLst/>
                <a:ahLst/>
                <a:cxnLst/>
                <a:rect l="l" t="t" r="r" b="b"/>
                <a:pathLst>
                  <a:path w="160020" h="273368">
                    <a:moveTo>
                      <a:pt x="0" y="273368"/>
                    </a:moveTo>
                    <a:lnTo>
                      <a:pt x="0" y="86678"/>
                    </a:lnTo>
                    <a:cubicBezTo>
                      <a:pt x="33338" y="0"/>
                      <a:pt x="160020" y="0"/>
                      <a:pt x="160020" y="113347"/>
                    </a:cubicBezTo>
                    <a:lnTo>
                      <a:pt x="160020" y="273368"/>
                    </a:lnTo>
                    <a:close/>
                  </a:path>
                </a:pathLst>
              </a:custGeom>
              <a:solidFill>
                <a:schemeClr val="accent2"/>
              </a:solidFill>
              <a:ln>
                <a:noFill/>
              </a:ln>
            </p:spPr>
          </p:sp>
        </p:grpSp>
        <p:sp>
          <p:nvSpPr>
            <p:cNvPr id="53" name="TextBox 53"/>
            <p:cNvSpPr txBox="1"/>
            <p:nvPr/>
          </p:nvSpPr>
          <p:spPr>
            <a:xfrm>
              <a:off x="8901684" y="4556125"/>
              <a:ext cx="148132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公共引导</a:t>
              </a:r>
            </a:p>
          </p:txBody>
        </p:sp>
        <p:sp>
          <p:nvSpPr>
            <p:cNvPr id="54" name="TextBox 54"/>
            <p:cNvSpPr txBox="1"/>
            <p:nvPr/>
          </p:nvSpPr>
          <p:spPr>
            <a:xfrm>
              <a:off x="8905494" y="5035550"/>
              <a:ext cx="2743962" cy="743331"/>
            </a:xfrm>
            <a:prstGeom prst="rect">
              <a:avLst/>
            </a:prstGeom>
            <a:noFill/>
            <a:ln>
              <a:noFill/>
            </a:ln>
          </p:spPr>
          <p:txBody>
            <a:bodyPr wrap="none" lIns="0" tIns="0" rIns="0" bIns="0" anchor="t" anchorCtr="0">
              <a:spAutoFit/>
            </a:bodyPr>
            <a:lstStyle/>
            <a:p>
              <a:pPr algn="l">
                <a:lnSpc>
                  <a:spcPts val="2850"/>
                </a:lnSpc>
              </a:pPr>
              <a:r>
                <a:rPr lang="zh-CN" sz="1950" dirty="0">
                  <a:solidFill>
                    <a:schemeClr val="dk1"/>
                  </a:solidFill>
                  <a:latin typeface="Microsoft YaHei"/>
                  <a:ea typeface="Microsoft YaHei"/>
                  <a:cs typeface="Microsoft YaHei"/>
                </a:rPr>
                <a:t>结合地方饮食文化，</a:t>
              </a:r>
              <a:br>
                <a:rPr lang="zh-CN" sz="1950" dirty="0">
                  <a:solidFill>
                    <a:schemeClr val="dk1"/>
                  </a:solidFill>
                  <a:latin typeface="Microsoft YaHei"/>
                  <a:ea typeface="Microsoft YaHei"/>
                  <a:cs typeface="Microsoft YaHei"/>
                </a:rPr>
              </a:br>
              <a:r>
                <a:rPr lang="zh-CN" sz="1950" dirty="0">
                  <a:solidFill>
                    <a:schemeClr val="dk1"/>
                  </a:solidFill>
                  <a:latin typeface="Microsoft YaHei"/>
                  <a:ea typeface="Microsoft YaHei"/>
                  <a:cs typeface="Microsoft YaHei"/>
                </a:rPr>
                <a:t>开展标准、激励与教育。</a:t>
              </a:r>
            </a:p>
          </p:txBody>
        </p:sp>
      </p:grpSp>
      <p:grpSp>
        <p:nvGrpSpPr>
          <p:cNvPr id="58" name="source-and-page"/>
          <p:cNvGrpSpPr/>
          <p:nvPr/>
        </p:nvGrpSpPr>
        <p:grpSpPr>
          <a:xfrm>
            <a:off x="526542" y="6305550"/>
            <a:ext cx="11132058" cy="346583"/>
            <a:chOff x="526542" y="6305550"/>
            <a:chExt cx="11132058" cy="346583"/>
          </a:xfrm>
        </p:grpSpPr>
        <p:sp>
          <p:nvSpPr>
            <p:cNvPr id="56" name="Line 56"/>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7" name="TextBox 57"/>
            <p:cNvSpPr txBox="1"/>
            <p:nvPr/>
          </p:nvSpPr>
          <p:spPr>
            <a:xfrm>
              <a:off x="526542" y="6388100"/>
              <a:ext cx="752605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pp.371–372｜作者政策讨论；建议尚非本文验证的实际政策效果</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69478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03 / 核心结论与讨论</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16 / 18</a:t>
              </a:r>
            </a:p>
          </p:txBody>
        </p:sp>
      </p:grpSp>
      <p:grpSp>
        <p:nvGrpSpPr>
          <p:cNvPr id="6" name="slide-title"/>
          <p:cNvGrpSpPr/>
          <p:nvPr/>
        </p:nvGrpSpPr>
        <p:grpSpPr>
          <a:xfrm>
            <a:off x="515112" y="622300"/>
            <a:ext cx="7306056" cy="704088"/>
            <a:chOff x="515112" y="622300"/>
            <a:chExt cx="7306056" cy="704088"/>
          </a:xfrm>
        </p:grpSpPr>
        <p:sp>
          <p:nvSpPr>
            <p:cNvPr id="5" name="TextBox 5"/>
            <p:cNvSpPr txBox="1"/>
            <p:nvPr/>
          </p:nvSpPr>
          <p:spPr>
            <a:xfrm>
              <a:off x="515112" y="622300"/>
              <a:ext cx="7306056"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菜品核算让需求侧减排路径更具体</a:t>
              </a:r>
            </a:p>
          </p:txBody>
        </p:sp>
      </p:grpSp>
      <p:grpSp>
        <p:nvGrpSpPr>
          <p:cNvPr id="39" name="p16-main-evidence"/>
          <p:cNvGrpSpPr/>
          <p:nvPr/>
        </p:nvGrpSpPr>
        <p:grpSpPr>
          <a:xfrm>
            <a:off x="504825" y="1835150"/>
            <a:ext cx="11153775" cy="4172966"/>
            <a:chOff x="504825" y="1835150"/>
            <a:chExt cx="11153775" cy="4172966"/>
          </a:xfrm>
        </p:grpSpPr>
        <p:sp>
          <p:nvSpPr>
            <p:cNvPr id="7" name="Ellipse 7"/>
            <p:cNvSpPr/>
            <p:nvPr/>
          </p:nvSpPr>
          <p:spPr>
            <a:xfrm>
              <a:off x="504825" y="1838325"/>
              <a:ext cx="819150" cy="819150"/>
            </a:xfrm>
            <a:prstGeom prst="ellipse">
              <a:avLst/>
            </a:prstGeom>
            <a:solidFill>
              <a:schemeClr val="accent2">
                <a:alpha val="8000"/>
              </a:schemeClr>
            </a:solidFill>
            <a:ln>
              <a:noFill/>
            </a:ln>
          </p:spPr>
        </p:sp>
        <p:grpSp>
          <p:nvGrpSpPr>
            <p:cNvPr id="14" name="Group 14"/>
            <p:cNvGrpSpPr/>
            <p:nvPr/>
          </p:nvGrpSpPr>
          <p:grpSpPr>
            <a:xfrm>
              <a:off x="637794" y="1924050"/>
              <a:ext cx="515493" cy="578359"/>
              <a:chOff x="637794" y="1924050"/>
              <a:chExt cx="515493" cy="578359"/>
            </a:xfrm>
          </p:grpSpPr>
          <p:sp>
            <p:nvSpPr>
              <p:cNvPr id="8" name="Freeform 8"/>
              <p:cNvSpPr/>
              <p:nvPr/>
            </p:nvSpPr>
            <p:spPr>
              <a:xfrm>
                <a:off x="675513" y="2244662"/>
                <a:ext cx="477774" cy="257747"/>
              </a:xfrm>
              <a:custGeom>
                <a:avLst/>
                <a:gdLst/>
                <a:ahLst/>
                <a:cxnLst/>
                <a:rect l="l" t="t" r="r" b="b"/>
                <a:pathLst>
                  <a:path w="477774" h="257747">
                    <a:moveTo>
                      <a:pt x="0" y="0"/>
                    </a:moveTo>
                    <a:cubicBezTo>
                      <a:pt x="159258" y="41910"/>
                      <a:pt x="318516" y="41910"/>
                      <a:pt x="477774" y="0"/>
                    </a:cubicBezTo>
                    <a:cubicBezTo>
                      <a:pt x="452628" y="182309"/>
                      <a:pt x="364617" y="257747"/>
                      <a:pt x="238887" y="257747"/>
                    </a:cubicBezTo>
                    <a:cubicBezTo>
                      <a:pt x="113157" y="257747"/>
                      <a:pt x="25146" y="182309"/>
                      <a:pt x="0" y="0"/>
                    </a:cubicBezTo>
                    <a:close/>
                  </a:path>
                </a:pathLst>
              </a:custGeom>
              <a:solidFill>
                <a:schemeClr val="accent1"/>
              </a:solidFill>
              <a:ln>
                <a:noFill/>
              </a:ln>
            </p:spPr>
          </p:sp>
          <p:sp>
            <p:nvSpPr>
              <p:cNvPr id="9" name="Freeform 9"/>
              <p:cNvSpPr/>
              <p:nvPr/>
            </p:nvSpPr>
            <p:spPr>
              <a:xfrm>
                <a:off x="637794" y="1986915"/>
                <a:ext cx="465201" cy="257747"/>
              </a:xfrm>
              <a:custGeom>
                <a:avLst/>
                <a:gdLst/>
                <a:ahLst/>
                <a:cxnLst/>
                <a:rect l="l" t="t" r="r" b="b"/>
                <a:pathLst>
                  <a:path w="465201" h="257747">
                    <a:moveTo>
                      <a:pt x="62865" y="257747"/>
                    </a:moveTo>
                    <a:cubicBezTo>
                      <a:pt x="0" y="113157"/>
                      <a:pt x="138303" y="56578"/>
                      <a:pt x="207455" y="207454"/>
                    </a:cubicBezTo>
                    <a:cubicBezTo>
                      <a:pt x="150876" y="25146"/>
                      <a:pt x="308039" y="0"/>
                      <a:pt x="320612" y="157162"/>
                    </a:cubicBezTo>
                    <a:cubicBezTo>
                      <a:pt x="333185" y="44006"/>
                      <a:pt x="465201" y="88011"/>
                      <a:pt x="433769" y="238887"/>
                    </a:cubicBezTo>
                    <a:close/>
                  </a:path>
                </a:pathLst>
              </a:custGeom>
              <a:solidFill>
                <a:schemeClr val="accent2"/>
              </a:solidFill>
              <a:ln>
                <a:noFill/>
              </a:ln>
            </p:spPr>
          </p:sp>
          <p:sp>
            <p:nvSpPr>
              <p:cNvPr id="10" name="Freeform 10"/>
              <p:cNvSpPr/>
              <p:nvPr/>
            </p:nvSpPr>
            <p:spPr>
              <a:xfrm>
                <a:off x="933260" y="2068640"/>
                <a:ext cx="194881" cy="176022"/>
              </a:xfrm>
              <a:custGeom>
                <a:avLst/>
                <a:gdLst/>
                <a:ahLst/>
                <a:cxnLst/>
                <a:rect l="l" t="t" r="r" b="b"/>
                <a:pathLst>
                  <a:path w="194881" h="176022">
                    <a:moveTo>
                      <a:pt x="0" y="163449"/>
                    </a:moveTo>
                    <a:cubicBezTo>
                      <a:pt x="12573" y="25146"/>
                      <a:pt x="106870" y="0"/>
                      <a:pt x="144589" y="69151"/>
                    </a:cubicBezTo>
                    <a:lnTo>
                      <a:pt x="194881" y="176022"/>
                    </a:lnTo>
                    <a:close/>
                  </a:path>
                </a:pathLst>
              </a:custGeom>
              <a:solidFill>
                <a:schemeClr val="accent3"/>
              </a:solidFill>
              <a:ln>
                <a:noFill/>
              </a:ln>
            </p:spPr>
          </p:sp>
          <p:sp>
            <p:nvSpPr>
              <p:cNvPr id="11" name="Freeform 11"/>
              <p:cNvSpPr/>
              <p:nvPr/>
            </p:nvSpPr>
            <p:spPr>
              <a:xfrm>
                <a:off x="757238" y="2100072"/>
                <a:ext cx="282892" cy="144590"/>
              </a:xfrm>
              <a:custGeom>
                <a:avLst/>
                <a:gdLst/>
                <a:ahLst/>
                <a:cxnLst/>
                <a:rect l="l" t="t" r="r" b="b"/>
                <a:pathLst>
                  <a:path w="282892" h="144590">
                    <a:moveTo>
                      <a:pt x="0" y="62865"/>
                    </a:moveTo>
                    <a:lnTo>
                      <a:pt x="31432" y="144590"/>
                    </a:lnTo>
                    <a:moveTo>
                      <a:pt x="132016" y="0"/>
                    </a:moveTo>
                    <a:lnTo>
                      <a:pt x="132016" y="144590"/>
                    </a:lnTo>
                    <a:moveTo>
                      <a:pt x="282892" y="50292"/>
                    </a:moveTo>
                    <a:lnTo>
                      <a:pt x="245174" y="144590"/>
                    </a:lnTo>
                  </a:path>
                </a:pathLst>
              </a:custGeom>
              <a:noFill/>
              <a:ln w="12573" cap="rnd">
                <a:solidFill>
                  <a:srgbClr val="FFFFFF"/>
                </a:solidFill>
                <a:round/>
              </a:ln>
            </p:spPr>
          </p:sp>
          <p:sp>
            <p:nvSpPr>
              <p:cNvPr id="12" name="Freeform 12"/>
              <p:cNvSpPr/>
              <p:nvPr/>
            </p:nvSpPr>
            <p:spPr>
              <a:xfrm>
                <a:off x="675513" y="2244662"/>
                <a:ext cx="477774" cy="41910"/>
              </a:xfrm>
              <a:custGeom>
                <a:avLst/>
                <a:gdLst/>
                <a:ahLst/>
                <a:cxnLst/>
                <a:rect l="l" t="t" r="r" b="b"/>
                <a:pathLst>
                  <a:path w="477774" h="41910">
                    <a:moveTo>
                      <a:pt x="0" y="0"/>
                    </a:moveTo>
                    <a:cubicBezTo>
                      <a:pt x="159258" y="41910"/>
                      <a:pt x="318516" y="41910"/>
                      <a:pt x="477774" y="0"/>
                    </a:cubicBezTo>
                  </a:path>
                </a:pathLst>
              </a:custGeom>
              <a:noFill/>
              <a:ln w="12573" cap="rnd">
                <a:solidFill>
                  <a:srgbClr val="FFFFFF"/>
                </a:solidFill>
                <a:round/>
              </a:ln>
            </p:spPr>
          </p:sp>
          <p:sp>
            <p:nvSpPr>
              <p:cNvPr id="13" name="Freeform 13"/>
              <p:cNvSpPr/>
              <p:nvPr/>
            </p:nvSpPr>
            <p:spPr>
              <a:xfrm>
                <a:off x="769810" y="1924050"/>
                <a:ext cx="301752" cy="106870"/>
              </a:xfrm>
              <a:custGeom>
                <a:avLst/>
                <a:gdLst/>
                <a:ahLst/>
                <a:cxnLst/>
                <a:rect l="l" t="t" r="r" b="b"/>
                <a:pathLst>
                  <a:path w="301752" h="106870">
                    <a:moveTo>
                      <a:pt x="37719" y="94298"/>
                    </a:moveTo>
                    <a:cubicBezTo>
                      <a:pt x="0" y="56578"/>
                      <a:pt x="81725" y="37719"/>
                      <a:pt x="50292" y="0"/>
                    </a:cubicBezTo>
                    <a:moveTo>
                      <a:pt x="150876" y="88011"/>
                    </a:moveTo>
                    <a:cubicBezTo>
                      <a:pt x="113157" y="50292"/>
                      <a:pt x="188595" y="25146"/>
                      <a:pt x="150876" y="0"/>
                    </a:cubicBezTo>
                    <a:moveTo>
                      <a:pt x="264033" y="106870"/>
                    </a:moveTo>
                    <a:cubicBezTo>
                      <a:pt x="226314" y="69151"/>
                      <a:pt x="301752" y="37719"/>
                      <a:pt x="264033" y="12573"/>
                    </a:cubicBezTo>
                  </a:path>
                </a:pathLst>
              </a:custGeom>
              <a:noFill/>
              <a:ln w="15716" cap="rnd">
                <a:solidFill>
                  <a:schemeClr val="accent1"/>
                </a:solidFill>
                <a:round/>
              </a:ln>
            </p:spPr>
          </p:sp>
        </p:grpSp>
        <p:sp>
          <p:nvSpPr>
            <p:cNvPr id="15" name="TextBox 15"/>
            <p:cNvSpPr txBox="1"/>
            <p:nvPr/>
          </p:nvSpPr>
          <p:spPr>
            <a:xfrm>
              <a:off x="1685544" y="1835150"/>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核算对象</a:t>
              </a:r>
            </a:p>
          </p:txBody>
        </p:sp>
        <p:sp>
          <p:nvSpPr>
            <p:cNvPr id="16" name="TextBox 16"/>
            <p:cNvSpPr txBox="1"/>
            <p:nvPr/>
          </p:nvSpPr>
          <p:spPr>
            <a:xfrm>
              <a:off x="1681734" y="2203450"/>
              <a:ext cx="784848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36 类菜系、540 道代表菜，把最终消费纳入分析</a:t>
              </a:r>
            </a:p>
          </p:txBody>
        </p:sp>
        <p:sp>
          <p:nvSpPr>
            <p:cNvPr id="17" name="Ellipse 17"/>
            <p:cNvSpPr/>
            <p:nvPr/>
          </p:nvSpPr>
          <p:spPr>
            <a:xfrm>
              <a:off x="504825" y="2895600"/>
              <a:ext cx="819150" cy="819150"/>
            </a:xfrm>
            <a:prstGeom prst="ellipse">
              <a:avLst/>
            </a:prstGeom>
            <a:solidFill>
              <a:schemeClr val="accent3">
                <a:alpha val="8000"/>
              </a:schemeClr>
            </a:solidFill>
            <a:ln>
              <a:noFill/>
            </a:ln>
          </p:spPr>
        </p:sp>
        <p:grpSp>
          <p:nvGrpSpPr>
            <p:cNvPr id="22" name="Group 22"/>
            <p:cNvGrpSpPr/>
            <p:nvPr/>
          </p:nvGrpSpPr>
          <p:grpSpPr>
            <a:xfrm>
              <a:off x="669226" y="3063050"/>
              <a:ext cx="502920" cy="506158"/>
              <a:chOff x="669226" y="3063050"/>
              <a:chExt cx="502920" cy="506158"/>
            </a:xfrm>
          </p:grpSpPr>
          <p:sp>
            <p:nvSpPr>
              <p:cNvPr id="18" name="Rectangle 18"/>
              <p:cNvSpPr/>
              <p:nvPr/>
            </p:nvSpPr>
            <p:spPr>
              <a:xfrm>
                <a:off x="681800" y="3333369"/>
                <a:ext cx="113157" cy="201168"/>
              </a:xfrm>
              <a:prstGeom prst="roundRect">
                <a:avLst>
                  <a:gd name="adj" fmla="val 11111"/>
                </a:avLst>
              </a:prstGeom>
              <a:solidFill>
                <a:schemeClr val="accent3"/>
              </a:solidFill>
              <a:ln>
                <a:noFill/>
              </a:ln>
            </p:spPr>
          </p:sp>
          <p:sp>
            <p:nvSpPr>
              <p:cNvPr id="19" name="Rectangle 19"/>
              <p:cNvSpPr/>
              <p:nvPr/>
            </p:nvSpPr>
            <p:spPr>
              <a:xfrm>
                <a:off x="857822" y="3207639"/>
                <a:ext cx="113157" cy="326898"/>
              </a:xfrm>
              <a:prstGeom prst="roundRect">
                <a:avLst>
                  <a:gd name="adj" fmla="val 11111"/>
                </a:avLst>
              </a:prstGeom>
              <a:solidFill>
                <a:schemeClr val="accent3"/>
              </a:solidFill>
              <a:ln>
                <a:noFill/>
              </a:ln>
            </p:spPr>
          </p:sp>
          <p:sp>
            <p:nvSpPr>
              <p:cNvPr id="20" name="Rectangle 20"/>
              <p:cNvSpPr/>
              <p:nvPr/>
            </p:nvSpPr>
            <p:spPr>
              <a:xfrm>
                <a:off x="1033843" y="3063050"/>
                <a:ext cx="113157" cy="471488"/>
              </a:xfrm>
              <a:prstGeom prst="roundRect">
                <a:avLst>
                  <a:gd name="adj" fmla="val 11111"/>
                </a:avLst>
              </a:prstGeom>
              <a:solidFill>
                <a:schemeClr val="accent3"/>
              </a:solidFill>
              <a:ln>
                <a:noFill/>
              </a:ln>
            </p:spPr>
          </p:sp>
          <p:sp>
            <p:nvSpPr>
              <p:cNvPr id="21" name="Freeform 21"/>
              <p:cNvSpPr/>
              <p:nvPr/>
            </p:nvSpPr>
            <p:spPr>
              <a:xfrm>
                <a:off x="669226" y="3559683"/>
                <a:ext cx="502920" cy="9525"/>
              </a:xfrm>
              <a:custGeom>
                <a:avLst/>
                <a:gdLst/>
                <a:ahLst/>
                <a:cxnLst/>
                <a:rect l="l" t="t" r="r" b="b"/>
                <a:pathLst>
                  <a:path w="502920" h="9525">
                    <a:moveTo>
                      <a:pt x="0" y="0"/>
                    </a:moveTo>
                    <a:lnTo>
                      <a:pt x="502920" y="0"/>
                    </a:lnTo>
                  </a:path>
                </a:pathLst>
              </a:custGeom>
              <a:noFill/>
              <a:ln w="18860" cap="rnd">
                <a:solidFill>
                  <a:schemeClr val="accent1"/>
                </a:solidFill>
                <a:round/>
              </a:ln>
            </p:spPr>
          </p:sp>
        </p:grpSp>
        <p:sp>
          <p:nvSpPr>
            <p:cNvPr id="23" name="TextBox 23"/>
            <p:cNvSpPr txBox="1"/>
            <p:nvPr/>
          </p:nvSpPr>
          <p:spPr>
            <a:xfrm>
              <a:off x="1685544" y="2892425"/>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关键关系</a:t>
              </a:r>
            </a:p>
          </p:txBody>
        </p:sp>
        <p:sp>
          <p:nvSpPr>
            <p:cNvPr id="24" name="TextBox 24"/>
            <p:cNvSpPr txBox="1"/>
            <p:nvPr/>
          </p:nvSpPr>
          <p:spPr>
            <a:xfrm>
              <a:off x="1681734" y="3260725"/>
              <a:ext cx="6206490"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总排放同时取决于单菜强度与消费偏好</a:t>
              </a:r>
            </a:p>
          </p:txBody>
        </p:sp>
        <p:sp>
          <p:nvSpPr>
            <p:cNvPr id="25" name="Ellipse 25"/>
            <p:cNvSpPr/>
            <p:nvPr/>
          </p:nvSpPr>
          <p:spPr>
            <a:xfrm>
              <a:off x="504825" y="3952875"/>
              <a:ext cx="819150" cy="819150"/>
            </a:xfrm>
            <a:prstGeom prst="ellipse">
              <a:avLst/>
            </a:prstGeom>
            <a:solidFill>
              <a:schemeClr val="accent2">
                <a:alpha val="8000"/>
              </a:schemeClr>
            </a:solidFill>
            <a:ln>
              <a:noFill/>
            </a:ln>
          </p:spPr>
        </p:sp>
        <p:grpSp>
          <p:nvGrpSpPr>
            <p:cNvPr id="33" name="Group 33"/>
            <p:cNvGrpSpPr/>
            <p:nvPr/>
          </p:nvGrpSpPr>
          <p:grpSpPr>
            <a:xfrm>
              <a:off x="656654" y="4082606"/>
              <a:ext cx="546924" cy="565784"/>
              <a:chOff x="656654" y="4082606"/>
              <a:chExt cx="546924" cy="565784"/>
            </a:xfrm>
          </p:grpSpPr>
          <p:sp>
            <p:nvSpPr>
              <p:cNvPr id="26" name="Ellipse 26"/>
              <p:cNvSpPr/>
              <p:nvPr/>
            </p:nvSpPr>
            <p:spPr>
              <a:xfrm>
                <a:off x="656654" y="4082606"/>
                <a:ext cx="477774" cy="477774"/>
              </a:xfrm>
              <a:prstGeom prst="ellipse">
                <a:avLst/>
              </a:prstGeom>
              <a:solidFill>
                <a:schemeClr val="accent2"/>
              </a:solidFill>
              <a:ln>
                <a:noFill/>
              </a:ln>
            </p:spPr>
          </p:sp>
          <p:sp>
            <p:nvSpPr>
              <p:cNvPr id="27" name="Freeform 27"/>
              <p:cNvSpPr/>
              <p:nvPr/>
            </p:nvSpPr>
            <p:spPr>
              <a:xfrm>
                <a:off x="675513" y="4101465"/>
                <a:ext cx="201168" cy="163449"/>
              </a:xfrm>
              <a:custGeom>
                <a:avLst/>
                <a:gdLst/>
                <a:ahLst/>
                <a:cxnLst/>
                <a:rect l="l" t="t" r="r" b="b"/>
                <a:pathLst>
                  <a:path w="201168" h="163449">
                    <a:moveTo>
                      <a:pt x="44006" y="44006"/>
                    </a:moveTo>
                    <a:cubicBezTo>
                      <a:pt x="88011" y="0"/>
                      <a:pt x="144589" y="0"/>
                      <a:pt x="182308" y="25146"/>
                    </a:cubicBezTo>
                    <a:lnTo>
                      <a:pt x="157162" y="62865"/>
                    </a:lnTo>
                    <a:lnTo>
                      <a:pt x="201168" y="88011"/>
                    </a:lnTo>
                    <a:lnTo>
                      <a:pt x="157162" y="119443"/>
                    </a:lnTo>
                    <a:lnTo>
                      <a:pt x="106870" y="106870"/>
                    </a:lnTo>
                    <a:lnTo>
                      <a:pt x="81724" y="157162"/>
                    </a:lnTo>
                    <a:lnTo>
                      <a:pt x="37719" y="163449"/>
                    </a:lnTo>
                    <a:lnTo>
                      <a:pt x="0" y="113157"/>
                    </a:lnTo>
                    <a:cubicBezTo>
                      <a:pt x="6286" y="81724"/>
                      <a:pt x="18860" y="62865"/>
                      <a:pt x="44006" y="44006"/>
                    </a:cubicBezTo>
                    <a:close/>
                  </a:path>
                </a:pathLst>
              </a:custGeom>
              <a:solidFill>
                <a:schemeClr val="lt2"/>
              </a:solidFill>
              <a:ln>
                <a:noFill/>
              </a:ln>
            </p:spPr>
          </p:sp>
          <p:sp>
            <p:nvSpPr>
              <p:cNvPr id="28" name="Freeform 28"/>
              <p:cNvSpPr/>
              <p:nvPr/>
            </p:nvSpPr>
            <p:spPr>
              <a:xfrm>
                <a:off x="763524" y="4277487"/>
                <a:ext cx="169736" cy="257747"/>
              </a:xfrm>
              <a:custGeom>
                <a:avLst/>
                <a:gdLst/>
                <a:ahLst/>
                <a:cxnLst/>
                <a:rect l="l" t="t" r="r" b="b"/>
                <a:pathLst>
                  <a:path w="169736" h="257747">
                    <a:moveTo>
                      <a:pt x="37719" y="25146"/>
                    </a:moveTo>
                    <a:cubicBezTo>
                      <a:pt x="94298" y="0"/>
                      <a:pt x="169736" y="37719"/>
                      <a:pt x="138303" y="100584"/>
                    </a:cubicBezTo>
                    <a:lnTo>
                      <a:pt x="113157" y="132017"/>
                    </a:lnTo>
                    <a:lnTo>
                      <a:pt x="100584" y="201168"/>
                    </a:lnTo>
                    <a:lnTo>
                      <a:pt x="62865" y="257747"/>
                    </a:lnTo>
                    <a:lnTo>
                      <a:pt x="31433" y="201168"/>
                    </a:lnTo>
                    <a:lnTo>
                      <a:pt x="37719" y="150876"/>
                    </a:lnTo>
                    <a:lnTo>
                      <a:pt x="0" y="100584"/>
                    </a:lnTo>
                    <a:lnTo>
                      <a:pt x="6286" y="56578"/>
                    </a:lnTo>
                    <a:close/>
                  </a:path>
                </a:pathLst>
              </a:custGeom>
              <a:solidFill>
                <a:schemeClr val="lt2"/>
              </a:solidFill>
              <a:ln>
                <a:noFill/>
              </a:ln>
            </p:spPr>
          </p:sp>
          <p:sp>
            <p:nvSpPr>
              <p:cNvPr id="29" name="Freeform 29"/>
              <p:cNvSpPr/>
              <p:nvPr/>
            </p:nvSpPr>
            <p:spPr>
              <a:xfrm>
                <a:off x="901827" y="4114038"/>
                <a:ext cx="213741" cy="150876"/>
              </a:xfrm>
              <a:custGeom>
                <a:avLst/>
                <a:gdLst/>
                <a:ahLst/>
                <a:cxnLst/>
                <a:rect l="l" t="t" r="r" b="b"/>
                <a:pathLst>
                  <a:path w="213741" h="150876">
                    <a:moveTo>
                      <a:pt x="62865" y="0"/>
                    </a:moveTo>
                    <a:cubicBezTo>
                      <a:pt x="125730" y="12573"/>
                      <a:pt x="194881" y="81724"/>
                      <a:pt x="213741" y="138303"/>
                    </a:cubicBezTo>
                    <a:lnTo>
                      <a:pt x="163449" y="150876"/>
                    </a:lnTo>
                    <a:lnTo>
                      <a:pt x="119443" y="119443"/>
                    </a:lnTo>
                    <a:lnTo>
                      <a:pt x="88011" y="150876"/>
                    </a:lnTo>
                    <a:lnTo>
                      <a:pt x="62865" y="119443"/>
                    </a:lnTo>
                    <a:lnTo>
                      <a:pt x="18859" y="125730"/>
                    </a:lnTo>
                    <a:lnTo>
                      <a:pt x="0" y="81724"/>
                    </a:lnTo>
                    <a:lnTo>
                      <a:pt x="37719" y="50292"/>
                    </a:lnTo>
                    <a:close/>
                  </a:path>
                </a:pathLst>
              </a:custGeom>
              <a:solidFill>
                <a:schemeClr val="lt2"/>
              </a:solidFill>
              <a:ln>
                <a:noFill/>
              </a:ln>
            </p:spPr>
          </p:sp>
          <p:sp>
            <p:nvSpPr>
              <p:cNvPr id="30" name="Freeform 30"/>
              <p:cNvSpPr/>
              <p:nvPr/>
            </p:nvSpPr>
            <p:spPr>
              <a:xfrm>
                <a:off x="901827" y="4264914"/>
                <a:ext cx="169735" cy="201168"/>
              </a:xfrm>
              <a:custGeom>
                <a:avLst/>
                <a:gdLst/>
                <a:ahLst/>
                <a:cxnLst/>
                <a:rect l="l" t="t" r="r" b="b"/>
                <a:pathLst>
                  <a:path w="169735" h="201168">
                    <a:moveTo>
                      <a:pt x="50292" y="31433"/>
                    </a:moveTo>
                    <a:cubicBezTo>
                      <a:pt x="100584" y="0"/>
                      <a:pt x="157162" y="37719"/>
                      <a:pt x="169735" y="75438"/>
                    </a:cubicBezTo>
                    <a:lnTo>
                      <a:pt x="132016" y="144590"/>
                    </a:lnTo>
                    <a:lnTo>
                      <a:pt x="100584" y="201168"/>
                    </a:lnTo>
                    <a:lnTo>
                      <a:pt x="56578" y="182308"/>
                    </a:lnTo>
                    <a:lnTo>
                      <a:pt x="31432" y="125730"/>
                    </a:lnTo>
                    <a:lnTo>
                      <a:pt x="0" y="75438"/>
                    </a:lnTo>
                    <a:close/>
                  </a:path>
                </a:pathLst>
              </a:custGeom>
              <a:solidFill>
                <a:schemeClr val="lt2"/>
              </a:solidFill>
              <a:ln>
                <a:noFill/>
              </a:ln>
            </p:spPr>
          </p:sp>
          <p:sp>
            <p:nvSpPr>
              <p:cNvPr id="31" name="Freeform 31"/>
              <p:cNvSpPr/>
              <p:nvPr/>
            </p:nvSpPr>
            <p:spPr>
              <a:xfrm>
                <a:off x="920686" y="4396930"/>
                <a:ext cx="282892" cy="251460"/>
              </a:xfrm>
              <a:custGeom>
                <a:avLst/>
                <a:gdLst/>
                <a:ahLst/>
                <a:cxnLst/>
                <a:rect l="l" t="t" r="r" b="b"/>
                <a:pathLst>
                  <a:path w="282892" h="251460">
                    <a:moveTo>
                      <a:pt x="6286" y="182308"/>
                    </a:moveTo>
                    <a:cubicBezTo>
                      <a:pt x="0" y="37719"/>
                      <a:pt x="119444" y="12573"/>
                      <a:pt x="282892" y="0"/>
                    </a:cubicBezTo>
                    <a:cubicBezTo>
                      <a:pt x="276606" y="150876"/>
                      <a:pt x="194882" y="251460"/>
                      <a:pt x="69152" y="226314"/>
                    </a:cubicBezTo>
                    <a:close/>
                  </a:path>
                </a:pathLst>
              </a:custGeom>
              <a:solidFill>
                <a:schemeClr val="accent1"/>
              </a:solidFill>
              <a:ln w="12573" cap="rnd">
                <a:solidFill>
                  <a:srgbClr val="FFFFFF"/>
                </a:solidFill>
                <a:round/>
              </a:ln>
            </p:spPr>
          </p:sp>
          <p:sp>
            <p:nvSpPr>
              <p:cNvPr id="32" name="Freeform 32"/>
              <p:cNvSpPr/>
              <p:nvPr/>
            </p:nvSpPr>
            <p:spPr>
              <a:xfrm>
                <a:off x="977265" y="4472368"/>
                <a:ext cx="157162" cy="144590"/>
              </a:xfrm>
              <a:custGeom>
                <a:avLst/>
                <a:gdLst/>
                <a:ahLst/>
                <a:cxnLst/>
                <a:rect l="l" t="t" r="r" b="b"/>
                <a:pathLst>
                  <a:path w="157162" h="144590">
                    <a:moveTo>
                      <a:pt x="0" y="144590"/>
                    </a:moveTo>
                    <a:lnTo>
                      <a:pt x="157162" y="0"/>
                    </a:lnTo>
                  </a:path>
                </a:pathLst>
              </a:custGeom>
              <a:noFill/>
              <a:ln w="15716" cap="rnd">
                <a:solidFill>
                  <a:srgbClr val="FFFFFF"/>
                </a:solidFill>
                <a:round/>
              </a:ln>
            </p:spPr>
          </p:sp>
        </p:grpSp>
        <p:sp>
          <p:nvSpPr>
            <p:cNvPr id="34" name="TextBox 34"/>
            <p:cNvSpPr txBox="1"/>
            <p:nvPr/>
          </p:nvSpPr>
          <p:spPr>
            <a:xfrm>
              <a:off x="1685544" y="3949700"/>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情景边界</a:t>
              </a:r>
            </a:p>
          </p:txBody>
        </p:sp>
        <p:sp>
          <p:nvSpPr>
            <p:cNvPr id="35" name="TextBox 35"/>
            <p:cNvSpPr txBox="1"/>
            <p:nvPr/>
          </p:nvSpPr>
          <p:spPr>
            <a:xfrm>
              <a:off x="1681734" y="4318000"/>
              <a:ext cx="7166524"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综合累计减排约 69%，1.5°C 目标仍具挑战</a:t>
              </a:r>
            </a:p>
          </p:txBody>
        </p:sp>
        <p:sp>
          <p:nvSpPr>
            <p:cNvPr id="36" name="Line 36"/>
            <p:cNvSpPr/>
            <p:nvPr/>
          </p:nvSpPr>
          <p:spPr>
            <a:xfrm>
              <a:off x="533400" y="5305425"/>
              <a:ext cx="11125200" cy="9525"/>
            </a:xfrm>
            <a:custGeom>
              <a:avLst/>
              <a:gdLst/>
              <a:ahLst/>
              <a:cxnLst/>
              <a:rect l="l" t="t" r="r" b="b"/>
              <a:pathLst>
                <a:path w="11125200" h="9525">
                  <a:moveTo>
                    <a:pt x="0" y="0"/>
                  </a:moveTo>
                  <a:lnTo>
                    <a:pt x="11125200" y="0"/>
                  </a:lnTo>
                </a:path>
              </a:pathLst>
            </a:custGeom>
            <a:noFill/>
            <a:ln w="19050">
              <a:solidFill>
                <a:schemeClr val="accent2"/>
              </a:solidFill>
            </a:ln>
          </p:spPr>
        </p:sp>
        <p:sp>
          <p:nvSpPr>
            <p:cNvPr id="37" name="TextBox 37"/>
            <p:cNvSpPr txBox="1"/>
            <p:nvPr/>
          </p:nvSpPr>
          <p:spPr>
            <a:xfrm>
              <a:off x="523494" y="5502275"/>
              <a:ext cx="544830"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Microsoft YaHei"/>
                  <a:ea typeface="Microsoft YaHei"/>
                  <a:cs typeface="Microsoft YaHei"/>
                </a:rPr>
                <a:t>讨论</a:t>
              </a:r>
            </a:p>
          </p:txBody>
        </p:sp>
        <p:sp>
          <p:nvSpPr>
            <p:cNvPr id="38" name="TextBox 38"/>
            <p:cNvSpPr txBox="1"/>
            <p:nvPr/>
          </p:nvSpPr>
          <p:spPr>
            <a:xfrm>
              <a:off x="1681734" y="5480050"/>
              <a:ext cx="6933438"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icrosoft YaHei"/>
                  <a:ea typeface="Microsoft YaHei"/>
                  <a:cs typeface="Microsoft YaHei"/>
                </a:rPr>
                <a:t>如何用真实菜单与消费数据检验转型路径？</a:t>
              </a:r>
            </a:p>
          </p:txBody>
        </p:sp>
      </p:grpSp>
      <p:grpSp>
        <p:nvGrpSpPr>
          <p:cNvPr id="42" name="source-and-page"/>
          <p:cNvGrpSpPr/>
          <p:nvPr/>
        </p:nvGrpSpPr>
        <p:grpSpPr>
          <a:xfrm>
            <a:off x="526542" y="6305550"/>
            <a:ext cx="11132058" cy="346583"/>
            <a:chOff x="526542" y="6305550"/>
            <a:chExt cx="11132058" cy="346583"/>
          </a:xfrm>
        </p:grpSpPr>
        <p:sp>
          <p:nvSpPr>
            <p:cNvPr id="40" name="Line 40"/>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41" name="TextBox 41"/>
            <p:cNvSpPr txBox="1"/>
            <p:nvPr/>
          </p:nvSpPr>
          <p:spPr>
            <a:xfrm>
              <a:off x="526542" y="6388100"/>
              <a:ext cx="72280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Nature Food (2024)｜结论在本文核算、外推和情景假设范围内解释</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04 / 备份与来源</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17 / 18</a:t>
              </a:r>
            </a:p>
          </p:txBody>
        </p:sp>
      </p:grpSp>
      <p:grpSp>
        <p:nvGrpSpPr>
          <p:cNvPr id="6" name="slide-title"/>
          <p:cNvGrpSpPr/>
          <p:nvPr/>
        </p:nvGrpSpPr>
        <p:grpSpPr>
          <a:xfrm>
            <a:off x="515112" y="622300"/>
            <a:ext cx="5852160" cy="704088"/>
            <a:chOff x="515112" y="622300"/>
            <a:chExt cx="5852160" cy="704088"/>
          </a:xfrm>
        </p:grpSpPr>
        <p:sp>
          <p:nvSpPr>
            <p:cNvPr id="5" name="TextBox 5"/>
            <p:cNvSpPr txBox="1"/>
            <p:nvPr/>
          </p:nvSpPr>
          <p:spPr>
            <a:xfrm>
              <a:off x="515112" y="622300"/>
              <a:ext cx="5852160"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备份｜关键参数与预算口径</a:t>
              </a:r>
            </a:p>
          </p:txBody>
        </p:sp>
      </p:grpSp>
      <p:grpSp>
        <p:nvGrpSpPr>
          <p:cNvPr id="12" name="p17-main-evidence"/>
          <p:cNvGrpSpPr/>
          <p:nvPr/>
        </p:nvGrpSpPr>
        <p:grpSpPr>
          <a:xfrm>
            <a:off x="523494" y="1406525"/>
            <a:ext cx="11135106" cy="4856607"/>
            <a:chOff x="523494" y="1406525"/>
            <a:chExt cx="11135106" cy="4856607"/>
          </a:xfrm>
        </p:grpSpPr>
        <p:sp>
          <p:nvSpPr>
            <p:cNvPr id="7" name="TextBox 7"/>
            <p:cNvSpPr txBox="1"/>
            <p:nvPr/>
          </p:nvSpPr>
          <p:spPr>
            <a:xfrm>
              <a:off x="523494" y="1406525"/>
              <a:ext cx="4219956"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比较前对齐单位、时间窗和核算范围</a:t>
              </a:r>
            </a:p>
          </p:txBody>
        </p:sp>
        <p:graphicFrame>
          <p:nvGraphicFramePr>
            <p:cNvPr id="8" name="parameters-budgets"/>
            <p:cNvGraphicFramePr>
              <a:graphicFrameLocks noGrp="1"/>
            </p:cNvGraphicFramePr>
            <p:nvPr/>
          </p:nvGraphicFramePr>
          <p:xfrm>
            <a:off x="533400" y="1971675"/>
            <a:ext cx="11125200" cy="3019425"/>
          </p:xfrm>
          <a:graphic>
            <a:graphicData uri="http://schemas.openxmlformats.org/drawingml/2006/table">
              <a:tbl>
                <a:tblPr firstRow="1">
                  <a:tableStyleId>{5C22544A-7EE6-4342-B048-85BDC9FD1C3A}</a:tableStyleId>
                </a:tblPr>
                <a:tblGrid>
                  <a:gridCol w="367665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3162300">
                    <a:extLst>
                      <a:ext uri="{9D8B030D-6E8A-4147-A177-3AD203B41FA5}">
                        <a16:colId xmlns:a16="http://schemas.microsoft.com/office/drawing/2014/main" val="20002"/>
                      </a:ext>
                    </a:extLst>
                  </a:gridCol>
                </a:tblGrid>
                <a:tr h="447675">
                  <a:tc>
                    <a:txBody>
                      <a:bodyPr/>
                      <a:lstStyle/>
                      <a:p>
                        <a:r>
                          <a:rPr lang="zh-CN" sz="1950" b="1">
                            <a:solidFill>
                              <a:schemeClr val="accent1"/>
                            </a:solidFill>
                            <a:latin typeface="Microsoft YaHei"/>
                            <a:ea typeface="Microsoft YaHei"/>
                            <a:cs typeface="Microsoft YaHei"/>
                          </a:rPr>
                          <a:t>参数 / 预算</a:t>
                        </a:r>
                      </a:p>
                    </a:txBody>
                    <a:tcPr marL="152400" marR="95250" marT="0" marB="0" anchor="ctr">
                      <a:lnL>
                        <a:noFill/>
                      </a:lnL>
                      <a:lnR>
                        <a:noFill/>
                      </a:lnR>
                      <a:lnT>
                        <a:noFill/>
                      </a:lnT>
                      <a:lnB>
                        <a:noFill/>
                      </a:lnB>
                      <a:solidFill>
                        <a:schemeClr val="lt2"/>
                      </a:solidFill>
                    </a:tcPr>
                  </a:tc>
                  <a:tc>
                    <a:txBody>
                      <a:bodyPr/>
                      <a:lstStyle/>
                      <a:p>
                        <a:r>
                          <a:rPr lang="zh-CN" sz="1950" b="1">
                            <a:solidFill>
                              <a:schemeClr val="accent1"/>
                            </a:solidFill>
                            <a:latin typeface="Microsoft YaHei"/>
                            <a:ea typeface="Microsoft YaHei"/>
                            <a:cs typeface="Microsoft YaHei"/>
                          </a:rPr>
                          <a:t>取值</a:t>
                        </a:r>
                      </a:p>
                    </a:txBody>
                    <a:tcPr marL="152400" marR="95250" marT="0" marB="0" anchor="ctr">
                      <a:lnL>
                        <a:noFill/>
                      </a:lnL>
                      <a:lnR>
                        <a:noFill/>
                      </a:lnR>
                      <a:lnT>
                        <a:noFill/>
                      </a:lnT>
                      <a:lnB>
                        <a:noFill/>
                      </a:lnB>
                      <a:solidFill>
                        <a:schemeClr val="lt2"/>
                      </a:solidFill>
                    </a:tcPr>
                  </a:tc>
                  <a:tc>
                    <a:txBody>
                      <a:bodyPr/>
                      <a:lstStyle/>
                      <a:p>
                        <a:r>
                          <a:rPr lang="zh-CN" sz="1950" b="1">
                            <a:solidFill>
                              <a:schemeClr val="accent1"/>
                            </a:solidFill>
                            <a:latin typeface="Microsoft YaHei"/>
                            <a:ea typeface="Microsoft YaHei"/>
                            <a:cs typeface="Microsoft YaHei"/>
                          </a:rPr>
                          <a:t>口径</a:t>
                        </a:r>
                      </a:p>
                    </a:txBody>
                    <a:tcPr marL="152400" marR="95250" marT="0" marB="0" anchor="ctr">
                      <a:lnL>
                        <a:noFill/>
                      </a:lnL>
                      <a:lnR>
                        <a:noFill/>
                      </a:lnR>
                      <a:lnT>
                        <a:noFill/>
                      </a:lnT>
                      <a:lnB>
                        <a:noFill/>
                      </a:lnB>
                      <a:solidFill>
                        <a:schemeClr val="lt2"/>
                      </a:solidFill>
                    </a:tcPr>
                  </a:tc>
                  <a:extLst>
                    <a:ext uri="{0D108BD9-81ED-4DB2-BD59-A6C34878D82A}">
                      <a16:rowId xmlns:a16="http://schemas.microsoft.com/office/drawing/2014/main" val="10000"/>
                    </a:ext>
                  </a:extLst>
                </a:tr>
                <a:tr h="514350">
                  <a:tc>
                    <a:txBody>
                      <a:bodyPr/>
                      <a:lstStyle/>
                      <a:p>
                        <a:r>
                          <a:rPr lang="zh-CN" sz="1950" b="0">
                            <a:solidFill>
                              <a:schemeClr val="dk1"/>
                            </a:solidFill>
                            <a:latin typeface="Microsoft YaHei"/>
                            <a:ea typeface="Microsoft YaHei"/>
                            <a:cs typeface="Microsoft YaHei"/>
                          </a:rPr>
                          <a:t>代表菜平均重量</a:t>
                        </a:r>
                      </a:p>
                    </a:txBody>
                    <a:tcPr marL="152400" marR="95250" marT="0" marB="0" anchor="ctr">
                      <a:lnL>
                        <a:noFill/>
                      </a:lnL>
                      <a:lnR>
                        <a:noFill/>
                      </a:lnR>
                      <a:lnT>
                        <a:noFill/>
                      </a:lnT>
                      <a:lnB w="9525">
                        <a:solidFill>
                          <a:schemeClr val="accent6"/>
                        </a:solidFill>
                        <a:prstDash val="solid"/>
                      </a:lnB>
                      <a:noFill/>
                    </a:tcPr>
                  </a:tc>
                  <a:tc>
                    <a:txBody>
                      <a:bodyPr/>
                      <a:lstStyle/>
                      <a:p>
                        <a:r>
                          <a:rPr lang="en-US" sz="1950" b="0">
                            <a:solidFill>
                              <a:schemeClr val="dk1"/>
                            </a:solidFill>
                            <a:latin typeface="Microsoft YaHei"/>
                            <a:ea typeface="Microsoft YaHei"/>
                            <a:cs typeface="Microsoft YaHei"/>
                          </a:rPr>
                          <a:t>0.607 kg</a:t>
                        </a:r>
                      </a:p>
                    </a:txBody>
                    <a:tcPr marL="152400" marR="95250" marT="0" marB="0" anchor="ctr">
                      <a:lnL>
                        <a:noFill/>
                      </a:lnL>
                      <a:lnR>
                        <a:noFill/>
                      </a:lnR>
                      <a:lnT>
                        <a:noFill/>
                      </a:lnT>
                      <a:lnB w="9525">
                        <a:solidFill>
                          <a:schemeClr val="accent6"/>
                        </a:solidFill>
                        <a:prstDash val="solid"/>
                      </a:lnB>
                      <a:noFill/>
                    </a:tcPr>
                  </a:tc>
                  <a:tc>
                    <a:txBody>
                      <a:bodyPr/>
                      <a:lstStyle/>
                      <a:p>
                        <a:r>
                          <a:rPr lang="zh-CN" sz="1950" b="0">
                            <a:solidFill>
                              <a:schemeClr val="dk1"/>
                            </a:solidFill>
                            <a:latin typeface="Microsoft YaHei"/>
                            <a:ea typeface="Microsoft YaHei"/>
                            <a:cs typeface="Microsoft YaHei"/>
                          </a:rPr>
                          <a:t>代表菜均值</a:t>
                        </a:r>
                      </a:p>
                    </a:txBody>
                    <a:tcPr marL="152400" marR="95250" marT="0" marB="0" anchor="ctr">
                      <a:lnL>
                        <a:noFill/>
                      </a:lnL>
                      <a:lnR>
                        <a:noFill/>
                      </a:lnR>
                      <a:lnT>
                        <a:noFill/>
                      </a:lnT>
                      <a:lnB w="9525">
                        <a:solidFill>
                          <a:schemeClr val="accent6"/>
                        </a:solidFill>
                        <a:prstDash val="solid"/>
                      </a:lnB>
                      <a:noFill/>
                    </a:tcPr>
                  </a:tc>
                  <a:extLst>
                    <a:ext uri="{0D108BD9-81ED-4DB2-BD59-A6C34878D82A}">
                      <a16:rowId xmlns:a16="http://schemas.microsoft.com/office/drawing/2014/main" val="10001"/>
                    </a:ext>
                  </a:extLst>
                </a:tr>
                <a:tr h="514350">
                  <a:tc>
                    <a:txBody>
                      <a:bodyPr/>
                      <a:lstStyle/>
                      <a:p>
                        <a:r>
                          <a:rPr lang="zh-CN" sz="1950" b="0">
                            <a:solidFill>
                              <a:schemeClr val="dk1"/>
                            </a:solidFill>
                            <a:latin typeface="Microsoft YaHei"/>
                            <a:ea typeface="Microsoft YaHei"/>
                            <a:cs typeface="Microsoft YaHei"/>
                          </a:rPr>
                          <a:t>培养肉排放因子</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en-US" sz="1950" b="0">
                            <a:solidFill>
                              <a:schemeClr val="dk1"/>
                            </a:solidFill>
                            <a:latin typeface="Microsoft YaHei"/>
                            <a:ea typeface="Microsoft YaHei"/>
                            <a:cs typeface="Microsoft YaHei"/>
                          </a:rPr>
                          <a:t>2.07 kg </a:t>
                        </a:r>
                        <a:r>
                          <a:rPr lang="en-US" sz="1950" b="0">
                            <a:solidFill>
                              <a:schemeClr val="dk1"/>
                            </a:solidFill>
                            <a:latin typeface="Arial"/>
                            <a:ea typeface="Arial"/>
                            <a:cs typeface="Arial"/>
                          </a:rPr>
                          <a:t>CO₂eq</a:t>
                        </a:r>
                        <a:r>
                          <a:rPr lang="en-US" sz="1950" b="0">
                            <a:solidFill>
                              <a:schemeClr val="dk1"/>
                            </a:solidFill>
                            <a:latin typeface="Microsoft YaHei"/>
                            <a:ea typeface="Microsoft YaHei"/>
                            <a:cs typeface="Microsoft YaHei"/>
                          </a:rPr>
                          <a:t>/kg</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zh-CN" sz="1950" b="0">
                            <a:solidFill>
                              <a:schemeClr val="dk1"/>
                            </a:solidFill>
                            <a:latin typeface="Microsoft YaHei"/>
                            <a:ea typeface="Microsoft YaHei"/>
                            <a:cs typeface="Microsoft YaHei"/>
                          </a:rPr>
                          <a:t>替代情景</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extLst>
                    <a:ext uri="{0D108BD9-81ED-4DB2-BD59-A6C34878D82A}">
                      <a16:rowId xmlns:a16="http://schemas.microsoft.com/office/drawing/2014/main" val="10002"/>
                    </a:ext>
                  </a:extLst>
                </a:tr>
                <a:tr h="514350">
                  <a:tc>
                    <a:txBody>
                      <a:bodyPr/>
                      <a:lstStyle/>
                      <a:p>
                        <a:r>
                          <a:rPr lang="zh-CN" sz="1950" b="0">
                            <a:solidFill>
                              <a:schemeClr val="dk1"/>
                            </a:solidFill>
                            <a:latin typeface="Microsoft YaHei"/>
                            <a:ea typeface="Microsoft YaHei"/>
                            <a:cs typeface="Microsoft YaHei"/>
                          </a:rPr>
                          <a:t>非食物累计排放</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en-US" sz="1950" b="0">
                            <a:solidFill>
                              <a:schemeClr val="dk1"/>
                            </a:solidFill>
                            <a:latin typeface="Microsoft YaHei"/>
                            <a:ea typeface="Microsoft YaHei"/>
                            <a:cs typeface="Microsoft YaHei"/>
                          </a:rPr>
                          <a:t>75.98 Gt </a:t>
                        </a:r>
                        <a:r>
                          <a:rPr lang="en-US" sz="1950" b="0">
                            <a:solidFill>
                              <a:schemeClr val="dk1"/>
                            </a:solidFill>
                            <a:latin typeface="Arial"/>
                            <a:ea typeface="Arial"/>
                            <a:cs typeface="Arial"/>
                          </a:rPr>
                          <a:t>CO₂eq</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zh-CN" sz="1950" b="0">
                            <a:solidFill>
                              <a:schemeClr val="dk1"/>
                            </a:solidFill>
                            <a:latin typeface="Microsoft YaHei"/>
                            <a:ea typeface="Microsoft YaHei"/>
                            <a:cs typeface="Microsoft YaHei"/>
                          </a:rPr>
                          <a:t>2020—2100</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extLst>
                    <a:ext uri="{0D108BD9-81ED-4DB2-BD59-A6C34878D82A}">
                      <a16:rowId xmlns:a16="http://schemas.microsoft.com/office/drawing/2014/main" val="10003"/>
                    </a:ext>
                  </a:extLst>
                </a:tr>
                <a:tr h="514350">
                  <a:tc>
                    <a:txBody>
                      <a:bodyPr/>
                      <a:lstStyle/>
                      <a:p>
                        <a:r>
                          <a:rPr lang="zh-CN" sz="1950" b="0">
                            <a:solidFill>
                              <a:schemeClr val="dk1"/>
                            </a:solidFill>
                            <a:latin typeface="Microsoft YaHei"/>
                            <a:ea typeface="Microsoft YaHei"/>
                            <a:cs typeface="Microsoft YaHei"/>
                          </a:rPr>
                          <a:t>国家 1.5°C 预算</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en-US" sz="1950" b="0">
                            <a:solidFill>
                              <a:schemeClr val="dk1"/>
                            </a:solidFill>
                            <a:latin typeface="Microsoft YaHei"/>
                            <a:ea typeface="Microsoft YaHei"/>
                            <a:cs typeface="Microsoft YaHei"/>
                          </a:rPr>
                          <a:t>108 / 152 Gt </a:t>
                        </a:r>
                        <a:r>
                          <a:rPr lang="en-US" sz="1950" b="0">
                            <a:solidFill>
                              <a:schemeClr val="dk1"/>
                            </a:solidFill>
                            <a:latin typeface="Arial"/>
                            <a:ea typeface="Arial"/>
                            <a:cs typeface="Arial"/>
                          </a:rPr>
                          <a:t>CO₂eq</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zh-CN" sz="1950" b="0">
                            <a:solidFill>
                              <a:schemeClr val="dk1"/>
                            </a:solidFill>
                            <a:latin typeface="Microsoft YaHei"/>
                            <a:ea typeface="Microsoft YaHei"/>
                            <a:cs typeface="Microsoft YaHei"/>
                          </a:rPr>
                          <a:t>67% / 50%</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extLst>
                    <a:ext uri="{0D108BD9-81ED-4DB2-BD59-A6C34878D82A}">
                      <a16:rowId xmlns:a16="http://schemas.microsoft.com/office/drawing/2014/main" val="10004"/>
                    </a:ext>
                  </a:extLst>
                </a:tr>
                <a:tr h="514350">
                  <a:tc>
                    <a:txBody>
                      <a:bodyPr/>
                      <a:lstStyle/>
                      <a:p>
                        <a:r>
                          <a:rPr lang="zh-CN" sz="1950" b="0">
                            <a:solidFill>
                              <a:schemeClr val="dk1"/>
                            </a:solidFill>
                            <a:latin typeface="Microsoft YaHei"/>
                            <a:ea typeface="Microsoft YaHei"/>
                            <a:cs typeface="Microsoft YaHei"/>
                          </a:rPr>
                          <a:t>国家 2°C 预算</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en-US" sz="1950" b="0">
                            <a:solidFill>
                              <a:schemeClr val="dk1"/>
                            </a:solidFill>
                            <a:latin typeface="Microsoft YaHei"/>
                            <a:ea typeface="Microsoft YaHei"/>
                            <a:cs typeface="Microsoft YaHei"/>
                          </a:rPr>
                          <a:t>302 / 390 Gt </a:t>
                        </a:r>
                        <a:r>
                          <a:rPr lang="en-US" sz="1950" b="0">
                            <a:solidFill>
                              <a:schemeClr val="dk1"/>
                            </a:solidFill>
                            <a:latin typeface="Arial"/>
                            <a:ea typeface="Arial"/>
                            <a:cs typeface="Arial"/>
                          </a:rPr>
                          <a:t>CO₂eq</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tc>
                    <a:txBody>
                      <a:bodyPr/>
                      <a:lstStyle/>
                      <a:p>
                        <a:r>
                          <a:rPr lang="zh-CN" sz="1950" b="0">
                            <a:solidFill>
                              <a:schemeClr val="dk1"/>
                            </a:solidFill>
                            <a:latin typeface="Microsoft YaHei"/>
                            <a:ea typeface="Microsoft YaHei"/>
                            <a:cs typeface="Microsoft YaHei"/>
                          </a:rPr>
                          <a:t>67% / 50%</a:t>
                        </a:r>
                      </a:p>
                    </a:txBody>
                    <a:tcPr marL="152400" marR="95250" marT="0" marB="0" anchor="ctr">
                      <a:lnL>
                        <a:noFill/>
                      </a:lnL>
                      <a:lnR>
                        <a:noFill/>
                      </a:lnR>
                      <a:lnT w="9525" cap="flat" cmpd="sng" algn="ctr">
                        <a:solidFill>
                          <a:schemeClr val="accent6"/>
                        </a:solidFill>
                        <a:prstDash val="solid"/>
                        <a:round/>
                        <a:headEnd type="none" w="med" len="med"/>
                        <a:tailEnd type="none" w="med" len="med"/>
                      </a:lnT>
                      <a:lnB w="9525">
                        <a:solidFill>
                          <a:schemeClr val="accent6"/>
                        </a:solidFill>
                        <a:prstDash val="solid"/>
                      </a:lnB>
                      <a:noFill/>
                    </a:tcPr>
                  </a:tc>
                  <a:extLst>
                    <a:ext uri="{0D108BD9-81ED-4DB2-BD59-A6C34878D82A}">
                      <a16:rowId xmlns:a16="http://schemas.microsoft.com/office/drawing/2014/main" val="10005"/>
                    </a:ext>
                  </a:extLst>
                </a:tr>
              </a:tbl>
            </a:graphicData>
          </a:graphic>
        </p:graphicFrame>
        <p:sp>
          <p:nvSpPr>
            <p:cNvPr id="9" name="TextBox 9"/>
            <p:cNvSpPr txBox="1"/>
            <p:nvPr/>
          </p:nvSpPr>
          <p:spPr>
            <a:xfrm>
              <a:off x="523494" y="5178425"/>
              <a:ext cx="1594866" cy="381381"/>
            </a:xfrm>
            <a:prstGeom prst="rect">
              <a:avLst/>
            </a:prstGeom>
            <a:noFill/>
            <a:ln>
              <a:noFill/>
            </a:ln>
          </p:spPr>
          <p:txBody>
            <a:bodyPr wrap="none" lIns="0" tIns="0" rIns="0" bIns="0" anchor="t" anchorCtr="0">
              <a:spAutoFit/>
            </a:bodyPr>
            <a:lstStyle/>
            <a:p>
              <a:pPr algn="l"/>
              <a:r>
                <a:rPr lang="zh-CN" sz="1950" b="1" dirty="0">
                  <a:solidFill>
                    <a:schemeClr val="accent3"/>
                  </a:solidFill>
                  <a:latin typeface="Microsoft YaHei"/>
                  <a:ea typeface="Microsoft YaHei"/>
                  <a:cs typeface="Microsoft YaHei"/>
                </a:rPr>
                <a:t>原文核对提示</a:t>
              </a:r>
            </a:p>
          </p:txBody>
        </p:sp>
        <p:sp>
          <p:nvSpPr>
            <p:cNvPr id="10" name="TextBox 10"/>
            <p:cNvSpPr txBox="1"/>
            <p:nvPr/>
          </p:nvSpPr>
          <p:spPr>
            <a:xfrm>
              <a:off x="523494" y="5559425"/>
              <a:ext cx="714693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icrosoft YaHei"/>
                  <a:ea typeface="Microsoft YaHei"/>
                  <a:cs typeface="Microsoft YaHei"/>
                </a:rPr>
                <a:t>p.376 两类“低排放”情景的概率方向措辞与减排叙述不一致。</a:t>
              </a:r>
            </a:p>
          </p:txBody>
        </p:sp>
        <p:sp>
          <p:nvSpPr>
            <p:cNvPr id="11" name="TextBox 11"/>
            <p:cNvSpPr txBox="1"/>
            <p:nvPr/>
          </p:nvSpPr>
          <p:spPr>
            <a:xfrm>
              <a:off x="525018" y="5940425"/>
              <a:ext cx="579196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icrosoft YaHei"/>
                  <a:ea typeface="Microsoft YaHei"/>
                  <a:cs typeface="Microsoft YaHei"/>
                </a:rPr>
                <a:t>本汇报保留图中报告结果，不擅自反转参数；细节见讲稿。</a:t>
              </a:r>
            </a:p>
          </p:txBody>
        </p:sp>
      </p:grpSp>
      <p:grpSp>
        <p:nvGrpSpPr>
          <p:cNvPr id="15" name="source-and-page"/>
          <p:cNvGrpSpPr/>
          <p:nvPr/>
        </p:nvGrpSpPr>
        <p:grpSpPr>
          <a:xfrm>
            <a:off x="526542" y="6305550"/>
            <a:ext cx="11132058" cy="346583"/>
            <a:chOff x="526542" y="6305550"/>
            <a:chExt cx="11132058" cy="346583"/>
          </a:xfrm>
        </p:grpSpPr>
        <p:sp>
          <p:nvSpPr>
            <p:cNvPr id="13" name="Line 13"/>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4" name="TextBox 14"/>
            <p:cNvSpPr txBox="1"/>
            <p:nvPr/>
          </p:nvSpPr>
          <p:spPr>
            <a:xfrm>
              <a:off x="526542" y="6388100"/>
              <a:ext cx="700971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Methods pp.372,375–376｜67%/50% 对应气候预算构造</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running-header"/>
          <p:cNvGrpSpPr/>
          <p:nvPr/>
        </p:nvGrpSpPr>
        <p:grpSpPr>
          <a:xfrm>
            <a:off x="526542" y="263525"/>
            <a:ext cx="11138916" cy="264033"/>
            <a:chOff x="526542" y="263525"/>
            <a:chExt cx="11138916" cy="264033"/>
          </a:xfrm>
        </p:grpSpPr>
        <p:sp>
          <p:nvSpPr>
            <p:cNvPr id="2" name="TextBox 2"/>
            <p:cNvSpPr txBox="1"/>
            <p:nvPr/>
          </p:nvSpPr>
          <p:spPr>
            <a:xfrm>
              <a:off x="526542" y="263525"/>
              <a:ext cx="13313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04 / 备份与来源</a:t>
              </a:r>
            </a:p>
          </p:txBody>
        </p:sp>
        <p:sp>
          <p:nvSpPr>
            <p:cNvPr id="3" name="TextBox 3"/>
            <p:cNvSpPr txBox="1"/>
            <p:nvPr/>
          </p:nvSpPr>
          <p:spPr>
            <a:xfrm>
              <a:off x="11042923" y="263525"/>
              <a:ext cx="6225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icrosoft YaHei"/>
                  <a:ea typeface="Microsoft YaHei"/>
                  <a:cs typeface="Microsoft YaHei"/>
                </a:rPr>
                <a:t>18 / 18</a:t>
              </a:r>
            </a:p>
          </p:txBody>
        </p:sp>
      </p:grpSp>
      <p:grpSp>
        <p:nvGrpSpPr>
          <p:cNvPr id="6" name="slide-title"/>
          <p:cNvGrpSpPr/>
          <p:nvPr/>
        </p:nvGrpSpPr>
        <p:grpSpPr>
          <a:xfrm>
            <a:off x="515112" y="622300"/>
            <a:ext cx="6079937" cy="704088"/>
            <a:chOff x="515112" y="622300"/>
            <a:chExt cx="6079937" cy="704088"/>
          </a:xfrm>
        </p:grpSpPr>
        <p:sp>
          <p:nvSpPr>
            <p:cNvPr id="5" name="TextBox 5"/>
            <p:cNvSpPr txBox="1"/>
            <p:nvPr/>
          </p:nvSpPr>
          <p:spPr>
            <a:xfrm>
              <a:off x="515112" y="622300"/>
              <a:ext cx="6079937"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icrosoft YaHei"/>
                  <a:ea typeface="Microsoft YaHei"/>
                  <a:cs typeface="Microsoft YaHei"/>
                </a:rPr>
                <a:t>备份｜36 类菜系原图与来源</a:t>
              </a:r>
            </a:p>
          </p:txBody>
        </p:sp>
      </p:grpSp>
      <p:grpSp>
        <p:nvGrpSpPr>
          <p:cNvPr id="15" name="p18-main-evidence"/>
          <p:cNvGrpSpPr/>
          <p:nvPr/>
        </p:nvGrpSpPr>
        <p:grpSpPr>
          <a:xfrm>
            <a:off x="533400" y="1590675"/>
            <a:ext cx="9557415" cy="4632674"/>
            <a:chOff x="533400" y="1590675"/>
            <a:chExt cx="9557415" cy="4632674"/>
          </a:xfrm>
        </p:grpSpPr>
        <p:pic>
          <p:nvPicPr>
            <p:cNvPr id="7" name="Image 7"/>
            <p:cNvPicPr>
              <a:picLocks noChangeAspect="1"/>
            </p:cNvPicPr>
            <p:nvPr/>
          </p:nvPicPr>
          <p:blipFill>
            <a:blip r:embed="rId3"/>
            <a:stretch>
              <a:fillRect/>
            </a:stretch>
          </p:blipFill>
          <p:spPr>
            <a:xfrm>
              <a:off x="533400" y="1590675"/>
              <a:ext cx="5276850" cy="4632674"/>
            </a:xfrm>
            <a:prstGeom prst="rect">
              <a:avLst/>
            </a:prstGeom>
          </p:spPr>
        </p:pic>
        <p:sp>
          <p:nvSpPr>
            <p:cNvPr id="8" name="TextBox 8"/>
            <p:cNvSpPr txBox="1"/>
            <p:nvPr/>
          </p:nvSpPr>
          <p:spPr>
            <a:xfrm>
              <a:off x="6464808" y="1803400"/>
              <a:ext cx="362600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icrosoft YaHei"/>
                  <a:ea typeface="Microsoft YaHei"/>
                  <a:cs typeface="Microsoft YaHei"/>
                </a:rPr>
                <a:t>36 类菜系 × 15 道代表菜</a:t>
              </a:r>
            </a:p>
          </p:txBody>
        </p:sp>
        <p:sp>
          <p:nvSpPr>
            <p:cNvPr id="9" name="TextBox 9"/>
            <p:cNvSpPr txBox="1"/>
            <p:nvPr/>
          </p:nvSpPr>
          <p:spPr>
            <a:xfrm>
              <a:off x="6457950" y="2409825"/>
              <a:ext cx="2090517"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Microsoft YaHei"/>
                  <a:ea typeface="Microsoft YaHei"/>
                  <a:cs typeface="Microsoft YaHei"/>
                </a:rPr>
                <a:t>8.44</a:t>
              </a:r>
            </a:p>
          </p:txBody>
        </p:sp>
        <p:sp>
          <p:nvSpPr>
            <p:cNvPr id="10" name="TextBox 10"/>
            <p:cNvSpPr txBox="1"/>
            <p:nvPr/>
          </p:nvSpPr>
          <p:spPr>
            <a:xfrm>
              <a:off x="6467094" y="3397250"/>
              <a:ext cx="2067881" cy="381381"/>
            </a:xfrm>
            <a:prstGeom prst="rect">
              <a:avLst/>
            </a:prstGeom>
            <a:noFill/>
            <a:ln>
              <a:noFill/>
            </a:ln>
          </p:spPr>
          <p:txBody>
            <a:bodyPr wrap="none" lIns="0" tIns="0" rIns="0" bIns="0" anchor="t" anchorCtr="0">
              <a:spAutoFit/>
            </a:bodyPr>
            <a:lstStyle/>
            <a:p>
              <a:pPr algn="l"/>
              <a:r>
                <a:rPr lang="en-US" sz="1950" dirty="0">
                  <a:solidFill>
                    <a:schemeClr val="accent5"/>
                  </a:solidFill>
                  <a:latin typeface="Microsoft YaHei"/>
                  <a:ea typeface="Microsoft YaHei"/>
                  <a:cs typeface="Microsoft YaHei"/>
                </a:rPr>
                <a:t>kg </a:t>
              </a:r>
              <a:r>
                <a:rPr lang="en-US" sz="1950" dirty="0">
                  <a:solidFill>
                    <a:schemeClr val="accent5"/>
                  </a:solidFill>
                  <a:latin typeface="+mn-lt"/>
                  <a:ea typeface="+mn-ea"/>
                  <a:cs typeface="+mn-cs"/>
                </a:rPr>
                <a:t>CO₂eq</a:t>
              </a:r>
              <a:r>
                <a:rPr lang="zh-CN" sz="1950" dirty="0">
                  <a:solidFill>
                    <a:schemeClr val="accent5"/>
                  </a:solidFill>
                  <a:latin typeface="Microsoft YaHei"/>
                  <a:ea typeface="Microsoft YaHei"/>
                  <a:cs typeface="Microsoft YaHei"/>
                </a:rPr>
                <a:t> / 道菜</a:t>
              </a:r>
            </a:p>
          </p:txBody>
        </p:sp>
        <p:sp>
          <p:nvSpPr>
            <p:cNvPr id="11" name="TextBox 11"/>
            <p:cNvSpPr txBox="1"/>
            <p:nvPr/>
          </p:nvSpPr>
          <p:spPr>
            <a:xfrm>
              <a:off x="6467094" y="3844925"/>
              <a:ext cx="1069848" cy="381381"/>
            </a:xfrm>
            <a:prstGeom prst="rect">
              <a:avLst/>
            </a:prstGeom>
            <a:noFill/>
            <a:ln>
              <a:noFill/>
            </a:ln>
          </p:spPr>
          <p:txBody>
            <a:bodyPr wrap="none" lIns="0" tIns="0" rIns="0" bIns="0" anchor="t" anchorCtr="0">
              <a:spAutoFit/>
            </a:bodyPr>
            <a:lstStyle/>
            <a:p>
              <a:pPr algn="l"/>
              <a:r>
                <a:rPr lang="zh-CN" sz="1950" dirty="0">
                  <a:solidFill>
                    <a:schemeClr val="accent5"/>
                  </a:solidFill>
                  <a:latin typeface="Microsoft YaHei"/>
                  <a:ea typeface="Microsoft YaHei"/>
                  <a:cs typeface="Microsoft YaHei"/>
                </a:rPr>
                <a:t>整体均值</a:t>
              </a:r>
            </a:p>
          </p:txBody>
        </p:sp>
        <p:sp>
          <p:nvSpPr>
            <p:cNvPr id="12" name="TextBox 12"/>
            <p:cNvSpPr txBox="1"/>
            <p:nvPr/>
          </p:nvSpPr>
          <p:spPr>
            <a:xfrm>
              <a:off x="6468618" y="4508500"/>
              <a:ext cx="3034284" cy="656082"/>
            </a:xfrm>
            <a:prstGeom prst="rect">
              <a:avLst/>
            </a:prstGeom>
            <a:noFill/>
            <a:ln>
              <a:noFill/>
            </a:ln>
          </p:spPr>
          <p:txBody>
            <a:bodyPr wrap="none" lIns="0" tIns="0" rIns="0" bIns="0" anchor="t" anchorCtr="0">
              <a:spAutoFit/>
            </a:bodyPr>
            <a:lstStyle/>
            <a:p>
              <a:pPr algn="l">
                <a:lnSpc>
                  <a:spcPts val="2625"/>
                </a:lnSpc>
              </a:pPr>
              <a:r>
                <a:rPr lang="en-US" sz="1650" dirty="0">
                  <a:solidFill>
                    <a:schemeClr val="dk1"/>
                  </a:solidFill>
                  <a:latin typeface="Microsoft YaHei"/>
                  <a:ea typeface="Microsoft YaHei"/>
                  <a:cs typeface="Microsoft YaHei"/>
                </a:rPr>
                <a:t>Yang, X. · Gao, Q. · Duan, H.</a:t>
              </a:r>
              <a:br>
                <a:rPr lang="en-US" sz="1650" dirty="0">
                  <a:solidFill>
                    <a:schemeClr val="dk1"/>
                  </a:solidFill>
                  <a:latin typeface="Microsoft YaHei"/>
                  <a:ea typeface="Microsoft YaHei"/>
                  <a:cs typeface="Microsoft YaHei"/>
                </a:rPr>
              </a:br>
              <a:r>
                <a:rPr lang="en-US" sz="1650" dirty="0">
                  <a:solidFill>
                    <a:schemeClr val="dk1"/>
                  </a:solidFill>
                  <a:latin typeface="Microsoft YaHei"/>
                  <a:ea typeface="Microsoft YaHei"/>
                  <a:cs typeface="Microsoft YaHei"/>
                </a:rPr>
                <a:t>Zhu, M. · Wang, S.</a:t>
              </a:r>
            </a:p>
          </p:txBody>
        </p:sp>
        <p:sp>
          <p:nvSpPr>
            <p:cNvPr id="13" name="TextBox 13"/>
            <p:cNvSpPr txBox="1"/>
            <p:nvPr/>
          </p:nvSpPr>
          <p:spPr>
            <a:xfrm>
              <a:off x="6468618" y="5330825"/>
              <a:ext cx="337509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icrosoft YaHei"/>
                  <a:ea typeface="Microsoft YaHei"/>
                  <a:cs typeface="Microsoft YaHei"/>
                </a:rPr>
                <a:t>Nature Food 5, 365–377 (2024)</a:t>
              </a:r>
            </a:p>
          </p:txBody>
        </p:sp>
        <p:sp>
          <p:nvSpPr>
            <p:cNvPr id="14" name="TextBox 14">
              <a:hlinkClick r:id="rId4"/>
            </p:cNvPr>
            <p:cNvSpPr txBox="1"/>
            <p:nvPr/>
          </p:nvSpPr>
          <p:spPr>
            <a:xfrm>
              <a:off x="6467856" y="5746750"/>
              <a:ext cx="348340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icrosoft YaHei"/>
                  <a:ea typeface="Microsoft YaHei"/>
                  <a:cs typeface="Microsoft YaHei"/>
                </a:rPr>
                <a:t>10.1038/s43016-024-00978-z</a:t>
              </a:r>
            </a:p>
          </p:txBody>
        </p:sp>
      </p:grpSp>
      <p:grpSp>
        <p:nvGrpSpPr>
          <p:cNvPr id="18" name="source-and-page"/>
          <p:cNvGrpSpPr/>
          <p:nvPr/>
        </p:nvGrpSpPr>
        <p:grpSpPr>
          <a:xfrm>
            <a:off x="526542" y="6305550"/>
            <a:ext cx="11132058" cy="346583"/>
            <a:chOff x="526542" y="6305550"/>
            <a:chExt cx="11132058" cy="346583"/>
          </a:xfrm>
        </p:grpSpPr>
        <p:sp>
          <p:nvSpPr>
            <p:cNvPr id="16" name="Line 16"/>
            <p:cNvSpPr/>
            <p:nvPr/>
          </p:nvSpPr>
          <p:spPr>
            <a:xfrm>
              <a:off x="533400" y="63055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17" name="TextBox 17"/>
            <p:cNvSpPr txBox="1"/>
            <p:nvPr/>
          </p:nvSpPr>
          <p:spPr>
            <a:xfrm>
              <a:off x="526542" y="6388100"/>
              <a:ext cx="644285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icrosoft YaHei"/>
                  <a:ea typeface="Microsoft YaHei"/>
                  <a:cs typeface="Microsoft YaHei"/>
                </a:rPr>
                <a:t>来源：Yang et al. (2024), Fig.2｜完整原图保留全部标签与图例，供放大查阅</a:t>
              </a:r>
            </a:p>
          </p:txBody>
        </p:sp>
      </p:grpSp>
    </p:spTree>
  </p:cSld>
  <p:clrMapOvr>
    <a:masterClrMapping/>
  </p:clrMapOvr>
</p:sld>
</file>

<file path=ppt/theme/theme1.xml><?xml version="1.0" encoding="utf-8"?>
<a:theme xmlns:a="http://schemas.openxmlformats.org/drawingml/2006/main" name="ghg-dish-cn">
  <a:themeElements>
    <a:clrScheme name="ghg-dish-cn">
      <a:dk1>
        <a:srgbClr val="203430"/>
      </a:dk1>
      <a:lt1>
        <a:srgbClr val="FFFFFF"/>
      </a:lt1>
      <a:dk2>
        <a:srgbClr val="1F497D"/>
      </a:dk2>
      <a:lt2>
        <a:srgbClr val="F3F7F4"/>
      </a:lt2>
      <a:accent1>
        <a:srgbClr val="143D35"/>
      </a:accent1>
      <a:accent2>
        <a:srgbClr val="2C9C88"/>
      </a:accent2>
      <a:accent3>
        <a:srgbClr val="C36E4B"/>
      </a:accent3>
      <a:accent4>
        <a:srgbClr val="143D35"/>
      </a:accent4>
      <a:accent5>
        <a:srgbClr val="52685E"/>
      </a:accent5>
      <a:accent6>
        <a:srgbClr val="D6E0D9"/>
      </a:accent6>
      <a:hlink>
        <a:srgbClr val="2C9C88"/>
      </a:hlink>
      <a:folHlink>
        <a:srgbClr val="C36E4B"/>
      </a:folHlink>
    </a:clrScheme>
    <a:fontScheme name="ghg-dish-c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hg-dish-c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hg-dish-cn">
  <a:themeElements>
    <a:clrScheme name="ghg-dish-cn">
      <a:dk1>
        <a:srgbClr val="203430"/>
      </a:dk1>
      <a:lt1>
        <a:srgbClr val="FFFFFF"/>
      </a:lt1>
      <a:dk2>
        <a:srgbClr val="1F497D"/>
      </a:dk2>
      <a:lt2>
        <a:srgbClr val="F3F7F4"/>
      </a:lt2>
      <a:accent1>
        <a:srgbClr val="143D35"/>
      </a:accent1>
      <a:accent2>
        <a:srgbClr val="2C9C88"/>
      </a:accent2>
      <a:accent3>
        <a:srgbClr val="C36E4B"/>
      </a:accent3>
      <a:accent4>
        <a:srgbClr val="143D35"/>
      </a:accent4>
      <a:accent5>
        <a:srgbClr val="52685E"/>
      </a:accent5>
      <a:accent6>
        <a:srgbClr val="D6E0D9"/>
      </a:accent6>
      <a:hlink>
        <a:srgbClr val="2C9C88"/>
      </a:hlink>
      <a:folHlink>
        <a:srgbClr val="C36E4B"/>
      </a:folHlink>
    </a:clrScheme>
    <a:fontScheme name="ghg-dish-c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hg-dish-c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8186</Words>
  <Application>Microsoft Office PowerPoint</Application>
  <PresentationFormat>宽屏</PresentationFormat>
  <Paragraphs>410</Paragraphs>
  <Slides>18</Slides>
  <Notes>18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Microsoft YaHei</vt:lpstr>
      <vt:lpstr>Arial</vt:lpstr>
      <vt:lpstr>Cambria Math</vt:lpstr>
      <vt:lpstr>ghg-dish-cn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誉铭 黄</cp:lastModifiedBy>
  <cp:revision>2</cp:revision>
  <dcterms:created xsi:type="dcterms:W3CDTF">2026-10-20T03:09:07Z</dcterms:created>
  <dcterms:modified xsi:type="dcterms:W3CDTF">2026-10-20T03:42:15Z</dcterms:modified>
  <cp:category/>
  <cp:contentStatus/>
  <dc:language>zh-CN</dc:language>
</cp:coreProperties>
</file>